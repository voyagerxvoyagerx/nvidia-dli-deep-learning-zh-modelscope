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5"/>
    <p:sldMasterId id="2147483651" r:id="rId6"/>
    <p:sldMasterId id="2147483653" r:id="rId7"/>
  </p:sldMasterIdLst>
  <p:notesMasterIdLst>
    <p:notesMasterId r:id="rId8"/>
  </p:notesMasterIdLst>
  <p:sldIdLst>
    <p:sldId id="274" r:id="rId36"/>
    <p:sldId id="275" r:id="rId37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  <p:sldId id="272" r:id="rId25"/>
    <p:sldId id="273" r:id="rId26"/>
  </p:sldIdLst>
  <p:sldSz cy="6172200" cx="10972800"/>
  <p:notesSz cx="7010400" cy="9296400"/>
  <p:embeddedFontLst>
    <p:embeddedFont>
      <p:font typeface="Noto Sans"/>
      <p:regular r:id="rId27"/>
      <p:bold r:id="rId28"/>
      <p:italic r:id="rId29"/>
      <p:boldItalic r:id="rId30"/>
    </p:embeddedFont>
    <p:embeddedFont>
      <p:font typeface="Open Sans"/>
      <p:regular r:id="rId31"/>
      <p:bold r:id="rId32"/>
      <p:italic r:id="rId33"/>
      <p:boldItalic r:id="rId34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9pPr>
  </p:defaultTextStyle>
  <p:extLst>
    <p:ext uri="{EFAFB233-063F-42B5-8137-9DF3F51BA10A}">
      <p15:sldGuideLst>
        <p15:guide id="1" orient="horz" pos="1316">
          <p15:clr>
            <a:srgbClr val="A4A3A4"/>
          </p15:clr>
        </p15:guide>
        <p15:guide id="2" orient="horz" pos="3050">
          <p15:clr>
            <a:srgbClr val="A4A3A4"/>
          </p15:clr>
        </p15:guide>
        <p15:guide id="3" orient="horz" pos="3189">
          <p15:clr>
            <a:srgbClr val="A4A3A4"/>
          </p15:clr>
        </p15:guide>
        <p15:guide id="4" pos="5455">
          <p15:clr>
            <a:srgbClr val="A4A3A4"/>
          </p15:clr>
        </p15:guide>
        <p15:guide id="5" orient="horz" pos="975">
          <p15:clr>
            <a:srgbClr val="A4A3A4"/>
          </p15:clr>
        </p15:guide>
        <p15:guide id="6" pos="3457">
          <p15:clr>
            <a:srgbClr val="A4A3A4"/>
          </p15:clr>
        </p15:guide>
      </p15:sldGuideLst>
    </p:ext>
    <p:ext uri="{2D200454-40CA-4A62-9FC3-DE9A4176ACB9}">
      <p15:notesGuideLst>
        <p15:guide id="1" orient="horz" pos="2928">
          <p15:clr>
            <a:srgbClr val="A4A3A4"/>
          </p15:clr>
        </p15:guide>
        <p15:guide id="2" pos="2208">
          <p15:clr>
            <a:srgbClr val="A4A3A4"/>
          </p15:clr>
        </p15:guide>
      </p15:notesGuideLst>
    </p:ext>
    <p:ext uri="GoogleSlidesCustomDataVersion2">
      <go:slidesCustomData xmlns:go="http://customooxmlschemas.google.com/" r:id="rId35" roundtripDataSignature="AMtx7mjQKIXZ3k9MV/X2u6k8pdfZyGmW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61953A6-B651-4C60-A84B-6CE88619E83D}">
  <a:tblStyle styleId="{061953A6-B651-4C60-A84B-6CE88619E83D}" styleName="Table_0">
    <a:wholeTbl>
      <a:tcTxStyle b="off" i="off">
        <a:font>
          <a:latin typeface="Open Sans"/>
          <a:ea typeface="Noto Sans SC"/>
          <a:cs typeface="Open San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6EBF5"/>
          </a:solidFill>
        </a:fill>
      </a:tcStyle>
    </a:wholeTbl>
    <a:band1H>
      <a:tcTxStyle/>
      <a:tcStyle>
        <a:fill>
          <a:solidFill>
            <a:srgbClr val="CAD4EA"/>
          </a:solidFill>
        </a:fill>
      </a:tcStyle>
    </a:band1H>
    <a:band2H>
      <a:tcTxStyle/>
    </a:band2H>
    <a:band1V>
      <a:tcTxStyle/>
      <a:tcStyle>
        <a:fill>
          <a:solidFill>
            <a:srgbClr val="CAD4EA"/>
          </a:solidFill>
        </a:fill>
      </a:tcStyle>
    </a:band1V>
    <a:band2V>
      <a:tcTxStyle/>
    </a:band2V>
    <a:lastCol>
      <a:tcTxStyle b="on" i="off">
        <a:font>
          <a:latin typeface="Open Sans"/>
          <a:ea typeface="Noto Sans SC"/>
          <a:cs typeface="Open San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Open Sans"/>
          <a:ea typeface="Noto Sans SC"/>
          <a:cs typeface="Open San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Open Sans"/>
          <a:ea typeface="Noto Sans SC"/>
          <a:cs typeface="Open San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Open Sans"/>
          <a:ea typeface="Noto Sans SC"/>
          <a:cs typeface="Open San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316" orient="horz"/>
        <p:guide pos="3050" orient="horz"/>
        <p:guide pos="3189" orient="horz"/>
        <p:guide pos="5455"/>
        <p:guide pos="975" orient="horz"/>
        <p:guide pos="3457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2928" orient="horz"/>
        <p:guide pos="2208"/>
      </p:guideLst>
    </p:cSldViewPr>
  </p:notes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7" Type="http://schemas.openxmlformats.org/officeDocument/2006/relationships/slideMaster" Target="slideMasters/slideMaster3.xml"/><Relationship Id="rId8" Type="http://schemas.openxmlformats.org/officeDocument/2006/relationships/notesMaster" Target="notesMasters/notes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font" Target="fonts/NotoSans-regular.fntdata"/><Relationship Id="rId28" Type="http://schemas.openxmlformats.org/officeDocument/2006/relationships/font" Target="fonts/NotoSans-bold.fntdata"/><Relationship Id="rId29" Type="http://schemas.openxmlformats.org/officeDocument/2006/relationships/font" Target="fonts/NotoSans-italic.fntdata"/><Relationship Id="rId30" Type="http://schemas.openxmlformats.org/officeDocument/2006/relationships/font" Target="fonts/NotoSans-boldItalic.fntdata"/><Relationship Id="rId31" Type="http://schemas.openxmlformats.org/officeDocument/2006/relationships/font" Target="fonts/OpenSans-regular.fntdata"/><Relationship Id="rId32" Type="http://schemas.openxmlformats.org/officeDocument/2006/relationships/font" Target="fonts/OpenSans-bold.fntdata"/><Relationship Id="rId33" Type="http://schemas.openxmlformats.org/officeDocument/2006/relationships/font" Target="fonts/OpenSans-italic.fntdata"/><Relationship Id="rId34" Type="http://schemas.openxmlformats.org/officeDocument/2006/relationships/font" Target="fonts/OpenSans-boldItalic.fntdata"/><Relationship Id="rId35" Type="http://customschemas.google.com/relationships/presentationmetadata" Target="metadata"/><Relationship Id="rId36" Type="http://schemas.openxmlformats.org/officeDocument/2006/relationships/slide" Target="slides/slide1.xml"/><Relationship Id="rId37" Type="http://schemas.openxmlformats.org/officeDocument/2006/relationships/slide" Target="slides/slide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1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1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1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1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1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  <a:defRPr b="0" i="0" sz="12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Open Sans"/>
      <a:defRPr b="0" i="0" spc="0" sz="1400" u="none" cap="none" strike="noStrike">
        <a:solidFill>
          <a:srgbClr val="000000"/>
        </a:solidFill>
        <a:latin typeface="Open Sans"/>
        <a:ea typeface="Noto Sans SC"/>
        <a:cs typeface="Open Sans"/>
        <a:sym typeface="Open Sans"/>
      </a:defRPr>
    </a:lvl9pPr>
  </p:notesStyle>
</p:notesMaster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arxiv.org/abs/1409.1556" TargetMode="External"/><Relationship Id="rId3" Type="http://schemas.openxmlformats.org/officeDocument/2006/relationships/hyperlink" Target="http://www.image-net.org/" TargetMode="External"/><Relationship Id="rId4" Type="http://schemas.openxmlformats.org/officeDocument/2006/relationships/hyperlink" Target="http://imagenet.stanford.edu/synset?wnid=n03769722" TargetMode="Externa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hyperlink" Target="https://www.tensorflow.org/tutorials/generative/deepdream" TargetMode="External"/><Relationship Id="rId3" Type="http://schemas.openxmlformats.org/officeDocument/2006/relationships/hyperlink" Target="https://www.tensorflow.org/tutorials/generative/deepdream" TargetMode="External"/><Relationship Id="rId4" Type="http://schemas.openxmlformats.org/officeDocument/2006/relationships/hyperlink" Target="https://www.tensorflow.org/tutorials/generative/deepdream" TargetMode="Externa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2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" name="Google Shape;20;p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3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4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" name="Google Shape;50;p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让我们花些时间来复习一下目前为止我们学过的一些概念。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5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5" name="Google Shape;55;p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问题：这些概念是什么？它们的作用是什么？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答案：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•"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学习率是指梯度下降期间参数（权重）的更改量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•"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层数是指神经网络的深度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•"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神经元数量是指神经网络层的宽度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•"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激活函数是指神经元输出的变换方式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•"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在训练过程中，Dropout 会随机关闭神经元以防止过拟合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171450" lvl="0" marL="17145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Char char="•"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数据是指我们用来训练模型的示例。如果数据的整洁度或变化度不够高，模型将无法泛化到真实环境。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101600" lvl="0" marL="17145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设计机器学习模型要做大量工作！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6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2" name="Google Shape;62;p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Open Sans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如果我们不用做所有这些工作，岂不是很好？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7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好消息是，越来越多的团队和研究人员正使他们的模型随时可供他人使用。现在，不仅出现了可让您下载现成模型的 NVIDIA GPU Cloud 等网站，而且 TensorFlow 和 PyTorch 自身的框架包含相关模块，可将模型加载到 Python 中（前提是模型的 URL 位于 TensorFlow Hub 或 PyTorch Hub 网站上）。Keras 本身附带了预先打包的模型。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还有更好的消息吗？所有这些模型都是免费的！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8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8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我们将试验的模型名为 VGG16，它来自一篇论文，其标题恰如其文，即“Very Deep Convolutional Networks for Large-Scale Image Recognition”（用于大规模图像识别的深度卷积网络））。该模型在 2014年 ImageNet 挑战赛中夺得桂冠。ImageNet 是一个包含数百万张照片的数据库，这些照片已被标记为数千个类别，其中包括动物、食物、树木、体育运动和人类。最近，这些目标检测模型的表现比人类更为优秀，它们的准确率超过 95%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VGG16 论文：</a:t>
            </a:r>
            <a:r>
              <a:rPr lang="zh-CN" u="sng">
                <a:solidFill>
                  <a:schemeClr val="hlink"/>
                </a:solidFill>
                <a:latin typeface="Open Sans"/>
                <a:ea typeface="Noto Sans SC"/>
                <a:cs typeface="Open Sans"/>
                <a:sym typeface="Open Sans"/>
                <a:hlinkClick r:id="rId2"/>
              </a:rPr>
              <a:t>https://arxiv.org/abs/1409.1556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b="0" lang="zh-CN">
                <a:latin typeface="Open Sans"/>
                <a:ea typeface="Noto Sans SC"/>
                <a:cs typeface="Open Sans"/>
                <a:sym typeface="Open Sans"/>
              </a:rPr>
              <a:t>ImageNet：</a:t>
            </a:r>
            <a:r>
              <a:rPr lang="zh-CN" u="sng">
                <a:solidFill>
                  <a:schemeClr val="hlink"/>
                </a:solidFill>
                <a:latin typeface="Open Sans"/>
                <a:ea typeface="Noto Sans SC"/>
                <a:cs typeface="Open Sans"/>
                <a:sym typeface="Open Sans"/>
                <a:hlinkClick r:id="rId3"/>
              </a:rPr>
              <a:t>http://www.image-net.org/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b="0" lang="zh-CN">
                <a:latin typeface="Open Sans"/>
                <a:ea typeface="Noto Sans SC"/>
                <a:cs typeface="Open Sans"/>
                <a:sym typeface="Open Sans"/>
              </a:rPr>
              <a:t>ImageNet 树遍历：</a:t>
            </a:r>
            <a:r>
              <a:rPr lang="zh-CN" u="sng">
                <a:solidFill>
                  <a:schemeClr val="hlink"/>
                </a:solidFill>
                <a:latin typeface="Open Sans"/>
                <a:ea typeface="Noto Sans SC"/>
                <a:cs typeface="Open Sans"/>
                <a:sym typeface="Open Sans"/>
                <a:hlinkClick r:id="rId4"/>
              </a:rPr>
              <a:t>http://imagenet.stanford.edu/synset?wnid=n03769722</a:t>
            </a:r>
            <a:endParaRPr b="0"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9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9" name="Google Shape;89;p9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如何更好地使用此模型制作自动狗门？我们不再需要半夜起床放宠物出门了！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ImageNet 包含许多动物图片，因此我们将使用它来识别我们的犬类朋友，并将所有其他动物排除在外。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0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9" name="Google Shape;99;p10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制作好狗门后，我们将使用一种名为“迁移学习”的方法来应对另一个挑战。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1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4" name="Google Shape;104;p11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各位，好消息来了！美国特勤局听说我们掌握了高超的机器学习技能，就和我们签订了合同，让我们为白宫制作狗门。为帮助我们完成合同，他们给了我们几张 Bo 的图片，Bo 是一条葡萄牙水犬，在 2009 年到 2017 年期间担任“第一狗”角色。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我们需要确保此门仅允许 Bo 进出，其他任何尝试溜入白宫的狗会被拒之门外。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2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12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问题在于我们无法使用预先训练好的模型，因为它只能识别普通的狗。VGG16 无法分辨 Bo 与其他种类的狗之间的差异。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但是，如果某个模型已经能知道狗是什么，那么将其用作起始模型岂不是很好？事实证明我们可以这样做！我们只需做个小小的大脑手术就能实现此目的。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77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0" name="Google Shape;120;p7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幸运的是，我们在机器学习模型上做的手术要比真实的大脑手术容易得多。我们取一个预先训练好的模型，并将它的末端（即网络的最后面的几层全连接层）切掉，而只使用原模型的前面几层作为头层，再在其下继续构建我们自己的新层。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从技术上说，我们可以按照所需的任何方式切割这些层，但出于一个实用的理由，我们要使用旧模型的前面几层（头层）而不用后面几层（底层）。</a:t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0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14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2" name="Google Shape;232;p14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当我们从模型的开头移到末尾（在本例中为从左到右）时，模型从较为一般化变成较为具体化。还记得我们前面是怎么讲的吗？卷积模型的顶部如何获取边缘，以及每一层如何基于上一层构建更复杂的形状。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模型中的层数越多，它们针对训练数据的形状获取的特征的专门化程度就越高。由于上层先提取的特征更具一般化，因此，当使用迁移学习时，复制上层的网络构建模块往往会更有用。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15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15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我们还应考虑的另一点是：是否要冻结作为构建新模型基础的旧模型的权重。冻结是防止权重在训练过程中被更新的一种方法，或者说，它是模型变成不可训练。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让基础模型的权重变成可被训练，这将有助于实现新模型针对新数据的专门化。但是请注意：如果基础模型与 VGG16 模型非常相似，则在新数据集过小的情况下，大量的权重会很容易造成过拟合。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借此机会，我们来谈论一下数据偏差。如果模型过度代表数据的某个子集，则会出现数据偏差。例如，如果我们要创建模型来确定汽车制造商，并且我们的数据集主要包含卡车数据，那么我们的模型将难以识别面包车、跑车和轿车。如果数据集有偏差，则生成的模型也会如此。这常常会引起关于合乎道德地使用人工智能的讨论。如果仅针对某个族群训练模型，则可能会导致在未充分代表的群体中出现一些令人尴尬的预测结果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使用迁移学习时要考虑到这一点，原因是新模型可能会获取旧模型的偏差。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16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0" name="Google Shape;270;p16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最后要指出很有趣的一点：迁移学习是做到美梦成真的好机会。我们前面第一次探讨 CNN 时简要谈到了这一点。这是通过将图像送入神经网络中的各层来完成的，但是，我们将通过梯度升高来最大化损失，而不是执行梯度下降。目标是扩大模型在图像中看到的模式。</a:t>
            </a:r>
            <a:endParaRPr/>
          </a:p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这里已通过 InceptionV3 模型将 Bo 的图像送入到前三个卷积层中，我们在这里看到的是梯度。我们可以看到，随着模型的推进，这些层会慢慢开始获取越来越多的细节。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遗憾的是，我们没有那么多时间全面分析相关机制，但如果您不怕挑战，请访问有关如何这样做的教程链接！</a:t>
            </a:r>
            <a:endParaRPr u="sng">
              <a:solidFill>
                <a:schemeClr val="hlink"/>
              </a:solidFill>
              <a:latin typeface="Open Sans"/>
              <a:ea typeface="Noto Sans SC"/>
              <a:cs typeface="Open Sans"/>
              <a:sym typeface="Open Sans"/>
              <a:hlinkClick r:id="rId2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u="sng">
              <a:solidFill>
                <a:schemeClr val="hlink"/>
              </a:solidFill>
              <a:latin typeface="Open Sans"/>
              <a:ea typeface="Noto Sans SC"/>
              <a:cs typeface="Open Sans"/>
              <a:sym typeface="Open Sans"/>
              <a:hlinkClick r:id="rId3"/>
            </a:endParaRPr>
          </a:p>
          <a:p>
            <a:pPr indent="-228600" lvl="0" marL="457200" marR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rPr lang="zh-CN" u="sng">
                <a:solidFill>
                  <a:schemeClr val="hlink"/>
                </a:solidFill>
                <a:latin typeface="Open Sans"/>
                <a:ea typeface="Noto Sans SC"/>
                <a:cs typeface="Open Sans"/>
                <a:sym typeface="Open Sans"/>
                <a:hlinkClick r:id="rId4"/>
              </a:rPr>
              <a:t>https://www.tensorflow.org/tutorials/generative/deepdream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7:notes"/>
          <p:cNvSpPr/>
          <p:nvPr>
            <p:ph idx="2" type="sldImg"/>
          </p:nvPr>
        </p:nvSpPr>
        <p:spPr>
          <a:xfrm>
            <a:off x="406400" y="696913"/>
            <a:ext cx="6197600" cy="34861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7:notes"/>
          <p:cNvSpPr txBox="1"/>
          <p:nvPr>
            <p:ph idx="1" type="body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不过，重要的事情先做。让我们开始制作自己的狗门和总统的狗门吧。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f982dd4564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3" name="Google Shape;283;g3f982dd4564_0_0:notes"/>
          <p:cNvSpPr txBox="1"/>
          <p:nvPr>
            <p:ph idx="1" type="body"/>
          </p:nvPr>
        </p:nvSpPr>
        <p:spPr>
          <a:xfrm>
            <a:off x="701040" y="4415790"/>
            <a:ext cx="5608200" cy="418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6575" lIns="93175" spcFirstLastPara="1" rIns="93175" wrap="square" tIns="465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b="0" i="0" u="none" strike="noStrike">
              <a:solidFill>
                <a:schemeClr val="dk1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lnSpc>
                <a:spcPct val="100000"/>
              </a:lnSpc>
              <a:spcBef>
                <a:spcPts val="33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 sz="1100" u="none" strike="noStrike">
              <a:solidFill>
                <a:schemeClr val="dk1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showMasterSp="0">
  <p:cSld name="Title Slide"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Subtitle, and Content">
  <p:cSld name="Title, Subtitle, and Content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Slide" showMasterSp="0">
  <p:cSld name="Closing Slid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3" Type="http://schemas.openxmlformats.org/officeDocument/2006/relationships/theme" Target="../theme/theme3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2" r:id="rId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54" r:id="rId1"/>
  </p:sldLayoutIdLst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Open Sans"/>
        <a:defRPr b="0" i="0" spc="0" sz="1400" u="none" cap="none" strike="noStrike">
          <a:solidFill>
            <a:srgbClr val="000000"/>
          </a:solidFill>
          <a:latin typeface="Open Sans"/>
          <a:ea typeface="Noto Sans SC"/>
          <a:cs typeface="Open Sans"/>
          <a:sym typeface="Open San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s://support.microsoft.com/en-us/office/foundations-experiences/what-am-i-allowed-to-use-premium-creative-content-for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8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4.jpg"/><Relationship Id="rId4" Type="http://schemas.openxmlformats.org/officeDocument/2006/relationships/image" Target="../media/image13.jpg"/><Relationship Id="rId5" Type="http://schemas.openxmlformats.org/officeDocument/2006/relationships/image" Target="../media/image4.png"/><Relationship Id="rId6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3.jp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7.png"/><Relationship Id="rId6" Type="http://schemas.openxmlformats.org/officeDocument/2006/relationships/image" Target="../media/image9.png"/><Relationship Id="rId7" Type="http://schemas.openxmlformats.org/officeDocument/2006/relationships/image" Target="../media/image1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5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9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s://nvidia.cn/training" TargetMode="External"/><Relationship Id="rId4" Type="http://schemas.openxmlformats.org/officeDocument/2006/relationships/hyperlink" Target="https://www.nvidia.cn/training/certification" TargetMode="External"/><Relationship Id="rId5" Type="http://schemas.openxmlformats.org/officeDocument/2006/relationships/hyperlink" Target="https://www.nvidia.cn/training/find-training/" TargetMode="External"/><Relationship Id="rId6" Type="http://schemas.openxmlformats.org/officeDocument/2006/relationships/hyperlink" Target="https://www.nvidia.cn/training/online" TargetMode="External"/><Relationship Id="rId7" Type="http://schemas.openxmlformats.org/officeDocument/2006/relationships/hyperlink" Target="http://www.bagevent.com/event/8359360" TargetMode="External"/><Relationship Id="rId8" Type="http://schemas.openxmlformats.org/officeDocument/2006/relationships/hyperlink" Target="mailto:dlichina@nvidia.co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urse Title"/>
          <p:cNvSpPr txBox="1"/>
          <p:nvPr/>
        </p:nvSpPr>
        <p:spPr>
          <a:xfrm>
            <a:off x="685800" y="2267712"/>
            <a:ext cx="9601200" cy="1005840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 anchorCtr="1"/>
          <a:lstStyle/>
          <a:p>
            <a:pPr algn="ctr">
              <a:buNone/>
            </a:pPr>
            <a:r>
              <a:rPr sz="3200" lang="en-US" b="1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深度学习新手入门</a:t>
            </a:r>
            <a:endParaRPr sz="3200" b="1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 xmlns:p="http://schemas.openxmlformats.org/presentationml/2006/main" xmlns:a="http://schemas.openxmlformats.org/drawingml/2006/main">
        <p:nvSpPr>
          <p:cNvPr id="3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4" name="Course Part Subtitle"/>
          <p:cNvSpPr txBox="1"/>
          <p:nvPr/>
        </p:nvSpPr>
        <p:spPr>
          <a:xfrm>
            <a:off x="685800" y="3310128"/>
            <a:ext cx="9601200" cy="502920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800" b="0" i="0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第</a:t>
            </a:r>
            <a:r>
              <a:rPr sz="1800" b="0" i="0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 5 </a:t>
            </a:r>
            <a:r>
              <a:rPr sz="1800" b="0" i="0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部分</a:t>
            </a:r>
            <a:r>
              <a:rPr sz="1800" b="0" i="0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：</a:t>
            </a:r>
            <a:r>
              <a:rPr sz="1800" b="0" i="0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预训练的模型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 xmlns:p="http://schemas.openxmlformats.org/presentationml/2006/main" xmlns:a="http://schemas.openxmlformats.org/drawingml/2006/main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FC4C99-3AA4-6FAE-E4D2-E87C07DA3E13}"/>
              </a:ext>
            </a:extLst>
          </p:cNvPr>
          <p:cNvSpPr txBox="1">
            <a:spLocks noGrp="1"/>
          </p:cNvSpPr>
          <p:nvPr/>
        </p:nvSpPr>
        <p:spPr>
          <a:xfrm>
            <a:off x="779069" y="2048878"/>
            <a:ext cx="3642970" cy="1009708"/>
          </a:xfrm>
        </p:spPr>
        <p:txBody>
          <a:bodyPr vert="horz" lIns="27432" tIns="13716" rIns="27432" bIns="13716" rtlCol="0" anchor="b">
            <a:normAutofit/>
          </a:bodyPr>
          <a:lstStyle>
            <a:lvl1pPr algn="l" defTabSz="2743200" rtl="0" eaLnBrk="1" latinLnBrk="0" hangingPunct="1">
              <a:lnSpc>
                <a:spcPct val="90000"/>
              </a:lnSpc>
              <a:spcBef>
                <a:spcPts val="180"/>
              </a:spcBef>
              <a:buNone/>
              <a:defRPr sz="2160" b="1" kern="1200" cap="none" baseline="0">
                <a:solidFill>
                  <a:srgbClr val="000000"/>
                </a:solidFill>
                <a:ea typeface="Noto Sans SC"/>
                <a:latin typeface="Open Sans" panose="020B0503020203020204" pitchFamily="34" charset="0"/>
                <a:cs typeface="Open Sans" panose="020B0503020203020204" pitchFamily="34" charset="0"/>
              </a:defRPr>
              <a:spcAft>
                <a:spcPts val="180"/>
              </a:spcAft>
            </a:lvl1pPr>
          </a:lstStyle>
          <a:p>
            <a:pPr algn="l"/>
            <a:r>
              <a:rPr lang="en-US" sz="2160" b="1">
                <a:latin typeface="Open Sans"/>
              </a:rPr>
              <a:t>Third Party Content Notice</a:t>
            </a:r>
            <a:endParaRPr lang="en-US" dirty="0" sz="2160" b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335D20-198A-2E02-0876-6E631CAA33EA}"/>
              </a:ext>
            </a:extLst>
          </p:cNvPr>
          <p:cNvSpPr txBox="1">
            <a:spLocks noGrp="1"/>
          </p:cNvSpPr>
          <p:nvPr/>
        </p:nvSpPr>
        <p:spPr>
          <a:xfrm>
            <a:off x="779069" y="3084936"/>
            <a:ext cx="3642970" cy="422453"/>
          </a:xfrm>
        </p:spPr>
        <p:txBody>
          <a:bodyPr/>
          <a:lstStyle>
            <a:lvl1pPr marL="0" indent="0" algn="l" defTabSz="2743200" rtl="0" eaLnBrk="1" latinLnBrk="0" hangingPunct="1">
              <a:lnSpc>
                <a:spcPct val="90000"/>
              </a:lnSpc>
              <a:spcBef>
                <a:spcPts val="180"/>
              </a:spcBef>
              <a:defRPr sz="1440" kern="1200">
                <a:ea typeface="Noto Sans SC"/>
                <a:solidFill>
                  <a:srgbClr val="76B900"/>
                </a:solidFill>
                <a:latin typeface="Open Sans" panose="020B0503020203020204" pitchFamily="34" charset="0"/>
                <a:cs typeface="Open Sans" panose="020B0503020203020204" pitchFamily="34" charset="0"/>
              </a:defRPr>
              <a:spcAft>
                <a:spcPts val="180"/>
              </a:spcAft>
              <a:buFontTx/>
              <a:buNone/>
            </a:lvl1pPr>
            <a:lvl2pPr marL="1371600" indent="0" algn="ctr" defTabSz="2743200" rtl="0" eaLnBrk="1" latinLnBrk="0" hangingPunct="1">
              <a:lnSpc>
                <a:spcPct val="90000"/>
              </a:lnSpc>
              <a:spcBef>
                <a:spcPts val="450"/>
              </a:spcBef>
              <a:defRPr sz="1320" kern="1200">
                <a:solidFill>
                  <a:srgbClr val="FFFFFF"/>
                </a:solidFill>
                <a:ea typeface="Noto Sans SC"/>
                <a:cs typeface="Open Sans"/>
                <a:latin typeface="Open Sans" panose="020B0503020203020204" pitchFamily="34" charset="0"/>
              </a:defRPr>
              <a:buFontTx/>
              <a:buNone/>
            </a:lvl2pPr>
            <a:lvl3pPr marL="2743200" indent="0" algn="ctr" defTabSz="2743200" rtl="0" eaLnBrk="1" latinLnBrk="0" hangingPunct="1">
              <a:lnSpc>
                <a:spcPct val="90000"/>
              </a:lnSpc>
              <a:spcBef>
                <a:spcPts val="450"/>
              </a:spcBef>
              <a:defRPr sz="1320" kern="1200">
                <a:solidFill>
                  <a:srgbClr val="FFFFFF"/>
                </a:solidFill>
                <a:ea typeface="Noto Sans SC"/>
                <a:cs typeface="Open Sans"/>
                <a:latin typeface="Open Sans" panose="020B0503020203020204" pitchFamily="34" charset="0"/>
              </a:defRPr>
              <a:buFontTx/>
              <a:buNone/>
            </a:lvl3pPr>
            <a:lvl4pPr marL="4114800" indent="0" algn="ctr" defTabSz="2743200" rtl="0" eaLnBrk="1" latinLnBrk="0" hangingPunct="1">
              <a:lnSpc>
                <a:spcPct val="90000"/>
              </a:lnSpc>
              <a:spcBef>
                <a:spcPts val="450"/>
              </a:spcBef>
              <a:defRPr sz="1320" kern="1200">
                <a:solidFill>
                  <a:srgbClr val="FFFFFF"/>
                </a:solidFill>
                <a:ea typeface="Noto Sans SC"/>
                <a:cs typeface="Open Sans"/>
                <a:latin typeface="Open Sans" panose="020B0503020203020204" pitchFamily="34" charset="0"/>
              </a:defRPr>
              <a:buFontTx/>
              <a:buNone/>
            </a:lvl4pPr>
            <a:lvl5pPr marL="5486400" indent="0" algn="ctr" defTabSz="2743200" rtl="0" eaLnBrk="1" latinLnBrk="0" hangingPunct="1">
              <a:lnSpc>
                <a:spcPct val="90000"/>
              </a:lnSpc>
              <a:spcBef>
                <a:spcPts val="450"/>
              </a:spcBef>
              <a:defRPr sz="1320" kern="1200">
                <a:solidFill>
                  <a:srgbClr val="FFFFFF"/>
                </a:solidFill>
                <a:ea typeface="Noto Sans SC"/>
                <a:cs typeface="Open Sans"/>
                <a:latin typeface="Open Sans" panose="020B0503020203020204" pitchFamily="34" charset="0"/>
              </a:defRPr>
              <a:buFontTx/>
              <a:buNone/>
            </a:lvl5pPr>
            <a:lvl6pPr marL="7543800" indent="-685800" algn="l" defTabSz="2743200" rtl="0" eaLnBrk="1" latinLnBrk="0" hangingPunct="1">
              <a:lnSpc>
                <a:spcPct val="90000"/>
              </a:lnSpc>
              <a:spcBef>
                <a:spcPts val="450"/>
              </a:spcBef>
              <a:buFont typeface="Open Sans" panose="020B0503020203020204" pitchFamily="34" charset="0"/>
              <a:buChar char="•"/>
              <a:defRPr sz="1620" kern="1200">
                <a:solidFill>
                  <a:srgbClr val="FFFFFF"/>
                </a:solidFill>
                <a:latin typeface="Open Sans"/>
                <a:ea typeface="Noto Sans SC"/>
                <a:cs typeface="Open Sans"/>
              </a:defRPr>
            </a:lvl6pPr>
            <a:lvl7pPr marL="8915400" indent="-685800" algn="l" defTabSz="2743200" rtl="0" eaLnBrk="1" latinLnBrk="0" hangingPunct="1">
              <a:lnSpc>
                <a:spcPct val="90000"/>
              </a:lnSpc>
              <a:spcBef>
                <a:spcPts val="450"/>
              </a:spcBef>
              <a:buFont typeface="Open Sans" panose="020B0503020203020204" pitchFamily="34" charset="0"/>
              <a:buChar char="•"/>
              <a:defRPr sz="1620" kern="1200">
                <a:solidFill>
                  <a:srgbClr val="FFFFFF"/>
                </a:solidFill>
                <a:latin typeface="Open Sans"/>
                <a:ea typeface="Noto Sans SC"/>
                <a:cs typeface="Open Sans"/>
              </a:defRPr>
            </a:lvl7pPr>
            <a:lvl8pPr marL="10287000" indent="-685800" algn="l" defTabSz="2743200" rtl="0" eaLnBrk="1" latinLnBrk="0" hangingPunct="1">
              <a:lnSpc>
                <a:spcPct val="90000"/>
              </a:lnSpc>
              <a:spcBef>
                <a:spcPts val="450"/>
              </a:spcBef>
              <a:buFont typeface="Open Sans" panose="020B0503020203020204" pitchFamily="34" charset="0"/>
              <a:buChar char="•"/>
              <a:defRPr sz="1620" kern="1200">
                <a:solidFill>
                  <a:srgbClr val="FFFFFF"/>
                </a:solidFill>
                <a:latin typeface="Open Sans"/>
                <a:ea typeface="Noto Sans SC"/>
                <a:cs typeface="Open Sans"/>
              </a:defRPr>
            </a:lvl8pPr>
            <a:lvl9pPr marL="11658600" indent="-685800" algn="l" defTabSz="2743200" rtl="0" eaLnBrk="1" latinLnBrk="0" hangingPunct="1">
              <a:lnSpc>
                <a:spcPct val="90000"/>
              </a:lnSpc>
              <a:spcBef>
                <a:spcPts val="450"/>
              </a:spcBef>
              <a:buFont typeface="Open Sans" panose="020B0503020203020204" pitchFamily="34" charset="0"/>
              <a:buChar char="•"/>
              <a:defRPr sz="1620" kern="1200">
                <a:solidFill>
                  <a:srgbClr val="FFFFFF"/>
                </a:solidFill>
                <a:latin typeface="Open Sans"/>
                <a:ea typeface="Noto Sans SC"/>
                <a:cs typeface="Open Sans"/>
              </a:defRPr>
            </a:lvl9pPr>
          </a:lstStyle>
          <a:p>
            <a:pPr algn="l"/>
            <a:r>
              <a:rPr lang="en-US" sz="1440">
                <a:latin typeface="Open Sans"/>
              </a:rPr>
              <a:t>Microsoft 365 Premium Creative Content</a:t>
            </a:r>
            <a:endParaRPr lang="en-US" dirty="0" sz="144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30DE533-874C-3F67-0B1B-EB1B6A11F10E}"/>
              </a:ext>
            </a:extLst>
          </p:cNvPr>
          <p:cNvSpPr/>
          <p:nvPr/>
        </p:nvSpPr>
        <p:spPr>
          <a:xfrm>
            <a:off x="4768948" y="0"/>
            <a:ext cx="6203852" cy="6172200"/>
          </a:xfrm>
          <a:prstGeom prst="rect">
            <a:avLst/>
          </a:prstGeom>
          <a:solidFill>
            <a:srgbClr val="FFFFFF">
              <a:lumMod val="95000"/>
            </a:srgbClr>
          </a:solidFill>
          <a:ln>
            <a:noFill/>
          </a:ln>
        </p:spPr>
        <p:style>
          <a:lnRef idx="2">
            <a:srgbClr val="008564">
              <a:shade val="50000"/>
            </a:srgbClr>
          </a:lnRef>
          <a:fillRef idx="1">
            <a:srgbClr val="008564"/>
          </a:fillRef>
          <a:effectRef idx="0">
            <a:srgbClr val="008564"/>
          </a:effectRef>
          <a:fontRef idx="minor">
            <a:srgbClr val="000000"/>
          </a:fontRef>
        </p:style>
        <p:txBody>
          <a:bodyPr rtlCol="0" anchor="ctr"/>
          <a:lstStyle/>
          <a:p>
            <a:pPr algn="ctr">
              <a:lnSpc>
                <a:spcPct val="90000"/>
              </a:lnSpc>
            </a:pPr>
            <a:endParaRPr lang="en-US" sz="1200" dirty="0" err="1">
              <a:solidFill>
                <a:srgbClr val="FFFFFF"/>
              </a:solidFill>
              <a:latin typeface="Open Sans" panose="020B0603020202020204" pitchFamily="34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82C3FCD-B910-77C2-26B4-37A0EE6E44D5}"/>
              </a:ext>
            </a:extLst>
          </p:cNvPr>
          <p:cNvSpPr/>
          <p:nvPr/>
        </p:nvSpPr>
        <p:spPr>
          <a:xfrm>
            <a:off x="5401994" y="958956"/>
            <a:ext cx="5011616" cy="4251960"/>
          </a:xfrm>
          <a:prstGeom prst="rect">
            <a:avLst/>
          </a:prstGeom>
          <a:noFill/>
          <a:ln>
            <a:noFill/>
          </a:ln>
        </p:spPr>
        <p:style>
          <a:lnRef idx="2">
            <a:srgbClr val="008564">
              <a:shade val="50000"/>
            </a:srgbClr>
          </a:lnRef>
          <a:fillRef idx="1">
            <a:srgbClr val="008564"/>
          </a:fillRef>
          <a:effectRef idx="0">
            <a:srgbClr val="008564"/>
          </a:effectRef>
          <a:fontRef idx="minor">
            <a:srgbClr val="000000"/>
          </a:fontRef>
        </p:style>
        <p:txBody>
          <a:bodyPr rtlCol="0" anchor="ctr"/>
          <a:lstStyle/>
          <a:p>
            <a:r>
              <a:rPr lang="en-US" sz="1200" dirty="0">
                <a:solidFill>
                  <a:srgbClr val="000000"/>
                </a:solidFill>
                <a:latin typeface="Open Sans"/>
              </a:rPr>
              <a:t>This slide deck includes Microsoft 365 stock images, icons, or other premium creative content.</a:t>
            </a:r>
          </a:p>
          <a:p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000000"/>
                </a:solidFill>
                <a:latin typeface="Open Sans"/>
              </a:rPr>
              <a:t>These Microsoft assets are not licensed under this project’s open-source license. They are included only under Microsoft’s applicable Microsoft 365 premium creative content terms:</a:t>
            </a:r>
          </a:p>
          <a:p>
            <a:br>
              <a:rPr lang="en-US" sz="1200" dirty="0">
                <a:solidFill>
                  <a:srgbClr val="000000"/>
                </a:solidFill>
              </a:rPr>
            </a:b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 u="sng">
                <a:solidFill>
                  <a:srgbClr val="76B900"/>
                </a:solidFill>
                <a:latin typeface="Open Sans"/>
                <a:hlinkClick r:id="rId2"/>
              </a:rPr>
              <a:t>https://support.microsoft.com/en-us/office/foundations-experiences/what-am-i-allowed-to-use-premium-creative-content-for</a:t>
            </a:r>
            <a:endParaRPr lang="en-US" sz="1200" dirty="0">
              <a:solidFill>
                <a:srgbClr val="000000"/>
              </a:solidFill>
            </a:endParaRPr>
          </a:p>
          <a:p>
            <a:br>
              <a:rPr lang="en-US" sz="1200" dirty="0">
                <a:solidFill>
                  <a:srgbClr val="000000"/>
                </a:solidFill>
              </a:rPr>
            </a:br>
            <a:endParaRPr lang="en-US" sz="1200" dirty="0">
              <a:solidFill>
                <a:srgbClr val="000000"/>
              </a:solidFill>
            </a:endParaRPr>
          </a:p>
          <a:p>
            <a:r>
              <a:rPr lang="en-US" sz="1200" dirty="0">
                <a:solidFill>
                  <a:srgbClr val="000000"/>
                </a:solidFill>
                <a:latin typeface="Open Sans"/>
              </a:rPr>
              <a:t>Recipients may not extract, reuse, sublicense, or redistribute those Microsoft assets separately under the project’s open-source license. Any use of those assets outside the included Microsoft 365 document, exported PDF, presentation, or similar file must be separately permitted by Microsoft.</a:t>
            </a:r>
          </a:p>
          <a:p>
            <a:pPr algn="ctr">
              <a:lnSpc>
                <a:spcPct val="90000"/>
              </a:lnSpc>
            </a:pPr>
            <a:endParaRPr lang="en-US" sz="1200" dirty="0" err="1">
              <a:solidFill>
                <a:srgbClr val="FFFFFF"/>
              </a:solidFill>
              <a:latin typeface="Open Sans" panose="020B0603020202020204" pitchFamily="34" charset="0"/>
            </a:endParaRPr>
          </a:p>
        </p:txBody>
      </p:sp>
      <p:sp xmlns:p="http://schemas.openxmlformats.org/presentationml/2006/main" xmlns:a="http://schemas.openxmlformats.org/drawingml/2006/main">
        <p:nvSpPr>
          <p:cNvPr id="9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312169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"/>
          <p:cNvSpPr txBox="1"/>
          <p:nvPr/>
        </p:nvSpPr>
        <p:spPr>
          <a:xfrm>
            <a:off x="1306421" y="2072742"/>
            <a:ext cx="2944883" cy="24067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Open Sans"/>
              <a:buNone/>
            </a:pPr>
            <a:r>
              <a:rPr b="0" i="0" lang="zh-CN" sz="3200" u="none" cap="none" strike="noStrike">
                <a:solidFill>
                  <a:schemeClr val="dk1"/>
                </a:solidFill>
                <a:latin typeface="Noto Sans SC"/>
                <a:ea typeface="Noto Sans SC"/>
                <a:cs typeface="Open Sans"/>
                <a:sym typeface="Open Sans"/>
              </a:rPr>
              <a:t>课程议题</a:t>
            </a:r>
            <a:endParaRPr b="0" i="0" sz="3200" u="none" cap="none" strike="noStrike">
              <a:solidFill>
                <a:schemeClr val="dk1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grpSp>
        <p:nvGrpSpPr>
          <p:cNvPr id="23" name="Google Shape;23;p2"/>
          <p:cNvGrpSpPr/>
          <p:nvPr/>
        </p:nvGrpSpPr>
        <p:grpSpPr>
          <a:xfrm>
            <a:off x="4627721" y="808936"/>
            <a:ext cx="5322094" cy="4001400"/>
            <a:chOff x="0" y="85989"/>
            <a:chExt cx="5322094" cy="4001400"/>
          </a:xfrm>
        </p:grpSpPr>
        <p:sp>
          <p:nvSpPr>
            <p:cNvPr id="24" name="Google Shape;24;p2"/>
            <p:cNvSpPr/>
            <p:nvPr/>
          </p:nvSpPr>
          <p:spPr>
            <a:xfrm>
              <a:off x="0" y="307389"/>
              <a:ext cx="5322094" cy="378000"/>
            </a:xfrm>
            <a:prstGeom prst="rect">
              <a:avLst/>
            </a:prstGeom>
            <a:solidFill>
              <a:schemeClr val="lt1">
                <a:alpha val="89804"/>
              </a:schemeClr>
            </a:solidFill>
            <a:ln cap="flat" cmpd="sng" w="9525">
              <a:solidFill>
                <a:srgbClr val="B71B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266104" y="85989"/>
              <a:ext cx="3725465" cy="442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6" name="Google Shape;26;p2"/>
            <p:cNvSpPr txBox="1"/>
            <p:nvPr/>
          </p:nvSpPr>
          <p:spPr>
            <a:xfrm>
              <a:off x="287720" y="1076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0800" spcFirstLastPara="1" rIns="140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Open Sans"/>
                <a:buNone/>
              </a:pP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第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 1 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部分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：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深度学习简介</a:t>
              </a:r>
              <a:endParaRPr b="0" i="0" sz="15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7" name="Google Shape;27;p2"/>
            <p:cNvSpPr/>
            <p:nvPr/>
          </p:nvSpPr>
          <p:spPr>
            <a:xfrm>
              <a:off x="0" y="987789"/>
              <a:ext cx="5322094" cy="378000"/>
            </a:xfrm>
            <a:prstGeom prst="rect">
              <a:avLst/>
            </a:prstGeom>
            <a:solidFill>
              <a:schemeClr val="lt1">
                <a:alpha val="89804"/>
              </a:schemeClr>
            </a:solidFill>
            <a:ln cap="flat" cmpd="sng" w="9525">
              <a:solidFill>
                <a:srgbClr val="B71B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266104" y="766389"/>
              <a:ext cx="3725465" cy="442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9" name="Google Shape;29;p2"/>
            <p:cNvSpPr txBox="1"/>
            <p:nvPr/>
          </p:nvSpPr>
          <p:spPr>
            <a:xfrm>
              <a:off x="287720" y="7880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0800" spcFirstLastPara="1" rIns="140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Open Sans"/>
                <a:buNone/>
              </a:pP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第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 2 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部分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：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神经网络是如何训练的</a:t>
              </a:r>
              <a:endParaRPr b="0" i="0" sz="15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0" name="Google Shape;30;p2"/>
            <p:cNvSpPr/>
            <p:nvPr/>
          </p:nvSpPr>
          <p:spPr>
            <a:xfrm>
              <a:off x="0" y="1668189"/>
              <a:ext cx="5322094" cy="378000"/>
            </a:xfrm>
            <a:prstGeom prst="rect">
              <a:avLst/>
            </a:prstGeom>
            <a:solidFill>
              <a:schemeClr val="lt1">
                <a:alpha val="89804"/>
              </a:schemeClr>
            </a:solidFill>
            <a:ln cap="flat" cmpd="sng" w="9525">
              <a:solidFill>
                <a:srgbClr val="B71B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1" name="Google Shape;31;p2"/>
            <p:cNvSpPr/>
            <p:nvPr/>
          </p:nvSpPr>
          <p:spPr>
            <a:xfrm>
              <a:off x="266104" y="1446789"/>
              <a:ext cx="3725465" cy="442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2" name="Google Shape;32;p2"/>
            <p:cNvSpPr txBox="1"/>
            <p:nvPr/>
          </p:nvSpPr>
          <p:spPr>
            <a:xfrm>
              <a:off x="287720" y="14684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0800" spcFirstLastPara="1" rIns="140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Open Sans"/>
                <a:buNone/>
              </a:pP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第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 3 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部分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：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卷积神经网络</a:t>
              </a:r>
              <a:endParaRPr b="0" i="0" sz="15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0" y="2348589"/>
              <a:ext cx="5322094" cy="378000"/>
            </a:xfrm>
            <a:prstGeom prst="rect">
              <a:avLst/>
            </a:prstGeom>
            <a:solidFill>
              <a:schemeClr val="lt1">
                <a:alpha val="89804"/>
              </a:schemeClr>
            </a:solidFill>
            <a:ln cap="flat" cmpd="sng" w="9525">
              <a:solidFill>
                <a:srgbClr val="B71B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4" name="Google Shape;34;p2"/>
            <p:cNvSpPr/>
            <p:nvPr/>
          </p:nvSpPr>
          <p:spPr>
            <a:xfrm>
              <a:off x="266104" y="2127189"/>
              <a:ext cx="3725465" cy="442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5" name="Google Shape;35;p2"/>
            <p:cNvSpPr txBox="1"/>
            <p:nvPr/>
          </p:nvSpPr>
          <p:spPr>
            <a:xfrm>
              <a:off x="287720" y="21488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0800" spcFirstLastPara="1" rIns="140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Open Sans"/>
                <a:buNone/>
              </a:pP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第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 4 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部分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：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数据增强与模型部署</a:t>
              </a:r>
              <a:endParaRPr b="0" i="0" sz="15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6" name="Google Shape;36;p2"/>
            <p:cNvSpPr/>
            <p:nvPr/>
          </p:nvSpPr>
          <p:spPr>
            <a:xfrm>
              <a:off x="0" y="3028989"/>
              <a:ext cx="5322094" cy="378000"/>
            </a:xfrm>
            <a:prstGeom prst="rect">
              <a:avLst/>
            </a:prstGeom>
            <a:solidFill>
              <a:schemeClr val="lt1">
                <a:alpha val="89804"/>
              </a:schemeClr>
            </a:solidFill>
            <a:ln cap="flat" cmpd="sng" w="9525">
              <a:solidFill>
                <a:srgbClr val="B71B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7" name="Google Shape;37;p2"/>
            <p:cNvSpPr/>
            <p:nvPr/>
          </p:nvSpPr>
          <p:spPr>
            <a:xfrm>
              <a:off x="266104" y="2807589"/>
              <a:ext cx="3725465" cy="442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8" name="Google Shape;38;p2"/>
            <p:cNvSpPr txBox="1"/>
            <p:nvPr/>
          </p:nvSpPr>
          <p:spPr>
            <a:xfrm>
              <a:off x="287720" y="28292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0800" spcFirstLastPara="1" rIns="140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Open Sans"/>
                <a:buNone/>
              </a:pP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第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 5 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部分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：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预训练的模型</a:t>
              </a:r>
              <a:endParaRPr b="0" i="0" sz="15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39" name="Google Shape;39;p2"/>
            <p:cNvSpPr/>
            <p:nvPr/>
          </p:nvSpPr>
          <p:spPr>
            <a:xfrm>
              <a:off x="0" y="3709389"/>
              <a:ext cx="5322094" cy="378000"/>
            </a:xfrm>
            <a:prstGeom prst="rect">
              <a:avLst/>
            </a:prstGeom>
            <a:solidFill>
              <a:schemeClr val="lt1">
                <a:alpha val="89804"/>
              </a:schemeClr>
            </a:solidFill>
            <a:ln cap="flat" cmpd="sng" w="9525">
              <a:solidFill>
                <a:srgbClr val="B71B4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40" name="Google Shape;40;p2"/>
            <p:cNvSpPr/>
            <p:nvPr/>
          </p:nvSpPr>
          <p:spPr>
            <a:xfrm>
              <a:off x="266104" y="3487989"/>
              <a:ext cx="3725465" cy="442800"/>
            </a:xfrm>
            <a:prstGeom prst="roundRect">
              <a:avLst>
                <a:gd fmla="val 16667" name="adj"/>
              </a:avLst>
            </a:prstGeom>
            <a:gradFill>
              <a:gsLst>
                <a:gs pos="0">
                  <a:srgbClr val="C62B49"/>
                </a:gs>
                <a:gs pos="69000">
                  <a:srgbClr val="B2012E"/>
                </a:gs>
                <a:gs pos="100000">
                  <a:srgbClr val="A8022B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Open Sans"/>
                <a:buNone/>
              </a:pPr>
              <a:r>
                <a:t/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41" name="Google Shape;41;p2"/>
            <p:cNvSpPr txBox="1"/>
            <p:nvPr/>
          </p:nvSpPr>
          <p:spPr>
            <a:xfrm>
              <a:off x="287720" y="3509605"/>
              <a:ext cx="3682233" cy="399568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40800" spcFirstLastPara="1" rIns="140800" wrap="square" tIns="0">
              <a:noAutofit/>
            </a:bodyPr>
            <a:lstStyle/>
            <a:p>
              <a:pPr indent="0" lvl="0" marL="0" marR="0" rtl="0" algn="l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500"/>
                <a:buFont typeface="Open Sans"/>
                <a:buNone/>
              </a:pP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第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 6 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部分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：</a:t>
              </a:r>
              <a:r>
                <a:rPr b="0" i="0" lang="zh-CN" sz="15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更高级的模型结构</a:t>
              </a:r>
              <a:endParaRPr b="0" i="0" sz="15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</p:grpSp>
      <p:sp xmlns:p="http://schemas.openxmlformats.org/presentationml/2006/main" xmlns:a="http://schemas.openxmlformats.org/drawingml/2006/main">
        <p:nvSpPr>
          <p:cNvPr id="42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3"/>
          <p:cNvSpPr txBox="1"/>
          <p:nvPr/>
        </p:nvSpPr>
        <p:spPr>
          <a:xfrm>
            <a:off x="1306421" y="1238447"/>
            <a:ext cx="8465302" cy="90269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pen Sans"/>
              <a:buNone/>
            </a:pPr>
            <a:r>
              <a:rPr b="0" i="0" lang="zh-CN" sz="3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课程议题</a:t>
            </a:r>
            <a:r>
              <a:rPr b="0" i="0" lang="zh-CN" sz="32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 – </a:t>
            </a:r>
            <a:r>
              <a:rPr b="0" i="0" lang="zh-CN" sz="3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第</a:t>
            </a:r>
            <a:r>
              <a:rPr b="0" i="0" lang="zh-CN" sz="32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 5 </a:t>
            </a:r>
            <a:r>
              <a:rPr b="0" i="0" lang="zh-CN" sz="32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部分</a:t>
            </a:r>
            <a:endParaRPr b="0" i="0" sz="32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47" name="Google Shape;47;p3"/>
          <p:cNvSpPr txBox="1"/>
          <p:nvPr/>
        </p:nvSpPr>
        <p:spPr>
          <a:xfrm>
            <a:off x="1306421" y="2218491"/>
            <a:ext cx="8465302" cy="216321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4572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Char char="•"/>
            </a:pPr>
            <a:r>
              <a:rPr b="0" i="0" lang="zh-CN" sz="18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复习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Char char="•"/>
            </a:pPr>
            <a:r>
              <a:rPr b="0" i="0" lang="zh-CN" sz="18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预训练的模型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228600" lvl="0" marL="457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Char char="•"/>
            </a:pPr>
            <a:r>
              <a:rPr b="0" i="0" lang="zh-CN" sz="18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迁移学习</a:t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114300" lvl="0" marL="457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114300" lvl="0" marL="457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114300" lvl="0" marL="457200" marR="0" rtl="0" algn="l">
              <a:lnSpc>
                <a:spcPct val="110000"/>
              </a:lnSpc>
              <a:spcBef>
                <a:spcPts val="900"/>
              </a:spcBef>
              <a:spcAft>
                <a:spcPts val="0"/>
              </a:spcAft>
              <a:buClr>
                <a:schemeClr val="accent1"/>
              </a:buClr>
              <a:buSzPts val="18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 xmlns:p="http://schemas.openxmlformats.org/presentationml/2006/main" xmlns:a="http://schemas.openxmlformats.org/drawingml/2006/main">
        <p:nvSpPr>
          <p:cNvPr id="48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"/>
          <p:cNvSpPr txBox="1"/>
          <p:nvPr/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复习迄今所学的概念</a:t>
            </a:r>
            <a:endParaRPr b="1" i="0" sz="36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 xmlns:p="http://schemas.openxmlformats.org/presentationml/2006/main" xmlns:a="http://schemas.openxmlformats.org/drawingml/2006/main">
        <p:nvSpPr>
          <p:cNvPr id="53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复习迄今所学的概念</a:t>
            </a:r>
            <a:endParaRPr b="1" i="0" sz="3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58" name="Google Shape;58;p5"/>
          <p:cNvSpPr txBox="1"/>
          <p:nvPr/>
        </p:nvSpPr>
        <p:spPr>
          <a:xfrm>
            <a:off x="6302959" y="1792049"/>
            <a:ext cx="3914466" cy="37189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Open Sans"/>
              <a:buChar char="•"/>
            </a:pPr>
            <a:r>
              <a:rPr b="0" i="0" lang="zh-CN" sz="2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学习率</a:t>
            </a:r>
            <a:endParaRPr b="0" i="0" sz="20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Open Sans"/>
              <a:buChar char="•"/>
            </a:pPr>
            <a:r>
              <a:rPr b="0" i="0" lang="zh-CN" sz="2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层数</a:t>
            </a:r>
            <a:endParaRPr b="0" i="0" sz="20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Open Sans"/>
              <a:buChar char="•"/>
            </a:pPr>
            <a:r>
              <a:rPr b="0" i="0" lang="zh-CN" sz="2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每层神经元数</a:t>
            </a:r>
            <a:endParaRPr b="0" i="0" sz="20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Open Sans"/>
              <a:buChar char="•"/>
            </a:pPr>
            <a:r>
              <a:rPr b="0" i="0" lang="zh-CN" sz="2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激活函数</a:t>
            </a:r>
            <a:endParaRPr b="0" i="0" sz="20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Open Sans"/>
              <a:buChar char="•"/>
            </a:pPr>
            <a:r>
              <a:rPr b="0" i="0" lang="zh-CN" sz="2600" u="none" cap="none" strike="noStrike">
                <a:solidFill>
                  <a:schemeClr val="dk2"/>
                </a:solidFill>
                <a:latin typeface="Open Sans"/>
                <a:ea typeface="Noto Sans SC"/>
                <a:cs typeface="Open Sans"/>
                <a:sym typeface="Open Sans"/>
              </a:rPr>
              <a:t>Dropout</a:t>
            </a:r>
            <a:endParaRPr b="0" i="0" sz="2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457200" lvl="0" marL="457200" marR="0" rtl="0" algn="l">
              <a:lnSpc>
                <a:spcPct val="90000"/>
              </a:lnSpc>
              <a:spcBef>
                <a:spcPts val="18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Open Sans"/>
              <a:buChar char="•"/>
            </a:pPr>
            <a:r>
              <a:rPr b="0" i="0" lang="zh-CN" sz="2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数据</a:t>
            </a:r>
            <a:endParaRPr b="0" i="0" sz="20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descr="A desk with technical drawings, pencil and tools" id="59" name="Google Shape;5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5730" y="1792049"/>
            <a:ext cx="5113157" cy="3407939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60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"/>
          <p:cNvSpPr txBox="1"/>
          <p:nvPr/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预训练模型</a:t>
            </a:r>
            <a:endParaRPr b="1" i="0" sz="36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 xmlns:p="http://schemas.openxmlformats.org/presentationml/2006/main" xmlns:a="http://schemas.openxmlformats.org/drawingml/2006/main">
        <p:nvSpPr>
          <p:cNvPr id="65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7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预训练模型</a:t>
            </a:r>
            <a:endParaRPr b="1" i="0" sz="3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id="70" name="Google Shape;7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194986" y="1835670"/>
            <a:ext cx="3772196" cy="1165947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7"/>
          <p:cNvSpPr txBox="1"/>
          <p:nvPr/>
        </p:nvSpPr>
        <p:spPr>
          <a:xfrm flipH="1">
            <a:off x="6506153" y="3526345"/>
            <a:ext cx="391152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Font typeface="Open Sans"/>
              <a:buNone/>
            </a:pPr>
            <a:r>
              <a:rPr b="0" i="0" lang="zh-CN" sz="6000" u="none" cap="none" strike="noStrike">
                <a:solidFill>
                  <a:srgbClr val="EE4C2C"/>
                </a:solidFill>
                <a:latin typeface="Open Sans"/>
                <a:ea typeface="Noto Sans SC"/>
                <a:cs typeface="Open Sans"/>
                <a:sym typeface="Open Sans"/>
              </a:rPr>
              <a:t>PYTORCH</a:t>
            </a:r>
            <a:br>
              <a:rPr b="0" i="0" lang="zh-CN" sz="6000" u="none" cap="none" strike="noStrike">
                <a:solidFill>
                  <a:srgbClr val="212529"/>
                </a:solidFill>
                <a:latin typeface="Open Sans"/>
                <a:ea typeface="Noto Sans SC"/>
                <a:cs typeface="Open Sans"/>
                <a:sym typeface="Open Sans"/>
              </a:rPr>
            </a:br>
            <a:r>
              <a:rPr b="0" i="0" lang="zh-CN" sz="6000" u="none" cap="none" strike="noStrike">
                <a:solidFill>
                  <a:srgbClr val="212529"/>
                </a:solidFill>
                <a:latin typeface="Open Sans"/>
                <a:ea typeface="Noto Sans SC"/>
                <a:cs typeface="Open Sans"/>
                <a:sym typeface="Open Sans"/>
              </a:rPr>
              <a:t>HUB</a:t>
            </a:r>
            <a:endParaRPr b="0" i="0" sz="60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descr="TensorFlow Hub" id="72" name="Google Shape;72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31110" y="1026427"/>
            <a:ext cx="5363876" cy="3016405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73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8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预训练模型</a:t>
            </a:r>
            <a:endParaRPr b="1" i="0" sz="3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id="78" name="Google Shape;78;p8"/>
          <p:cNvPicPr preferRelativeResize="0"/>
          <p:nvPr/>
        </p:nvPicPr>
        <p:blipFill rotWithShape="1">
          <a:blip r:embed="rId3">
            <a:alphaModFix/>
          </a:blip>
          <a:srcRect b="48308" l="27252" r="35186" t="29469"/>
          <a:stretch/>
        </p:blipFill>
        <p:spPr>
          <a:xfrm>
            <a:off x="2554357" y="1801818"/>
            <a:ext cx="6033052" cy="20077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79" name="Google Shape;79;p8"/>
          <p:cNvGrpSpPr/>
          <p:nvPr/>
        </p:nvGrpSpPr>
        <p:grpSpPr>
          <a:xfrm>
            <a:off x="3149061" y="3914609"/>
            <a:ext cx="4674678" cy="1089529"/>
            <a:chOff x="3149061" y="3667871"/>
            <a:chExt cx="4674678" cy="1089529"/>
          </a:xfrm>
        </p:grpSpPr>
        <p:sp>
          <p:nvSpPr>
            <p:cNvPr id="80" name="Google Shape;80;p8"/>
            <p:cNvSpPr txBox="1"/>
            <p:nvPr/>
          </p:nvSpPr>
          <p:spPr>
            <a:xfrm>
              <a:off x="3149061" y="3667871"/>
              <a:ext cx="4674678" cy="108952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7200"/>
                <a:buFont typeface="Open Sans"/>
                <a:buNone/>
              </a:pPr>
              <a:r>
                <a:rPr b="0" i="0" lang="zh-CN" sz="7200" u="none" cap="none" strike="noStrike">
                  <a:solidFill>
                    <a:schemeClr val="dk2"/>
                  </a:solidFill>
                  <a:latin typeface="Open Sans"/>
                  <a:ea typeface="Noto Sans SC"/>
                  <a:cs typeface="Open Sans"/>
                  <a:sym typeface="Open Sans"/>
                </a:rPr>
                <a:t>IM</a:t>
              </a:r>
              <a:r>
                <a:rPr b="0" i="0" lang="zh-CN" sz="6000" u="none" cap="none" strike="noStrike">
                  <a:solidFill>
                    <a:schemeClr val="dk2"/>
                  </a:solidFill>
                  <a:latin typeface="Open Sans"/>
                  <a:ea typeface="Noto Sans SC"/>
                  <a:cs typeface="Open Sans"/>
                  <a:sym typeface="Open Sans"/>
                </a:rPr>
                <a:t>   </a:t>
              </a:r>
              <a:r>
                <a:rPr b="0" i="0" lang="zh-CN" sz="7200" u="none" cap="none" strike="noStrike">
                  <a:solidFill>
                    <a:schemeClr val="dk2"/>
                  </a:solidFill>
                  <a:latin typeface="Open Sans"/>
                  <a:ea typeface="Noto Sans SC"/>
                  <a:cs typeface="Open Sans"/>
                  <a:sym typeface="Open Sans"/>
                </a:rPr>
                <a:t>GE</a:t>
              </a:r>
              <a:r>
                <a:rPr b="0" i="0" lang="zh-CN" sz="7200" u="none" cap="none" strike="noStrike">
                  <a:solidFill>
                    <a:srgbClr val="868686"/>
                  </a:solidFill>
                  <a:latin typeface="Open Sans"/>
                  <a:ea typeface="Noto Sans SC"/>
                  <a:cs typeface="Open Sans"/>
                  <a:sym typeface="Open Sans"/>
                </a:rPr>
                <a:t>NET</a:t>
              </a:r>
              <a:endParaRPr b="0" i="0" sz="7200" u="none" cap="none" strike="noStrike">
                <a:solidFill>
                  <a:srgbClr val="868686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grpSp>
          <p:nvGrpSpPr>
            <p:cNvPr id="81" name="Google Shape;81;p8"/>
            <p:cNvGrpSpPr/>
            <p:nvPr/>
          </p:nvGrpSpPr>
          <p:grpSpPr>
            <a:xfrm>
              <a:off x="4288124" y="3821200"/>
              <a:ext cx="647370" cy="670955"/>
              <a:chOff x="572468" y="3269673"/>
              <a:chExt cx="752756" cy="780180"/>
            </a:xfrm>
          </p:grpSpPr>
          <p:cxnSp>
            <p:nvCxnSpPr>
              <p:cNvPr id="82" name="Google Shape;82;p8"/>
              <p:cNvCxnSpPr/>
              <p:nvPr/>
            </p:nvCxnSpPr>
            <p:spPr>
              <a:xfrm flipH="1">
                <a:off x="718457" y="3410857"/>
                <a:ext cx="232229" cy="442686"/>
              </a:xfrm>
              <a:prstGeom prst="straightConnector1">
                <a:avLst/>
              </a:prstGeom>
              <a:noFill/>
              <a:ln cap="flat" cmpd="sng" w="57150">
                <a:solidFill>
                  <a:srgbClr val="86868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cxnSp>
            <p:nvCxnSpPr>
              <p:cNvPr id="83" name="Google Shape;83;p8"/>
              <p:cNvCxnSpPr/>
              <p:nvPr/>
            </p:nvCxnSpPr>
            <p:spPr>
              <a:xfrm>
                <a:off x="954689" y="3410857"/>
                <a:ext cx="232229" cy="442686"/>
              </a:xfrm>
              <a:prstGeom prst="straightConnector1">
                <a:avLst/>
              </a:prstGeom>
              <a:noFill/>
              <a:ln cap="flat" cmpd="sng" w="57150">
                <a:solidFill>
                  <a:srgbClr val="868686"/>
                </a:solidFill>
                <a:prstDash val="solid"/>
                <a:round/>
                <a:headEnd len="sm" w="sm" type="none"/>
                <a:tailEnd len="sm" w="sm" type="none"/>
              </a:ln>
            </p:spPr>
          </p:cxnSp>
          <p:sp>
            <p:nvSpPr>
              <p:cNvPr id="84" name="Google Shape;84;p8"/>
              <p:cNvSpPr/>
              <p:nvPr/>
            </p:nvSpPr>
            <p:spPr>
              <a:xfrm>
                <a:off x="809547" y="3269673"/>
                <a:ext cx="278597" cy="278597"/>
              </a:xfrm>
              <a:prstGeom prst="roundRect">
                <a:avLst>
                  <a:gd fmla="val 16667" name="adj"/>
                </a:avLst>
              </a:prstGeom>
              <a:solidFill>
                <a:srgbClr val="34B80D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Open Sans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endParaRPr>
              </a:p>
            </p:txBody>
          </p:sp>
          <p:sp>
            <p:nvSpPr>
              <p:cNvPr id="85" name="Google Shape;85;p8"/>
              <p:cNvSpPr/>
              <p:nvPr/>
            </p:nvSpPr>
            <p:spPr>
              <a:xfrm>
                <a:off x="572468" y="3771256"/>
                <a:ext cx="278597" cy="278597"/>
              </a:xfrm>
              <a:prstGeom prst="roundRect">
                <a:avLst>
                  <a:gd fmla="val 16667" name="adj"/>
                </a:avLst>
              </a:prstGeom>
              <a:solidFill>
                <a:srgbClr val="F97F02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Open Sans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endParaRPr>
              </a:p>
            </p:txBody>
          </p:sp>
          <p:sp>
            <p:nvSpPr>
              <p:cNvPr id="86" name="Google Shape;86;p8"/>
              <p:cNvSpPr/>
              <p:nvPr/>
            </p:nvSpPr>
            <p:spPr>
              <a:xfrm>
                <a:off x="1046627" y="3771256"/>
                <a:ext cx="278597" cy="278597"/>
              </a:xfrm>
              <a:prstGeom prst="roundRect">
                <a:avLst>
                  <a:gd fmla="val 16667" name="adj"/>
                </a:avLst>
              </a:prstGeom>
              <a:solidFill>
                <a:srgbClr val="C8101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ctr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000000"/>
                  </a:buClr>
                  <a:buSzPts val="1800"/>
                  <a:buFont typeface="Open Sans"/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endParaRPr>
              </a:p>
            </p:txBody>
          </p:sp>
        </p:grpSp>
      </p:grpSp>
      <p:sp xmlns:p="http://schemas.openxmlformats.org/presentationml/2006/main" xmlns:a="http://schemas.openxmlformats.org/drawingml/2006/main">
        <p:nvSpPr>
          <p:cNvPr id="87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9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下一个挑战</a:t>
            </a:r>
            <a:endParaRPr b="1" i="0" sz="3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92" name="Google Shape;92;p9"/>
          <p:cNvSpPr txBox="1"/>
          <p:nvPr/>
        </p:nvSpPr>
        <p:spPr>
          <a:xfrm>
            <a:off x="498348" y="122687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</a:pPr>
            <a:r>
              <a:rPr b="0" i="0" lang="zh-CN" sz="2800" u="none" cap="none" strike="noStrike">
                <a:solidFill>
                  <a:schemeClr val="lt2"/>
                </a:solidFill>
                <a:latin typeface="Noto Sans SC"/>
                <a:ea typeface="Noto Sans SC"/>
                <a:cs typeface="Open Sans"/>
                <a:sym typeface="Open Sans"/>
              </a:rPr>
              <a:t>自动狗门</a:t>
            </a:r>
            <a:endParaRPr b="0" i="0" sz="2400" u="none" cap="none" strike="noStrike">
              <a:solidFill>
                <a:schemeClr val="lt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descr="Tiger on a rock" id="93" name="Google Shape;93;p9"/>
          <p:cNvPicPr preferRelativeResize="0"/>
          <p:nvPr/>
        </p:nvPicPr>
        <p:blipFill rotWithShape="1">
          <a:blip r:embed="rId3">
            <a:alphaModFix/>
          </a:blip>
          <a:srcRect b="10713" l="32667" r="1323" t="22221"/>
          <a:stretch/>
        </p:blipFill>
        <p:spPr>
          <a:xfrm>
            <a:off x="6271594" y="2117035"/>
            <a:ext cx="3786532" cy="24795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og lying on green grass  Description automatically generated" id="94" name="Google Shape;94;p9"/>
          <p:cNvPicPr preferRelativeResize="0"/>
          <p:nvPr/>
        </p:nvPicPr>
        <p:blipFill rotWithShape="1">
          <a:blip r:embed="rId4">
            <a:alphaModFix/>
          </a:blip>
          <a:srcRect b="4806" l="0" r="0" t="4806"/>
          <a:stretch/>
        </p:blipFill>
        <p:spPr>
          <a:xfrm>
            <a:off x="1138858" y="2117034"/>
            <a:ext cx="3562350" cy="2479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" id="95" name="Google Shape;95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62833" y="483538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ose" id="96" name="Google Shape;96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707660" y="4835386"/>
            <a:ext cx="914400" cy="91440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97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0"/>
          <p:cNvSpPr txBox="1"/>
          <p:nvPr/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迁移学习</a:t>
            </a:r>
            <a:endParaRPr b="1" i="0" sz="36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 xmlns:p="http://schemas.openxmlformats.org/presentationml/2006/main" xmlns:a="http://schemas.openxmlformats.org/drawingml/2006/main">
        <p:nvSpPr>
          <p:cNvPr id="102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1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后续挑战</a:t>
            </a:r>
            <a:endParaRPr b="1" i="0" sz="3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07" name="Google Shape;107;p11"/>
          <p:cNvSpPr txBox="1"/>
          <p:nvPr/>
        </p:nvSpPr>
        <p:spPr>
          <a:xfrm>
            <a:off x="498348" y="122687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Open Sans"/>
              <a:buNone/>
            </a:pPr>
            <a:r>
              <a:rPr b="0" i="0" lang="zh-CN" sz="2800" u="none" cap="none" strike="noStrike">
                <a:solidFill>
                  <a:schemeClr val="lt2"/>
                </a:solidFill>
                <a:latin typeface="Noto Sans SC"/>
                <a:ea typeface="Noto Sans SC"/>
                <a:cs typeface="Open Sans"/>
                <a:sym typeface="Open Sans"/>
              </a:rPr>
              <a:t>总统的自动狗门</a:t>
            </a:r>
            <a:endParaRPr b="0" i="0" sz="2400" u="none" cap="none" strike="noStrike">
              <a:solidFill>
                <a:schemeClr val="lt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descr="A dog lying on green grass  Description automatically generated" id="108" name="Google Shape;108;p11"/>
          <p:cNvPicPr preferRelativeResize="0"/>
          <p:nvPr/>
        </p:nvPicPr>
        <p:blipFill rotWithShape="1">
          <a:blip r:embed="rId3">
            <a:alphaModFix/>
          </a:blip>
          <a:srcRect b="4806" l="0" r="0" t="4806"/>
          <a:stretch/>
        </p:blipFill>
        <p:spPr>
          <a:xfrm>
            <a:off x="6383685" y="2230903"/>
            <a:ext cx="3562350" cy="24795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heckmark" id="109" name="Google Shape;109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62833" y="483538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Close" id="110" name="Google Shape;110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707660" y="4835386"/>
            <a:ext cx="914400" cy="914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dog standing on grass  Description automatically generated" id="111" name="Google Shape;111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873045" y="1921522"/>
            <a:ext cx="2093976" cy="2788920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12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2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迁移学习</a:t>
            </a:r>
            <a:endParaRPr b="1" i="0" sz="3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descr="Scan of a human brain in a neurology clinic" id="117" name="Google Shape;117;p12"/>
          <p:cNvPicPr preferRelativeResize="0"/>
          <p:nvPr/>
        </p:nvPicPr>
        <p:blipFill rotWithShape="1">
          <a:blip r:embed="rId3">
            <a:alphaModFix/>
          </a:blip>
          <a:srcRect b="8605" l="47" r="-46" t="41553"/>
          <a:stretch/>
        </p:blipFill>
        <p:spPr>
          <a:xfrm>
            <a:off x="525780" y="1695531"/>
            <a:ext cx="9948672" cy="3718925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118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2" name="Google Shape;122;p77"/>
          <p:cNvCxnSpPr/>
          <p:nvPr/>
        </p:nvCxnSpPr>
        <p:spPr>
          <a:xfrm>
            <a:off x="5775689" y="3477143"/>
            <a:ext cx="1457772" cy="1016709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123" name="Google Shape;123;p77"/>
          <p:cNvPicPr preferRelativeResize="0"/>
          <p:nvPr/>
        </p:nvPicPr>
        <p:blipFill rotWithShape="1">
          <a:blip r:embed="rId3">
            <a:alphaModFix/>
          </a:blip>
          <a:srcRect b="22257" l="33949" r="48253" t="46563"/>
          <a:stretch/>
        </p:blipFill>
        <p:spPr>
          <a:xfrm>
            <a:off x="668449" y="1828800"/>
            <a:ext cx="1560945" cy="2637608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77"/>
          <p:cNvSpPr txBox="1"/>
          <p:nvPr/>
        </p:nvSpPr>
        <p:spPr>
          <a:xfrm>
            <a:off x="914599" y="4909795"/>
            <a:ext cx="974946" cy="48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(28, 28,1)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图像输入</a:t>
            </a:r>
            <a:endParaRPr/>
          </a:p>
        </p:txBody>
      </p:sp>
      <p:sp>
        <p:nvSpPr>
          <p:cNvPr id="125" name="Google Shape;125;p77"/>
          <p:cNvSpPr txBox="1"/>
          <p:nvPr/>
        </p:nvSpPr>
        <p:spPr>
          <a:xfrm>
            <a:off x="2212437" y="4530700"/>
            <a:ext cx="1055097" cy="48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(3, 3, 1, 2)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内核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26" name="Google Shape;126;p77"/>
          <p:cNvSpPr txBox="1"/>
          <p:nvPr/>
        </p:nvSpPr>
        <p:spPr>
          <a:xfrm>
            <a:off x="3229476" y="3883360"/>
            <a:ext cx="1029448" cy="48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(28, 28, 2)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堆叠图像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27" name="Google Shape;127;p77"/>
          <p:cNvSpPr txBox="1"/>
          <p:nvPr/>
        </p:nvSpPr>
        <p:spPr>
          <a:xfrm>
            <a:off x="4394161" y="4530699"/>
            <a:ext cx="1055097" cy="48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(3, 3, 2, 2)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内核</a:t>
            </a:r>
            <a:endParaRPr/>
          </a:p>
        </p:txBody>
      </p:sp>
      <p:sp>
        <p:nvSpPr>
          <p:cNvPr id="128" name="Google Shape;128;p77"/>
          <p:cNvSpPr txBox="1"/>
          <p:nvPr/>
        </p:nvSpPr>
        <p:spPr>
          <a:xfrm>
            <a:off x="5565801" y="3893793"/>
            <a:ext cx="1029448" cy="480131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(28, 28, 2)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堆叠图像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graphicFrame>
        <p:nvGraphicFramePr>
          <p:cNvPr id="129" name="Google Shape;129;p77"/>
          <p:cNvGraphicFramePr/>
          <p:nvPr/>
        </p:nvGraphicFramePr>
        <p:xfrm>
          <a:off x="7206671" y="15557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{061953A6-B651-4C60-A84B-6CE88619E83D}</a:tableStyleId>
              </a:tblPr>
              <a:tblGrid>
                <a:gridCol w="280325"/>
              </a:tblGrid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Noto Sans SC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dk1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Noto Sans SC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Noto Sans SC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3F3F3F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Noto Sans SC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868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Noto Sans SC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C0C0C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Noto Sans SC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6262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Noto Sans SC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868686"/>
                    </a:solidFill>
                  </a:tcPr>
                </a:tc>
              </a:tr>
              <a:tr h="3708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latin typeface="Open Sans"/>
                        <a:ea typeface="Noto Sans SC"/>
                        <a:cs typeface="Open Sans"/>
                        <a:sym typeface="Open Sans"/>
                      </a:endParaRPr>
                    </a:p>
                  </a:txBody>
                  <a:tcPr marT="45725" marB="45725" marR="91450" marL="91450">
                    <a:lnL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130" name="Google Shape;130;p77"/>
          <p:cNvSpPr txBox="1"/>
          <p:nvPr/>
        </p:nvSpPr>
        <p:spPr>
          <a:xfrm>
            <a:off x="6872440" y="4909795"/>
            <a:ext cx="902811" cy="6740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(1568)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平面图像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向量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31" name="Google Shape;131;p77"/>
          <p:cNvSpPr/>
          <p:nvPr/>
        </p:nvSpPr>
        <p:spPr>
          <a:xfrm>
            <a:off x="8071514" y="1661195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32" name="Google Shape;132;p77"/>
          <p:cNvSpPr/>
          <p:nvPr/>
        </p:nvSpPr>
        <p:spPr>
          <a:xfrm>
            <a:off x="8068810" y="4032430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33" name="Google Shape;133;p77"/>
          <p:cNvSpPr/>
          <p:nvPr/>
        </p:nvSpPr>
        <p:spPr>
          <a:xfrm>
            <a:off x="8068810" y="4257211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34" name="Google Shape;134;p77"/>
          <p:cNvSpPr/>
          <p:nvPr/>
        </p:nvSpPr>
        <p:spPr>
          <a:xfrm>
            <a:off x="8713976" y="1661195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35" name="Google Shape;135;p77"/>
          <p:cNvSpPr/>
          <p:nvPr/>
        </p:nvSpPr>
        <p:spPr>
          <a:xfrm>
            <a:off x="8711273" y="4032430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36" name="Google Shape;136;p77"/>
          <p:cNvSpPr/>
          <p:nvPr/>
        </p:nvSpPr>
        <p:spPr>
          <a:xfrm>
            <a:off x="8711273" y="4257211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37" name="Google Shape;137;p77"/>
          <p:cNvSpPr/>
          <p:nvPr/>
        </p:nvSpPr>
        <p:spPr>
          <a:xfrm>
            <a:off x="9517236" y="4532666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grpSp>
        <p:nvGrpSpPr>
          <p:cNvPr id="138" name="Google Shape;138;p77"/>
          <p:cNvGrpSpPr/>
          <p:nvPr/>
        </p:nvGrpSpPr>
        <p:grpSpPr>
          <a:xfrm>
            <a:off x="8263036" y="1754334"/>
            <a:ext cx="450940" cy="2596016"/>
            <a:chOff x="8430176" y="1754334"/>
            <a:chExt cx="283800" cy="2596016"/>
          </a:xfrm>
        </p:grpSpPr>
        <p:cxnSp>
          <p:nvCxnSpPr>
            <p:cNvPr id="139" name="Google Shape;139;p77"/>
            <p:cNvCxnSpPr>
              <a:endCxn id="134" idx="2"/>
            </p:cNvCxnSpPr>
            <p:nvPr/>
          </p:nvCxnSpPr>
          <p:spPr>
            <a:xfrm flipH="1" rot="10800000">
              <a:off x="8430176" y="1754334"/>
              <a:ext cx="283800" cy="25959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0" name="Google Shape;140;p77"/>
            <p:cNvCxnSpPr>
              <a:endCxn id="135" idx="2"/>
            </p:cNvCxnSpPr>
            <p:nvPr/>
          </p:nvCxnSpPr>
          <p:spPr>
            <a:xfrm flipH="1" rot="10800000">
              <a:off x="8431175" y="4125569"/>
              <a:ext cx="281100" cy="2247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1" name="Google Shape;141;p77"/>
            <p:cNvCxnSpPr>
              <a:endCxn id="136" idx="2"/>
            </p:cNvCxnSpPr>
            <p:nvPr/>
          </p:nvCxnSpPr>
          <p:spPr>
            <a:xfrm>
              <a:off x="8431175" y="4350350"/>
              <a:ext cx="281100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2" name="Google Shape;142;p77"/>
            <p:cNvCxnSpPr>
              <a:endCxn id="134" idx="2"/>
            </p:cNvCxnSpPr>
            <p:nvPr/>
          </p:nvCxnSpPr>
          <p:spPr>
            <a:xfrm>
              <a:off x="8432876" y="1754334"/>
              <a:ext cx="281100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3" name="Google Shape;143;p77"/>
            <p:cNvCxnSpPr>
              <a:endCxn id="135" idx="2"/>
            </p:cNvCxnSpPr>
            <p:nvPr/>
          </p:nvCxnSpPr>
          <p:spPr>
            <a:xfrm>
              <a:off x="8433875" y="1754369"/>
              <a:ext cx="278400" cy="23712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4" name="Google Shape;144;p77"/>
            <p:cNvCxnSpPr>
              <a:endCxn id="136" idx="2"/>
            </p:cNvCxnSpPr>
            <p:nvPr/>
          </p:nvCxnSpPr>
          <p:spPr>
            <a:xfrm>
              <a:off x="8433875" y="1754450"/>
              <a:ext cx="278400" cy="25959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5" name="Google Shape;145;p77"/>
            <p:cNvCxnSpPr>
              <a:endCxn id="134" idx="2"/>
            </p:cNvCxnSpPr>
            <p:nvPr/>
          </p:nvCxnSpPr>
          <p:spPr>
            <a:xfrm flipH="1" rot="10800000">
              <a:off x="8430176" y="1754334"/>
              <a:ext cx="283800" cy="23712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6" name="Google Shape;146;p77"/>
            <p:cNvCxnSpPr>
              <a:endCxn id="135" idx="2"/>
            </p:cNvCxnSpPr>
            <p:nvPr/>
          </p:nvCxnSpPr>
          <p:spPr>
            <a:xfrm>
              <a:off x="8431175" y="4125569"/>
              <a:ext cx="281100" cy="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7" name="Google Shape;147;p77"/>
            <p:cNvCxnSpPr>
              <a:endCxn id="136" idx="2"/>
            </p:cNvCxnSpPr>
            <p:nvPr/>
          </p:nvCxnSpPr>
          <p:spPr>
            <a:xfrm>
              <a:off x="8431175" y="4125650"/>
              <a:ext cx="281100" cy="2247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48" name="Google Shape;148;p77"/>
          <p:cNvSpPr/>
          <p:nvPr/>
        </p:nvSpPr>
        <p:spPr>
          <a:xfrm>
            <a:off x="9514576" y="4174453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49" name="Google Shape;149;p77"/>
          <p:cNvSpPr/>
          <p:nvPr/>
        </p:nvSpPr>
        <p:spPr>
          <a:xfrm>
            <a:off x="9517236" y="3814915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50" name="Google Shape;150;p77"/>
          <p:cNvSpPr/>
          <p:nvPr/>
        </p:nvSpPr>
        <p:spPr>
          <a:xfrm>
            <a:off x="9514576" y="3456702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51" name="Google Shape;151;p77"/>
          <p:cNvSpPr/>
          <p:nvPr/>
        </p:nvSpPr>
        <p:spPr>
          <a:xfrm>
            <a:off x="9517236" y="3082242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52" name="Google Shape;152;p77"/>
          <p:cNvSpPr/>
          <p:nvPr/>
        </p:nvSpPr>
        <p:spPr>
          <a:xfrm>
            <a:off x="9514576" y="2724029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53" name="Google Shape;153;p77"/>
          <p:cNvSpPr/>
          <p:nvPr/>
        </p:nvSpPr>
        <p:spPr>
          <a:xfrm>
            <a:off x="9522129" y="2366398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54" name="Google Shape;154;p77"/>
          <p:cNvSpPr/>
          <p:nvPr/>
        </p:nvSpPr>
        <p:spPr>
          <a:xfrm>
            <a:off x="9519469" y="2008184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55" name="Google Shape;155;p77"/>
          <p:cNvSpPr/>
          <p:nvPr/>
        </p:nvSpPr>
        <p:spPr>
          <a:xfrm>
            <a:off x="9517236" y="1650553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56" name="Google Shape;156;p77"/>
          <p:cNvSpPr/>
          <p:nvPr/>
        </p:nvSpPr>
        <p:spPr>
          <a:xfrm>
            <a:off x="9514576" y="1292340"/>
            <a:ext cx="187420" cy="186278"/>
          </a:xfrm>
          <a:prstGeom prst="ellipse">
            <a:avLst/>
          </a:prstGeom>
          <a:solidFill>
            <a:srgbClr val="E6FFBE"/>
          </a:solidFill>
          <a:ln cap="flat" cmpd="sng" w="38100">
            <a:solidFill>
              <a:srgbClr val="83BA24"/>
            </a:solidFill>
            <a:prstDash val="solid"/>
            <a:round/>
            <a:headEnd len="sm" w="sm" type="none"/>
            <a:tailEnd len="sm" w="sm" type="none"/>
          </a:ln>
          <a:effectLst>
            <a:outerShdw blurRad="39999" rotWithShape="0" dir="5400000" dist="23000">
              <a:srgbClr val="000000">
                <a:alpha val="34118"/>
              </a:srgbClr>
            </a:outerShdw>
          </a:effectLst>
        </p:spPr>
        <p:txBody>
          <a:bodyPr anchorCtr="0" anchor="ctr" bIns="19000" lIns="38075" spcFirstLastPara="1" rIns="38075" wrap="square" tIns="190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baseline="30000" i="0" sz="18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grpSp>
        <p:nvGrpSpPr>
          <p:cNvPr id="157" name="Google Shape;157;p77"/>
          <p:cNvGrpSpPr/>
          <p:nvPr/>
        </p:nvGrpSpPr>
        <p:grpSpPr>
          <a:xfrm>
            <a:off x="8898517" y="1385479"/>
            <a:ext cx="623612" cy="3240326"/>
            <a:chOff x="9127629" y="1385479"/>
            <a:chExt cx="394500" cy="3240326"/>
          </a:xfrm>
        </p:grpSpPr>
        <p:cxnSp>
          <p:nvCxnSpPr>
            <p:cNvPr id="158" name="Google Shape;158;p77"/>
            <p:cNvCxnSpPr>
              <a:endCxn id="137" idx="2"/>
            </p:cNvCxnSpPr>
            <p:nvPr/>
          </p:nvCxnSpPr>
          <p:spPr>
            <a:xfrm>
              <a:off x="9132034" y="1765905"/>
              <a:ext cx="387000" cy="28599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59" name="Google Shape;159;p77"/>
            <p:cNvCxnSpPr>
              <a:endCxn id="137" idx="2"/>
            </p:cNvCxnSpPr>
            <p:nvPr/>
          </p:nvCxnSpPr>
          <p:spPr>
            <a:xfrm>
              <a:off x="9129334" y="4137105"/>
              <a:ext cx="389700" cy="4887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0" name="Google Shape;160;p77"/>
            <p:cNvCxnSpPr>
              <a:endCxn id="137" idx="2"/>
            </p:cNvCxnSpPr>
            <p:nvPr/>
          </p:nvCxnSpPr>
          <p:spPr>
            <a:xfrm>
              <a:off x="9129334" y="4361805"/>
              <a:ext cx="389700" cy="2640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1" name="Google Shape;161;p77"/>
            <p:cNvCxnSpPr>
              <a:endCxn id="148" idx="2"/>
            </p:cNvCxnSpPr>
            <p:nvPr/>
          </p:nvCxnSpPr>
          <p:spPr>
            <a:xfrm flipH="1" rot="10800000">
              <a:off x="9130351" y="4267592"/>
              <a:ext cx="387000" cy="942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2" name="Google Shape;162;p77"/>
            <p:cNvCxnSpPr>
              <a:endCxn id="148" idx="2"/>
            </p:cNvCxnSpPr>
            <p:nvPr/>
          </p:nvCxnSpPr>
          <p:spPr>
            <a:xfrm>
              <a:off x="9130351" y="4137092"/>
              <a:ext cx="387000" cy="1305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3" name="Google Shape;163;p77"/>
            <p:cNvCxnSpPr>
              <a:endCxn id="148" idx="2"/>
            </p:cNvCxnSpPr>
            <p:nvPr/>
          </p:nvCxnSpPr>
          <p:spPr>
            <a:xfrm>
              <a:off x="9133051" y="1765892"/>
              <a:ext cx="384300" cy="25017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4" name="Google Shape;164;p77"/>
            <p:cNvCxnSpPr>
              <a:endCxn id="149" idx="2"/>
            </p:cNvCxnSpPr>
            <p:nvPr/>
          </p:nvCxnSpPr>
          <p:spPr>
            <a:xfrm flipH="1" rot="10800000">
              <a:off x="9129334" y="3908054"/>
              <a:ext cx="389700" cy="2292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5" name="Google Shape;165;p77"/>
            <p:cNvCxnSpPr>
              <a:endCxn id="149" idx="2"/>
            </p:cNvCxnSpPr>
            <p:nvPr/>
          </p:nvCxnSpPr>
          <p:spPr>
            <a:xfrm flipH="1" rot="10800000">
              <a:off x="9129334" y="3908054"/>
              <a:ext cx="389700" cy="4539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6" name="Google Shape;166;p77"/>
            <p:cNvCxnSpPr>
              <a:endCxn id="149" idx="2"/>
            </p:cNvCxnSpPr>
            <p:nvPr/>
          </p:nvCxnSpPr>
          <p:spPr>
            <a:xfrm>
              <a:off x="9132034" y="1765754"/>
              <a:ext cx="387000" cy="21423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7" name="Google Shape;167;p77"/>
            <p:cNvCxnSpPr>
              <a:endCxn id="150" idx="2"/>
            </p:cNvCxnSpPr>
            <p:nvPr/>
          </p:nvCxnSpPr>
          <p:spPr>
            <a:xfrm flipH="1" rot="10800000">
              <a:off x="9130351" y="3549841"/>
              <a:ext cx="387000" cy="8121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8" name="Google Shape;168;p77"/>
            <p:cNvCxnSpPr>
              <a:endCxn id="150" idx="2"/>
            </p:cNvCxnSpPr>
            <p:nvPr/>
          </p:nvCxnSpPr>
          <p:spPr>
            <a:xfrm flipH="1" rot="10800000">
              <a:off x="9130351" y="3549841"/>
              <a:ext cx="387000" cy="5874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69" name="Google Shape;169;p77"/>
            <p:cNvCxnSpPr>
              <a:endCxn id="150" idx="2"/>
            </p:cNvCxnSpPr>
            <p:nvPr/>
          </p:nvCxnSpPr>
          <p:spPr>
            <a:xfrm>
              <a:off x="9133051" y="1765741"/>
              <a:ext cx="384300" cy="17841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0" name="Google Shape;170;p77"/>
            <p:cNvCxnSpPr>
              <a:endCxn id="151" idx="2"/>
            </p:cNvCxnSpPr>
            <p:nvPr/>
          </p:nvCxnSpPr>
          <p:spPr>
            <a:xfrm flipH="1" rot="10800000">
              <a:off x="9129334" y="3175381"/>
              <a:ext cx="389700" cy="11865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1" name="Google Shape;171;p77"/>
            <p:cNvCxnSpPr>
              <a:endCxn id="151" idx="2"/>
            </p:cNvCxnSpPr>
            <p:nvPr/>
          </p:nvCxnSpPr>
          <p:spPr>
            <a:xfrm flipH="1" rot="10800000">
              <a:off x="9129334" y="3175381"/>
              <a:ext cx="389700" cy="9618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2" name="Google Shape;172;p77"/>
            <p:cNvCxnSpPr>
              <a:endCxn id="151" idx="2"/>
            </p:cNvCxnSpPr>
            <p:nvPr/>
          </p:nvCxnSpPr>
          <p:spPr>
            <a:xfrm>
              <a:off x="9132034" y="1765981"/>
              <a:ext cx="387000" cy="14094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3" name="Google Shape;173;p77"/>
            <p:cNvCxnSpPr>
              <a:endCxn id="152" idx="2"/>
            </p:cNvCxnSpPr>
            <p:nvPr/>
          </p:nvCxnSpPr>
          <p:spPr>
            <a:xfrm flipH="1" rot="10800000">
              <a:off x="9130351" y="2817168"/>
              <a:ext cx="387000" cy="13200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4" name="Google Shape;174;p77"/>
            <p:cNvCxnSpPr>
              <a:endCxn id="152" idx="2"/>
            </p:cNvCxnSpPr>
            <p:nvPr/>
          </p:nvCxnSpPr>
          <p:spPr>
            <a:xfrm flipH="1" rot="10800000">
              <a:off x="9130351" y="2817168"/>
              <a:ext cx="387000" cy="15447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5" name="Google Shape;175;p77"/>
            <p:cNvCxnSpPr>
              <a:endCxn id="152" idx="2"/>
            </p:cNvCxnSpPr>
            <p:nvPr/>
          </p:nvCxnSpPr>
          <p:spPr>
            <a:xfrm>
              <a:off x="9133051" y="1765968"/>
              <a:ext cx="384300" cy="10512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6" name="Google Shape;176;p77"/>
            <p:cNvCxnSpPr>
              <a:endCxn id="153" idx="2"/>
            </p:cNvCxnSpPr>
            <p:nvPr/>
          </p:nvCxnSpPr>
          <p:spPr>
            <a:xfrm flipH="1" rot="10800000">
              <a:off x="9127629" y="2459537"/>
              <a:ext cx="394500" cy="19023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7" name="Google Shape;177;p77"/>
            <p:cNvCxnSpPr>
              <a:endCxn id="153" idx="2"/>
            </p:cNvCxnSpPr>
            <p:nvPr/>
          </p:nvCxnSpPr>
          <p:spPr>
            <a:xfrm flipH="1" rot="10800000">
              <a:off x="9127629" y="2459537"/>
              <a:ext cx="394500" cy="16776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8" name="Google Shape;178;p77"/>
            <p:cNvCxnSpPr>
              <a:endCxn id="153" idx="2"/>
            </p:cNvCxnSpPr>
            <p:nvPr/>
          </p:nvCxnSpPr>
          <p:spPr>
            <a:xfrm>
              <a:off x="9130329" y="1765937"/>
              <a:ext cx="391800" cy="6936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9" name="Google Shape;179;p77"/>
            <p:cNvCxnSpPr>
              <a:endCxn id="154" idx="2"/>
            </p:cNvCxnSpPr>
            <p:nvPr/>
          </p:nvCxnSpPr>
          <p:spPr>
            <a:xfrm flipH="1" rot="10800000">
              <a:off x="9128646" y="2101323"/>
              <a:ext cx="391800" cy="22605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0" name="Google Shape;180;p77"/>
            <p:cNvCxnSpPr>
              <a:endCxn id="154" idx="2"/>
            </p:cNvCxnSpPr>
            <p:nvPr/>
          </p:nvCxnSpPr>
          <p:spPr>
            <a:xfrm flipH="1" rot="10800000">
              <a:off x="9128646" y="2101323"/>
              <a:ext cx="391800" cy="20358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1" name="Google Shape;181;p77"/>
            <p:cNvCxnSpPr>
              <a:endCxn id="154" idx="2"/>
            </p:cNvCxnSpPr>
            <p:nvPr/>
          </p:nvCxnSpPr>
          <p:spPr>
            <a:xfrm>
              <a:off x="9131346" y="1765923"/>
              <a:ext cx="389100" cy="3354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2" name="Google Shape;182;p77"/>
            <p:cNvCxnSpPr>
              <a:endCxn id="155" idx="2"/>
            </p:cNvCxnSpPr>
            <p:nvPr/>
          </p:nvCxnSpPr>
          <p:spPr>
            <a:xfrm flipH="1" rot="10800000">
              <a:off x="9129334" y="1743692"/>
              <a:ext cx="389700" cy="26181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3" name="Google Shape;183;p77"/>
            <p:cNvCxnSpPr>
              <a:endCxn id="155" idx="2"/>
            </p:cNvCxnSpPr>
            <p:nvPr/>
          </p:nvCxnSpPr>
          <p:spPr>
            <a:xfrm flipH="1" rot="10800000">
              <a:off x="9129334" y="1743692"/>
              <a:ext cx="389700" cy="23934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4" name="Google Shape;184;p77"/>
            <p:cNvCxnSpPr>
              <a:endCxn id="155" idx="2"/>
            </p:cNvCxnSpPr>
            <p:nvPr/>
          </p:nvCxnSpPr>
          <p:spPr>
            <a:xfrm flipH="1" rot="10800000">
              <a:off x="9132034" y="1743692"/>
              <a:ext cx="387000" cy="222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5" name="Google Shape;185;p77"/>
            <p:cNvCxnSpPr>
              <a:endCxn id="156" idx="2"/>
            </p:cNvCxnSpPr>
            <p:nvPr/>
          </p:nvCxnSpPr>
          <p:spPr>
            <a:xfrm flipH="1" rot="10800000">
              <a:off x="9130351" y="1385479"/>
              <a:ext cx="387000" cy="29763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6" name="Google Shape;186;p77"/>
            <p:cNvCxnSpPr>
              <a:endCxn id="156" idx="2"/>
            </p:cNvCxnSpPr>
            <p:nvPr/>
          </p:nvCxnSpPr>
          <p:spPr>
            <a:xfrm flipH="1" rot="10800000">
              <a:off x="9130351" y="1385479"/>
              <a:ext cx="387000" cy="27516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87" name="Google Shape;187;p77"/>
            <p:cNvCxnSpPr>
              <a:endCxn id="156" idx="2"/>
            </p:cNvCxnSpPr>
            <p:nvPr/>
          </p:nvCxnSpPr>
          <p:spPr>
            <a:xfrm flipH="1" rot="10800000">
              <a:off x="9133051" y="1385479"/>
              <a:ext cx="384300" cy="380400"/>
            </a:xfrm>
            <a:prstGeom prst="straightConnector1">
              <a:avLst/>
            </a:prstGeom>
            <a:noFill/>
            <a:ln cap="flat" cmpd="sng" w="28575">
              <a:solidFill>
                <a:srgbClr val="7F7F7F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cxnSp>
        <p:nvCxnSpPr>
          <p:cNvPr id="188" name="Google Shape;188;p77"/>
          <p:cNvCxnSpPr>
            <a:endCxn id="133" idx="2"/>
          </p:cNvCxnSpPr>
          <p:nvPr/>
        </p:nvCxnSpPr>
        <p:spPr>
          <a:xfrm>
            <a:off x="7593610" y="3256850"/>
            <a:ext cx="475200" cy="109350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89" name="Google Shape;189;p77"/>
          <p:cNvCxnSpPr>
            <a:endCxn id="132" idx="2"/>
          </p:cNvCxnSpPr>
          <p:nvPr/>
        </p:nvCxnSpPr>
        <p:spPr>
          <a:xfrm>
            <a:off x="7593610" y="3257069"/>
            <a:ext cx="475200" cy="86850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0" name="Google Shape;190;p77"/>
          <p:cNvCxnSpPr>
            <a:endCxn id="131" idx="2"/>
          </p:cNvCxnSpPr>
          <p:nvPr/>
        </p:nvCxnSpPr>
        <p:spPr>
          <a:xfrm flipH="1" rot="10800000">
            <a:off x="7593614" y="1754334"/>
            <a:ext cx="477900" cy="150270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1" name="Google Shape;191;p77"/>
          <p:cNvSpPr txBox="1"/>
          <p:nvPr/>
        </p:nvSpPr>
        <p:spPr>
          <a:xfrm rot="-5400000">
            <a:off x="7685622" y="2741436"/>
            <a:ext cx="2195042" cy="397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None/>
            </a:pPr>
            <a:r>
              <a:rPr b="0" i="0" lang="zh-CN" sz="22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…                 …</a:t>
            </a:r>
            <a:endParaRPr b="0" i="0" sz="22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192" name="Google Shape;192;p77"/>
          <p:cNvSpPr txBox="1"/>
          <p:nvPr/>
        </p:nvSpPr>
        <p:spPr>
          <a:xfrm rot="-5400000">
            <a:off x="7026531" y="2741436"/>
            <a:ext cx="2195042" cy="397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Open Sans"/>
              <a:buNone/>
            </a:pPr>
            <a:r>
              <a:rPr b="0" i="0" lang="zh-CN" sz="22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…                 …</a:t>
            </a:r>
            <a:endParaRPr b="0" i="0" sz="22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cxnSp>
        <p:nvCxnSpPr>
          <p:cNvPr id="193" name="Google Shape;193;p77"/>
          <p:cNvCxnSpPr>
            <a:endCxn id="133" idx="2"/>
          </p:cNvCxnSpPr>
          <p:nvPr/>
        </p:nvCxnSpPr>
        <p:spPr>
          <a:xfrm>
            <a:off x="7598410" y="3075650"/>
            <a:ext cx="470400" cy="127470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4" name="Google Shape;194;p77"/>
          <p:cNvCxnSpPr>
            <a:endCxn id="132" idx="2"/>
          </p:cNvCxnSpPr>
          <p:nvPr/>
        </p:nvCxnSpPr>
        <p:spPr>
          <a:xfrm>
            <a:off x="7598410" y="3070769"/>
            <a:ext cx="470400" cy="105480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5" name="Google Shape;195;p77"/>
          <p:cNvCxnSpPr>
            <a:endCxn id="131" idx="2"/>
          </p:cNvCxnSpPr>
          <p:nvPr/>
        </p:nvCxnSpPr>
        <p:spPr>
          <a:xfrm flipH="1" rot="10800000">
            <a:off x="7598414" y="1754334"/>
            <a:ext cx="473100" cy="132150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6" name="Google Shape;196;p77"/>
          <p:cNvCxnSpPr>
            <a:endCxn id="133" idx="2"/>
          </p:cNvCxnSpPr>
          <p:nvPr/>
        </p:nvCxnSpPr>
        <p:spPr>
          <a:xfrm>
            <a:off x="7598410" y="2637050"/>
            <a:ext cx="470400" cy="171330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7" name="Google Shape;197;p77"/>
          <p:cNvCxnSpPr>
            <a:endCxn id="132" idx="2"/>
          </p:cNvCxnSpPr>
          <p:nvPr/>
        </p:nvCxnSpPr>
        <p:spPr>
          <a:xfrm>
            <a:off x="7598410" y="2636969"/>
            <a:ext cx="470400" cy="148860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98" name="Google Shape;198;p77"/>
          <p:cNvCxnSpPr>
            <a:endCxn id="131" idx="2"/>
          </p:cNvCxnSpPr>
          <p:nvPr/>
        </p:nvCxnSpPr>
        <p:spPr>
          <a:xfrm flipH="1" rot="10800000">
            <a:off x="7598414" y="1754334"/>
            <a:ext cx="473100" cy="882900"/>
          </a:xfrm>
          <a:prstGeom prst="straightConnector1">
            <a:avLst/>
          </a:prstGeom>
          <a:noFill/>
          <a:ln cap="flat" cmpd="sng" w="28575">
            <a:solidFill>
              <a:srgbClr val="7F7F7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99" name="Google Shape;199;p77"/>
          <p:cNvSpPr txBox="1"/>
          <p:nvPr/>
        </p:nvSpPr>
        <p:spPr>
          <a:xfrm>
            <a:off x="9164433" y="5024189"/>
            <a:ext cx="902811" cy="48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(10)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输出预测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200" name="Google Shape;200;p77"/>
          <p:cNvSpPr txBox="1"/>
          <p:nvPr/>
        </p:nvSpPr>
        <p:spPr>
          <a:xfrm>
            <a:off x="7813006" y="4477547"/>
            <a:ext cx="599843" cy="48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(512)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密集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201" name="Google Shape;201;p77"/>
          <p:cNvSpPr txBox="1"/>
          <p:nvPr/>
        </p:nvSpPr>
        <p:spPr>
          <a:xfrm>
            <a:off x="8526691" y="4484879"/>
            <a:ext cx="599843" cy="4801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(512)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0" i="0" lang="zh-CN" sz="14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密集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202" name="Google Shape;202;p77"/>
          <p:cNvSpPr/>
          <p:nvPr/>
        </p:nvSpPr>
        <p:spPr>
          <a:xfrm>
            <a:off x="955305" y="2405526"/>
            <a:ext cx="406279" cy="291141"/>
          </a:xfrm>
          <a:prstGeom prst="rect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cxnSp>
        <p:nvCxnSpPr>
          <p:cNvPr id="203" name="Google Shape;203;p77"/>
          <p:cNvCxnSpPr/>
          <p:nvPr/>
        </p:nvCxnSpPr>
        <p:spPr>
          <a:xfrm flipH="1" rot="10800000">
            <a:off x="1158444" y="2195709"/>
            <a:ext cx="1624282" cy="345416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4" name="Google Shape;204;p77"/>
          <p:cNvPicPr preferRelativeResize="0"/>
          <p:nvPr/>
        </p:nvPicPr>
        <p:blipFill rotWithShape="1">
          <a:blip r:embed="rId4">
            <a:alphaModFix/>
          </a:blip>
          <a:srcRect b="39913" l="48018" r="44192" t="46330"/>
          <a:stretch/>
        </p:blipFill>
        <p:spPr>
          <a:xfrm>
            <a:off x="2317031" y="1759554"/>
            <a:ext cx="854829" cy="849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5" name="Google Shape;205;p77"/>
          <p:cNvCxnSpPr/>
          <p:nvPr/>
        </p:nvCxnSpPr>
        <p:spPr>
          <a:xfrm>
            <a:off x="1168869" y="2544940"/>
            <a:ext cx="1592966" cy="679040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6" name="Google Shape;206;p77"/>
          <p:cNvPicPr preferRelativeResize="0"/>
          <p:nvPr/>
        </p:nvPicPr>
        <p:blipFill rotWithShape="1">
          <a:blip r:embed="rId4">
            <a:alphaModFix/>
          </a:blip>
          <a:srcRect b="39877" l="33839" r="58553" t="46366"/>
          <a:stretch/>
        </p:blipFill>
        <p:spPr>
          <a:xfrm>
            <a:off x="2365340" y="2741830"/>
            <a:ext cx="834773" cy="84916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07" name="Google Shape;207;p77"/>
          <p:cNvCxnSpPr/>
          <p:nvPr/>
        </p:nvCxnSpPr>
        <p:spPr>
          <a:xfrm>
            <a:off x="2761680" y="2185277"/>
            <a:ext cx="1118146" cy="414419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08" name="Google Shape;208;p77"/>
          <p:cNvPicPr preferRelativeResize="0"/>
          <p:nvPr/>
        </p:nvPicPr>
        <p:blipFill rotWithShape="1">
          <a:blip r:embed="rId5">
            <a:alphaModFix/>
          </a:blip>
          <a:srcRect b="47010" l="34328" r="58064" t="39232"/>
          <a:stretch/>
        </p:blipFill>
        <p:spPr>
          <a:xfrm>
            <a:off x="3046768" y="1802120"/>
            <a:ext cx="1359853" cy="1383290"/>
          </a:xfrm>
          <a:prstGeom prst="rect">
            <a:avLst/>
          </a:prstGeom>
          <a:noFill/>
          <a:ln>
            <a:noFill/>
          </a:ln>
        </p:spPr>
      </p:pic>
      <p:sp>
        <p:nvSpPr>
          <p:cNvPr id="209" name="Google Shape;209;p77"/>
          <p:cNvSpPr/>
          <p:nvPr/>
        </p:nvSpPr>
        <p:spPr>
          <a:xfrm>
            <a:off x="3283856" y="2161562"/>
            <a:ext cx="406279" cy="291141"/>
          </a:xfrm>
          <a:prstGeom prst="rect">
            <a:avLst/>
          </a:prstGeom>
          <a:noFill/>
          <a:ln cap="flat" cmpd="sng" w="2540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cxnSp>
        <p:nvCxnSpPr>
          <p:cNvPr id="210" name="Google Shape;210;p77"/>
          <p:cNvCxnSpPr/>
          <p:nvPr/>
        </p:nvCxnSpPr>
        <p:spPr>
          <a:xfrm flipH="1" rot="10800000">
            <a:off x="2790693" y="2957417"/>
            <a:ext cx="630266" cy="208747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211" name="Google Shape;211;p77"/>
          <p:cNvGrpSpPr/>
          <p:nvPr/>
        </p:nvGrpSpPr>
        <p:grpSpPr>
          <a:xfrm>
            <a:off x="3213348" y="2102991"/>
            <a:ext cx="1359853" cy="1379666"/>
            <a:chOff x="3213348" y="2102991"/>
            <a:chExt cx="1359853" cy="1379666"/>
          </a:xfrm>
        </p:grpSpPr>
        <p:pic>
          <p:nvPicPr>
            <p:cNvPr id="212" name="Google Shape;212;p77"/>
            <p:cNvPicPr preferRelativeResize="0"/>
            <p:nvPr/>
          </p:nvPicPr>
          <p:blipFill rotWithShape="1">
            <a:blip r:embed="rId5">
              <a:alphaModFix/>
            </a:blip>
            <a:srcRect b="47044" l="48611" r="43867" t="39389"/>
            <a:stretch/>
          </p:blipFill>
          <p:spPr>
            <a:xfrm>
              <a:off x="3213348" y="2102991"/>
              <a:ext cx="1359853" cy="1379666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3" name="Google Shape;213;p77"/>
            <p:cNvSpPr/>
            <p:nvPr/>
          </p:nvSpPr>
          <p:spPr>
            <a:xfrm>
              <a:off x="3473547" y="2448480"/>
              <a:ext cx="406279" cy="291141"/>
            </a:xfrm>
            <a:prstGeom prst="rect">
              <a:avLst/>
            </a:prstGeom>
            <a:noFill/>
            <a:ln cap="flat" cmpd="sng" w="254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Open Sans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</p:grpSp>
      <p:cxnSp>
        <p:nvCxnSpPr>
          <p:cNvPr id="214" name="Google Shape;214;p77"/>
          <p:cNvCxnSpPr/>
          <p:nvPr/>
        </p:nvCxnSpPr>
        <p:spPr>
          <a:xfrm flipH="1" rot="10800000">
            <a:off x="3475551" y="1981220"/>
            <a:ext cx="1521361" cy="337124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5" name="Google Shape;215;p77"/>
          <p:cNvPicPr preferRelativeResize="0"/>
          <p:nvPr/>
        </p:nvPicPr>
        <p:blipFill rotWithShape="1">
          <a:blip r:embed="rId6">
            <a:alphaModFix/>
          </a:blip>
          <a:srcRect b="37066" l="33839" r="58501" t="48989"/>
          <a:stretch/>
        </p:blipFill>
        <p:spPr>
          <a:xfrm>
            <a:off x="4540757" y="1598277"/>
            <a:ext cx="840407" cy="8606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6" name="Google Shape;216;p77"/>
          <p:cNvCxnSpPr/>
          <p:nvPr/>
        </p:nvCxnSpPr>
        <p:spPr>
          <a:xfrm>
            <a:off x="3481451" y="2307132"/>
            <a:ext cx="1515461" cy="693267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7" name="Google Shape;217;p77"/>
          <p:cNvPicPr preferRelativeResize="0"/>
          <p:nvPr/>
        </p:nvPicPr>
        <p:blipFill rotWithShape="1">
          <a:blip r:embed="rId6">
            <a:alphaModFix/>
          </a:blip>
          <a:srcRect b="20771" l="48095" r="44259" t="65776"/>
          <a:stretch/>
        </p:blipFill>
        <p:spPr>
          <a:xfrm>
            <a:off x="4520125" y="2673276"/>
            <a:ext cx="838907" cy="830314"/>
          </a:xfrm>
          <a:prstGeom prst="rect">
            <a:avLst/>
          </a:prstGeom>
          <a:noFill/>
          <a:ln cap="flat" cmpd="sng" w="9525">
            <a:solidFill>
              <a:srgbClr val="B3B3B3">
                <a:alpha val="56078"/>
              </a:srgbClr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18" name="Google Shape;218;p77"/>
          <p:cNvCxnSpPr/>
          <p:nvPr/>
        </p:nvCxnSpPr>
        <p:spPr>
          <a:xfrm>
            <a:off x="3690135" y="2600295"/>
            <a:ext cx="1307232" cy="575086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19" name="Google Shape;219;p77"/>
          <p:cNvPicPr preferRelativeResize="0"/>
          <p:nvPr/>
        </p:nvPicPr>
        <p:blipFill rotWithShape="1">
          <a:blip r:embed="rId6">
            <a:alphaModFix/>
          </a:blip>
          <a:srcRect b="20664" l="48103" r="44252" t="65700"/>
          <a:stretch/>
        </p:blipFill>
        <p:spPr>
          <a:xfrm>
            <a:off x="4602059" y="2745336"/>
            <a:ext cx="838907" cy="84165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0" name="Google Shape;220;p77"/>
          <p:cNvCxnSpPr/>
          <p:nvPr/>
        </p:nvCxnSpPr>
        <p:spPr>
          <a:xfrm flipH="1" rot="10800000">
            <a:off x="3676686" y="2116039"/>
            <a:ext cx="1387071" cy="484444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1" name="Google Shape;221;p77"/>
          <p:cNvPicPr preferRelativeResize="0"/>
          <p:nvPr/>
        </p:nvPicPr>
        <p:blipFill rotWithShape="1">
          <a:blip r:embed="rId6">
            <a:alphaModFix/>
          </a:blip>
          <a:srcRect b="37094" l="48024" r="44231" t="49170"/>
          <a:stretch/>
        </p:blipFill>
        <p:spPr>
          <a:xfrm>
            <a:off x="4627584" y="1686960"/>
            <a:ext cx="860278" cy="858158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2" name="Google Shape;222;p77"/>
          <p:cNvCxnSpPr/>
          <p:nvPr/>
        </p:nvCxnSpPr>
        <p:spPr>
          <a:xfrm>
            <a:off x="5076035" y="2124250"/>
            <a:ext cx="1118146" cy="414419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3" name="Google Shape;223;p77"/>
          <p:cNvPicPr preferRelativeResize="0"/>
          <p:nvPr/>
        </p:nvPicPr>
        <p:blipFill rotWithShape="1">
          <a:blip r:embed="rId5">
            <a:alphaModFix/>
          </a:blip>
          <a:srcRect b="30443" l="34394" r="58015" t="55920"/>
          <a:stretch/>
        </p:blipFill>
        <p:spPr>
          <a:xfrm>
            <a:off x="5398847" y="1753841"/>
            <a:ext cx="1365407" cy="137966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4" name="Google Shape;224;p77"/>
          <p:cNvCxnSpPr/>
          <p:nvPr/>
        </p:nvCxnSpPr>
        <p:spPr>
          <a:xfrm flipH="1" rot="10800000">
            <a:off x="5038357" y="2939950"/>
            <a:ext cx="793147" cy="235432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id="225" name="Google Shape;225;p77"/>
          <p:cNvPicPr preferRelativeResize="0"/>
          <p:nvPr/>
        </p:nvPicPr>
        <p:blipFill rotWithShape="1">
          <a:blip r:embed="rId5">
            <a:alphaModFix/>
          </a:blip>
          <a:srcRect b="30529" l="48680" r="43764" t="55835"/>
          <a:stretch/>
        </p:blipFill>
        <p:spPr>
          <a:xfrm>
            <a:off x="5554252" y="1991815"/>
            <a:ext cx="1342828" cy="136337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26" name="Google Shape;226;p77"/>
          <p:cNvCxnSpPr/>
          <p:nvPr/>
        </p:nvCxnSpPr>
        <p:spPr>
          <a:xfrm flipH="1" rot="10800000">
            <a:off x="6575885" y="1575682"/>
            <a:ext cx="630784" cy="40278"/>
          </a:xfrm>
          <a:prstGeom prst="straightConnector1">
            <a:avLst/>
          </a:prstGeom>
          <a:noFill/>
          <a:ln cap="flat" cmpd="sng" w="28575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27" name="Google Shape;227;p77"/>
          <p:cNvCxnSpPr/>
          <p:nvPr/>
        </p:nvCxnSpPr>
        <p:spPr>
          <a:xfrm>
            <a:off x="6964311" y="1230382"/>
            <a:ext cx="0" cy="3617455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dash"/>
            <a:round/>
            <a:headEnd len="sm" w="sm" type="none"/>
            <a:tailEnd len="sm" w="sm" type="none"/>
          </a:ln>
        </p:spPr>
      </p:cxnSp>
      <p:sp>
        <p:nvSpPr>
          <p:cNvPr id="228" name="Google Shape;228;p77"/>
          <p:cNvSpPr/>
          <p:nvPr/>
        </p:nvSpPr>
        <p:spPr>
          <a:xfrm>
            <a:off x="7029265" y="1207189"/>
            <a:ext cx="2979439" cy="4706593"/>
          </a:xfrm>
          <a:prstGeom prst="rect">
            <a:avLst/>
          </a:prstGeom>
          <a:solidFill>
            <a:schemeClr val="lt1">
              <a:alpha val="8196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descr="Scissors" id="229" name="Google Shape;229;p7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 flipH="1" rot="10800000">
            <a:off x="6942207" y="3681535"/>
            <a:ext cx="1531715" cy="1531715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Restored Title 1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</p:spPr>
        <p:txBody>
          <a:bodyPr wrap="none" lIns="0" rIns="0" tIns="0" bIns="0" anchor="ctr">
            <a:spAutoFit/>
          </a:bodyPr>
          <a:lstStyle/>
          <a:p>
            <a:pPr algn="ctr"/>
            <a:r>
              <a:rPr sz="3600" b="1">
                <a:solidFill>
                  <a:srgbClr val="000000"/>
                </a:solidFill>
                <a:latin typeface="Noto Sans SC"/>
              </a:rPr>
              <a:t>迁移学习</a:t>
            </a:r>
          </a:p>
        </p:txBody>
      </p:sp>
      <p:sp xmlns:p="http://schemas.openxmlformats.org/presentationml/2006/main" xmlns:a="http://schemas.openxmlformats.org/drawingml/2006/main">
        <p:nvSpPr>
          <p:cNvPr id="230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14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迁移学习</a:t>
            </a:r>
            <a:endParaRPr b="1" i="0" sz="3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grpSp>
        <p:nvGrpSpPr>
          <p:cNvPr id="235" name="Google Shape;235;p14"/>
          <p:cNvGrpSpPr/>
          <p:nvPr/>
        </p:nvGrpSpPr>
        <p:grpSpPr>
          <a:xfrm>
            <a:off x="867266" y="1252158"/>
            <a:ext cx="9238268" cy="3112374"/>
            <a:chOff x="1055802" y="1593130"/>
            <a:chExt cx="9238268" cy="3761295"/>
          </a:xfrm>
        </p:grpSpPr>
        <p:sp>
          <p:nvSpPr>
            <p:cNvPr id="236" name="Google Shape;236;p14"/>
            <p:cNvSpPr/>
            <p:nvPr/>
          </p:nvSpPr>
          <p:spPr>
            <a:xfrm>
              <a:off x="1055802" y="1593130"/>
              <a:ext cx="9238268" cy="3761295"/>
            </a:xfrm>
            <a:prstGeom prst="rect">
              <a:avLst/>
            </a:prstGeom>
            <a:gradFill>
              <a:gsLst>
                <a:gs pos="0">
                  <a:srgbClr val="DDDDDD"/>
                </a:gs>
                <a:gs pos="35000">
                  <a:srgbClr val="E6E6E6"/>
                </a:gs>
                <a:gs pos="100000">
                  <a:srgbClr val="F5F5F5"/>
                </a:gs>
              </a:gsLst>
              <a:lin ang="16200000" scaled="0"/>
            </a:gradFill>
            <a:ln cap="flat" cmpd="sng" w="9525">
              <a:solidFill>
                <a:srgbClr val="AEAEAE"/>
              </a:solidFill>
              <a:prstDash val="solid"/>
              <a:round/>
              <a:headEnd len="sm" w="sm" type="none"/>
              <a:tailEnd len="sm" w="sm" type="none"/>
            </a:ln>
            <a:effectLst>
              <a:outerShdw blurRad="40000" rotWithShape="0" dir="5400000" dist="20000">
                <a:srgbClr val="000000">
                  <a:alpha val="37647"/>
                </a:srgbClr>
              </a:outerShdw>
            </a:effectLst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37" name="Google Shape;237;p14"/>
            <p:cNvSpPr/>
            <p:nvPr/>
          </p:nvSpPr>
          <p:spPr>
            <a:xfrm rot="-5400000">
              <a:off x="1207670" y="3145086"/>
              <a:ext cx="2528873" cy="590931"/>
            </a:xfrm>
            <a:prstGeom prst="rect">
              <a:avLst/>
            </a:prstGeom>
            <a:solidFill>
              <a:srgbClr val="43A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卷积</a:t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38" name="Google Shape;238;p14"/>
            <p:cNvSpPr/>
            <p:nvPr/>
          </p:nvSpPr>
          <p:spPr>
            <a:xfrm rot="-5400000">
              <a:off x="683448" y="3145086"/>
              <a:ext cx="1989647" cy="590931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输入</a:t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39" name="Google Shape;239;p14"/>
            <p:cNvSpPr/>
            <p:nvPr/>
          </p:nvSpPr>
          <p:spPr>
            <a:xfrm rot="-5400000">
              <a:off x="2795341" y="3145086"/>
              <a:ext cx="2528871" cy="590931"/>
            </a:xfrm>
            <a:prstGeom prst="rect">
              <a:avLst/>
            </a:prstGeom>
            <a:solidFill>
              <a:srgbClr val="43A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卷积</a:t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40" name="Google Shape;240;p14"/>
            <p:cNvSpPr/>
            <p:nvPr/>
          </p:nvSpPr>
          <p:spPr>
            <a:xfrm rot="-5400000">
              <a:off x="5176846" y="3145086"/>
              <a:ext cx="2528871" cy="590931"/>
            </a:xfrm>
            <a:prstGeom prst="rect">
              <a:avLst/>
            </a:prstGeom>
            <a:solidFill>
              <a:srgbClr val="43ADFF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卷积</a:t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41" name="Google Shape;241;p14"/>
            <p:cNvSpPr/>
            <p:nvPr/>
          </p:nvSpPr>
          <p:spPr>
            <a:xfrm rot="-5400000">
              <a:off x="7120122" y="3145086"/>
              <a:ext cx="1817660" cy="590931"/>
            </a:xfrm>
            <a:prstGeom prst="rect">
              <a:avLst/>
            </a:prstGeom>
            <a:solidFill>
              <a:srgbClr val="3372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密集</a:t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42" name="Google Shape;242;p14"/>
            <p:cNvSpPr/>
            <p:nvPr/>
          </p:nvSpPr>
          <p:spPr>
            <a:xfrm rot="-5400000">
              <a:off x="8831501" y="3145086"/>
              <a:ext cx="1570240" cy="590931"/>
            </a:xfrm>
            <a:prstGeom prst="rect">
              <a:avLst/>
            </a:prstGeom>
            <a:solidFill>
              <a:srgbClr val="7030A0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输出</a:t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43" name="Google Shape;243;p14"/>
            <p:cNvSpPr/>
            <p:nvPr/>
          </p:nvSpPr>
          <p:spPr>
            <a:xfrm rot="-5400000">
              <a:off x="8163385" y="3145086"/>
              <a:ext cx="1318804" cy="590931"/>
            </a:xfrm>
            <a:prstGeom prst="rect">
              <a:avLst/>
            </a:prstGeom>
            <a:solidFill>
              <a:srgbClr val="3372EC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密集</a:t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44" name="Google Shape;244;p14"/>
            <p:cNvSpPr/>
            <p:nvPr/>
          </p:nvSpPr>
          <p:spPr>
            <a:xfrm rot="-5400000">
              <a:off x="2001506" y="3145086"/>
              <a:ext cx="2528871" cy="590931"/>
            </a:xfrm>
            <a:prstGeom prst="rect">
              <a:avLst/>
            </a:prstGeom>
            <a:solidFill>
              <a:srgbClr val="D0591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最大池化</a:t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45" name="Google Shape;245;p14"/>
            <p:cNvSpPr/>
            <p:nvPr/>
          </p:nvSpPr>
          <p:spPr>
            <a:xfrm rot="-5400000">
              <a:off x="3589176" y="3145086"/>
              <a:ext cx="2528871" cy="590931"/>
            </a:xfrm>
            <a:prstGeom prst="rect">
              <a:avLst/>
            </a:prstGeom>
            <a:solidFill>
              <a:srgbClr val="969696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Open Sans"/>
                  <a:ea typeface="Noto Sans SC"/>
                  <a:cs typeface="Open Sans"/>
                  <a:sym typeface="Open Sans"/>
                </a:rPr>
                <a:t>Dropout</a:t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46" name="Google Shape;246;p14"/>
            <p:cNvSpPr/>
            <p:nvPr/>
          </p:nvSpPr>
          <p:spPr>
            <a:xfrm rot="-5400000">
              <a:off x="4383011" y="3145086"/>
              <a:ext cx="2528871" cy="590931"/>
            </a:xfrm>
            <a:prstGeom prst="rect">
              <a:avLst/>
            </a:prstGeom>
            <a:solidFill>
              <a:srgbClr val="D0591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最大池化</a:t>
              </a:r>
              <a:endParaRPr b="0" i="0" sz="1800" u="none" cap="none" strike="noStrike">
                <a:solidFill>
                  <a:schemeClr val="lt1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sp>
          <p:nvSpPr>
            <p:cNvPr id="247" name="Google Shape;247;p14"/>
            <p:cNvSpPr/>
            <p:nvPr/>
          </p:nvSpPr>
          <p:spPr>
            <a:xfrm rot="-5400000">
              <a:off x="5970681" y="3145086"/>
              <a:ext cx="2528871" cy="590931"/>
            </a:xfrm>
            <a:prstGeom prst="rect">
              <a:avLst/>
            </a:prstGeom>
            <a:solidFill>
              <a:srgbClr val="D0591E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Open Sans"/>
                <a:buNone/>
              </a:pPr>
              <a:r>
                <a:rPr b="0" i="0" lang="zh-CN" sz="1800" u="none" cap="none" strike="noStrike">
                  <a:solidFill>
                    <a:schemeClr val="lt1"/>
                  </a:solidFill>
                  <a:latin typeface="Noto Sans SC"/>
                  <a:ea typeface="Noto Sans SC"/>
                  <a:cs typeface="Open Sans"/>
                  <a:sym typeface="Open Sans"/>
                </a:rPr>
                <a:t>最大池化</a:t>
              </a:r>
              <a:endParaRPr b="0" i="0" sz="14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endParaRPr>
            </a:p>
          </p:txBody>
        </p:sp>
        <p:cxnSp>
          <p:nvCxnSpPr>
            <p:cNvPr id="248" name="Google Shape;248;p14"/>
            <p:cNvCxnSpPr/>
            <p:nvPr/>
          </p:nvCxnSpPr>
          <p:spPr>
            <a:xfrm>
              <a:off x="1973737" y="3388134"/>
              <a:ext cx="202904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49" name="Google Shape;249;p14"/>
            <p:cNvCxnSpPr>
              <a:stCxn id="237" idx="2"/>
              <a:endCxn id="244" idx="0"/>
            </p:cNvCxnSpPr>
            <p:nvPr/>
          </p:nvCxnSpPr>
          <p:spPr>
            <a:xfrm>
              <a:off x="2767572" y="3440552"/>
              <a:ext cx="2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0" name="Google Shape;250;p14"/>
            <p:cNvCxnSpPr>
              <a:stCxn id="244" idx="2"/>
              <a:endCxn id="239" idx="0"/>
            </p:cNvCxnSpPr>
            <p:nvPr/>
          </p:nvCxnSpPr>
          <p:spPr>
            <a:xfrm>
              <a:off x="3561407" y="3440552"/>
              <a:ext cx="2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1" name="Google Shape;251;p14"/>
            <p:cNvCxnSpPr>
              <a:stCxn id="239" idx="2"/>
              <a:endCxn id="245" idx="0"/>
            </p:cNvCxnSpPr>
            <p:nvPr/>
          </p:nvCxnSpPr>
          <p:spPr>
            <a:xfrm>
              <a:off x="4355242" y="3440552"/>
              <a:ext cx="2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2" name="Google Shape;252;p14"/>
            <p:cNvCxnSpPr>
              <a:stCxn id="245" idx="2"/>
              <a:endCxn id="246" idx="0"/>
            </p:cNvCxnSpPr>
            <p:nvPr/>
          </p:nvCxnSpPr>
          <p:spPr>
            <a:xfrm>
              <a:off x="5149077" y="3440552"/>
              <a:ext cx="2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3" name="Google Shape;253;p14"/>
            <p:cNvCxnSpPr>
              <a:stCxn id="246" idx="2"/>
              <a:endCxn id="240" idx="0"/>
            </p:cNvCxnSpPr>
            <p:nvPr/>
          </p:nvCxnSpPr>
          <p:spPr>
            <a:xfrm>
              <a:off x="5942912" y="3440552"/>
              <a:ext cx="2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4" name="Google Shape;254;p14"/>
            <p:cNvCxnSpPr>
              <a:stCxn id="240" idx="2"/>
              <a:endCxn id="247" idx="0"/>
            </p:cNvCxnSpPr>
            <p:nvPr/>
          </p:nvCxnSpPr>
          <p:spPr>
            <a:xfrm>
              <a:off x="6736747" y="3440552"/>
              <a:ext cx="2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5" name="Google Shape;255;p14"/>
            <p:cNvCxnSpPr>
              <a:stCxn id="247" idx="2"/>
              <a:endCxn id="241" idx="0"/>
            </p:cNvCxnSpPr>
            <p:nvPr/>
          </p:nvCxnSpPr>
          <p:spPr>
            <a:xfrm>
              <a:off x="7530582" y="3440552"/>
              <a:ext cx="2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6" name="Google Shape;256;p14"/>
            <p:cNvCxnSpPr>
              <a:stCxn id="241" idx="2"/>
              <a:endCxn id="243" idx="0"/>
            </p:cNvCxnSpPr>
            <p:nvPr/>
          </p:nvCxnSpPr>
          <p:spPr>
            <a:xfrm>
              <a:off x="8324418" y="3440552"/>
              <a:ext cx="2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  <p:cxnSp>
          <p:nvCxnSpPr>
            <p:cNvPr id="257" name="Google Shape;257;p14"/>
            <p:cNvCxnSpPr>
              <a:stCxn id="243" idx="2"/>
              <a:endCxn id="242" idx="0"/>
            </p:cNvCxnSpPr>
            <p:nvPr/>
          </p:nvCxnSpPr>
          <p:spPr>
            <a:xfrm>
              <a:off x="9118253" y="3440552"/>
              <a:ext cx="202800" cy="0"/>
            </a:xfrm>
            <a:prstGeom prst="straightConnector1">
              <a:avLst/>
            </a:prstGeom>
            <a:noFill/>
            <a:ln cap="flat" cmpd="sng" w="38100">
              <a:solidFill>
                <a:schemeClr val="accent4"/>
              </a:solidFill>
              <a:prstDash val="solid"/>
              <a:round/>
              <a:headEnd len="sm" w="sm" type="none"/>
              <a:tailEnd len="med" w="med" type="triangle"/>
            </a:ln>
          </p:spPr>
        </p:cxnSp>
      </p:grpSp>
      <p:sp>
        <p:nvSpPr>
          <p:cNvPr id="258" name="Google Shape;258;p14"/>
          <p:cNvSpPr/>
          <p:nvPr/>
        </p:nvSpPr>
        <p:spPr>
          <a:xfrm>
            <a:off x="1988104" y="3946959"/>
            <a:ext cx="6941612" cy="973083"/>
          </a:xfrm>
          <a:prstGeom prst="leftRightArrow">
            <a:avLst>
              <a:gd fmla="val 50000" name="adj1"/>
              <a:gd fmla="val 50000" name="adj2"/>
            </a:avLst>
          </a:prstGeom>
          <a:solidFill>
            <a:schemeClr val="lt2"/>
          </a:solidFill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  <a:effectLst>
            <a:outerShdw blurRad="50800" rotWithShape="0" algn="tr" dir="8100000" dist="38100">
              <a:srgbClr val="000000">
                <a:alpha val="4000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259" name="Google Shape;259;p14"/>
          <p:cNvSpPr/>
          <p:nvPr/>
        </p:nvSpPr>
        <p:spPr>
          <a:xfrm>
            <a:off x="674099" y="4885390"/>
            <a:ext cx="1507173" cy="58533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73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更一般化的特征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>
        <p:nvSpPr>
          <p:cNvPr id="260" name="Google Shape;260;p14"/>
          <p:cNvSpPr/>
          <p:nvPr/>
        </p:nvSpPr>
        <p:spPr>
          <a:xfrm>
            <a:off x="8752785" y="4762250"/>
            <a:ext cx="1507173" cy="585337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 cap="flat" cmpd="sng" w="9525">
            <a:solidFill>
              <a:srgbClr val="00734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0000">
              <a:srgbClr val="000000">
                <a:alpha val="37647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Open Sans"/>
              <a:buNone/>
            </a:pPr>
            <a:r>
              <a:rPr b="0" i="0" lang="zh-CN" sz="18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更具体化的特征</a:t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 xmlns:p="http://schemas.openxmlformats.org/presentationml/2006/main" xmlns:a="http://schemas.openxmlformats.org/drawingml/2006/main">
        <p:nvSpPr>
          <p:cNvPr id="261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15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迁移学习</a:t>
            </a:r>
            <a:endParaRPr b="1" i="0" sz="3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descr="Close-up of a real snowflake" id="266" name="Google Shape;266;p15"/>
          <p:cNvPicPr preferRelativeResize="0"/>
          <p:nvPr/>
        </p:nvPicPr>
        <p:blipFill rotWithShape="1">
          <a:blip r:embed="rId3">
            <a:alphaModFix/>
          </a:blip>
          <a:srcRect b="22790" l="1" r="0" t="21208"/>
          <a:stretch/>
        </p:blipFill>
        <p:spPr>
          <a:xfrm>
            <a:off x="525780" y="1708796"/>
            <a:ext cx="9948672" cy="3718925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15"/>
          <p:cNvSpPr txBox="1"/>
          <p:nvPr/>
        </p:nvSpPr>
        <p:spPr>
          <a:xfrm>
            <a:off x="498348" y="1226875"/>
            <a:ext cx="9976104" cy="525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Open Sans"/>
              <a:buNone/>
            </a:pPr>
            <a:r>
              <a:rPr b="0" i="0" lang="zh-CN" sz="2400" u="none" cap="none" strike="noStrike">
                <a:solidFill>
                  <a:schemeClr val="lt2"/>
                </a:solidFill>
                <a:latin typeface="Noto Sans SC"/>
                <a:ea typeface="Noto Sans SC"/>
                <a:cs typeface="Open Sans"/>
                <a:sym typeface="Open Sans"/>
              </a:rPr>
              <a:t>冻结模型</a:t>
            </a:r>
            <a:r>
              <a:rPr b="0" i="0" lang="zh-CN" sz="2400" u="none" cap="none" strike="noStrike">
                <a:solidFill>
                  <a:schemeClr val="lt2"/>
                </a:solidFill>
                <a:latin typeface="Open Sans"/>
                <a:ea typeface="Noto Sans SC"/>
                <a:cs typeface="Open Sans"/>
                <a:sym typeface="Open Sans"/>
              </a:rPr>
              <a:t>？</a:t>
            </a:r>
            <a:endParaRPr b="0" i="0" sz="2400" u="none" cap="none" strike="noStrike">
              <a:solidFill>
                <a:schemeClr val="lt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 xmlns:p="http://schemas.openxmlformats.org/presentationml/2006/main" xmlns:a="http://schemas.openxmlformats.org/drawingml/2006/main">
        <p:nvSpPr>
          <p:cNvPr id="268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16"/>
          <p:cNvSpPr txBox="1"/>
          <p:nvPr/>
        </p:nvSpPr>
        <p:spPr>
          <a:xfrm>
            <a:off x="498348" y="661226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迁移学习</a:t>
            </a:r>
            <a:endParaRPr b="1" i="0" sz="3600" u="none" cap="none" strike="noStrike"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pic>
        <p:nvPicPr>
          <p:cNvPr id="273" name="Google Shape;273;p16"/>
          <p:cNvPicPr preferRelativeResize="0"/>
          <p:nvPr/>
        </p:nvPicPr>
        <p:blipFill rotWithShape="1">
          <a:blip r:embed="rId3">
            <a:alphaModFix/>
          </a:blip>
          <a:srcRect b="27272" l="32576" r="49999" t="31145"/>
          <a:stretch/>
        </p:blipFill>
        <p:spPr>
          <a:xfrm>
            <a:off x="706582" y="2021031"/>
            <a:ext cx="2512684" cy="337300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4" name="Google Shape;274;p16"/>
          <p:cNvPicPr preferRelativeResize="0"/>
          <p:nvPr/>
        </p:nvPicPr>
        <p:blipFill rotWithShape="1">
          <a:blip r:embed="rId4">
            <a:alphaModFix/>
          </a:blip>
          <a:srcRect b="28788" l="32661" r="50474" t="29630"/>
          <a:stretch/>
        </p:blipFill>
        <p:spPr>
          <a:xfrm>
            <a:off x="4203146" y="2021031"/>
            <a:ext cx="2432162" cy="3373004"/>
          </a:xfrm>
          <a:prstGeom prst="rect">
            <a:avLst/>
          </a:prstGeom>
          <a:noFill/>
          <a:ln>
            <a:noFill/>
          </a:ln>
        </p:spPr>
      </p:pic>
      <p:pic>
        <p:nvPicPr>
          <p:cNvPr id="275" name="Google Shape;275;p16"/>
          <p:cNvPicPr preferRelativeResize="0"/>
          <p:nvPr/>
        </p:nvPicPr>
        <p:blipFill rotWithShape="1">
          <a:blip r:embed="rId5">
            <a:alphaModFix/>
          </a:blip>
          <a:srcRect b="27778" l="32387" r="50000" t="30640"/>
          <a:stretch/>
        </p:blipFill>
        <p:spPr>
          <a:xfrm>
            <a:off x="7619188" y="2021031"/>
            <a:ext cx="2539996" cy="3373006"/>
          </a:xfrm>
          <a:prstGeom prst="rect">
            <a:avLst/>
          </a:prstGeom>
          <a:noFill/>
          <a:ln>
            <a:noFill/>
          </a:ln>
        </p:spPr>
      </p:pic>
      <p:sp xmlns:p="http://schemas.openxmlformats.org/presentationml/2006/main" xmlns:a="http://schemas.openxmlformats.org/drawingml/2006/main">
        <p:nvSpPr>
          <p:cNvPr id="276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17"/>
          <p:cNvSpPr txBox="1"/>
          <p:nvPr/>
        </p:nvSpPr>
        <p:spPr>
          <a:xfrm>
            <a:off x="498348" y="2790635"/>
            <a:ext cx="9976104" cy="590931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Open Sans"/>
              <a:buNone/>
            </a:pPr>
            <a:r>
              <a:rPr b="1" i="0" lang="zh-CN" sz="3600" u="none" cap="none" strike="noStrike">
                <a:solidFill>
                  <a:srgbClr val="000000"/>
                </a:solidFill>
                <a:latin typeface="Noto Sans SC"/>
                <a:ea typeface="Noto Sans SC"/>
                <a:cs typeface="Open Sans"/>
                <a:sym typeface="Open Sans"/>
              </a:rPr>
              <a:t>我们开始吧</a:t>
            </a:r>
            <a:r>
              <a:rPr b="1" i="0" lang="zh-CN" sz="3600" u="none" cap="none" strike="noStrike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！</a:t>
            </a:r>
            <a:endParaRPr b="1" i="0" sz="3600" u="none" cap="none" strike="noStrike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  <p:sp xmlns:p="http://schemas.openxmlformats.org/presentationml/2006/main" xmlns:a="http://schemas.openxmlformats.org/drawingml/2006/main">
        <p:nvSpPr>
          <p:cNvPr id="281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Sp="0">
  <p:cSld>
    <p:bg>
      <p:bgPr>
        <a:solidFill>
          <a:srgbClr val="FFFFFF"/>
        </a:solidFill>
        <a:effectLst/>
      </p:bgPr>
    </p:bg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f982dd4564_0_0"/>
          <p:cNvSpPr txBox="1"/>
          <p:nvPr/>
        </p:nvSpPr>
        <p:spPr>
          <a:xfrm>
            <a:off x="1136450" y="1317625"/>
            <a:ext cx="9143700" cy="320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 b="1"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探索全部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 NVIDIA </a:t>
            </a: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培训和认证资源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，</a:t>
            </a: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请访问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:  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NVIDIA </a:t>
            </a: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深度学习培训中心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（DLI）</a:t>
            </a: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中文官网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：</a:t>
            </a:r>
            <a:r>
              <a:rPr lang="zh-CN" u="sng">
                <a:solidFill>
                  <a:srgbClr val="76B900"/>
                </a:solidFill>
                <a:latin typeface="Open Sans"/>
                <a:ea typeface="Noto Sans SC"/>
                <a:cs typeface="Open Sans"/>
                <a:sym typeface="Open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nvidia.cn/training 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</a:pPr>
            <a:r>
              <a:rPr lang="zh-CN">
                <a:solidFill>
                  <a:schemeClr val="dk2"/>
                </a:solidFill>
                <a:latin typeface="Open Sans"/>
                <a:ea typeface="Noto Sans SC"/>
                <a:cs typeface="Open Sans"/>
                <a:sym typeface="Open Sans"/>
              </a:rPr>
              <a:t>NVIDIA </a:t>
            </a:r>
            <a:r>
              <a:rPr lang="zh-CN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认证</a:t>
            </a:r>
            <a:r>
              <a:rPr lang="zh-CN">
                <a:solidFill>
                  <a:schemeClr val="dk2"/>
                </a:solidFill>
                <a:latin typeface="Open Sans"/>
                <a:ea typeface="Noto Sans SC"/>
                <a:cs typeface="Open Sans"/>
                <a:sym typeface="Open Sans"/>
              </a:rPr>
              <a:t>：</a:t>
            </a:r>
            <a:r>
              <a:rPr lang="zh-CN" u="sng">
                <a:solidFill>
                  <a:schemeClr val="lt2"/>
                </a:solidFill>
                <a:latin typeface="Open Sans"/>
                <a:ea typeface="Noto Sans SC"/>
                <a:cs typeface="Open Sans"/>
                <a:sym typeface="Open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https://www.nvidia.cn/training/certification</a:t>
            </a:r>
            <a:r>
              <a:rPr lang="zh-CN">
                <a:solidFill>
                  <a:schemeClr val="dk2"/>
                </a:solidFill>
                <a:latin typeface="Open Sans"/>
                <a:ea typeface="Noto Sans SC"/>
                <a:cs typeface="Open Sans"/>
                <a:sym typeface="Open Sans"/>
              </a:rPr>
              <a:t>    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按主题查找培训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：</a:t>
            </a:r>
            <a:r>
              <a:rPr lang="zh-CN" u="sng">
                <a:solidFill>
                  <a:srgbClr val="76B900"/>
                </a:solidFill>
                <a:latin typeface="Open Sans"/>
                <a:ea typeface="Noto Sans SC"/>
                <a:cs typeface="Open Sans"/>
                <a:sym typeface="Open Sans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https://www.nvidia.cn/training/find-training/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 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在线自主培训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：</a:t>
            </a:r>
            <a:r>
              <a:rPr lang="zh-CN" u="sng">
                <a:solidFill>
                  <a:srgbClr val="76B900"/>
                </a:solidFill>
                <a:latin typeface="Open Sans"/>
                <a:ea typeface="Noto Sans SC"/>
                <a:cs typeface="Open Sans"/>
                <a:sym typeface="Open Sans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https://www.nvidia.cn/training/online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>
              <a:solidFill>
                <a:schemeClr val="dk2"/>
              </a:solidFill>
              <a:latin typeface="Open Sans"/>
              <a:ea typeface="Noto Sans SC"/>
              <a:cs typeface="Open Sans"/>
              <a:sym typeface="Open Sans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</a:pPr>
            <a:r>
              <a:rPr lang="zh-CN">
                <a:solidFill>
                  <a:schemeClr val="dk2"/>
                </a:solidFill>
                <a:latin typeface="Open Sans"/>
                <a:ea typeface="Noto Sans SC"/>
                <a:cs typeface="Open Sans"/>
                <a:sym typeface="Open Sans"/>
              </a:rPr>
              <a:t>NVIDIA AI </a:t>
            </a:r>
            <a:r>
              <a:rPr lang="zh-CN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培训班</a:t>
            </a:r>
            <a:r>
              <a:rPr lang="zh-CN">
                <a:solidFill>
                  <a:schemeClr val="dk2"/>
                </a:solidFill>
                <a:latin typeface="Open Sans"/>
                <a:ea typeface="Noto Sans SC"/>
                <a:cs typeface="Open Sans"/>
                <a:sym typeface="Open Sans"/>
              </a:rPr>
              <a:t>（</a:t>
            </a:r>
            <a:r>
              <a:rPr lang="zh-CN">
                <a:solidFill>
                  <a:schemeClr val="dk2"/>
                </a:solidFill>
                <a:latin typeface="Noto Sans SC"/>
                <a:ea typeface="Noto Sans SC"/>
                <a:cs typeface="Open Sans"/>
                <a:sym typeface="Open Sans"/>
              </a:rPr>
              <a:t>讲师指导的培训班</a:t>
            </a:r>
            <a:r>
              <a:rPr lang="zh-CN">
                <a:solidFill>
                  <a:schemeClr val="dk2"/>
                </a:solidFill>
                <a:latin typeface="Open Sans"/>
                <a:ea typeface="Noto Sans SC"/>
                <a:cs typeface="Open Sans"/>
                <a:sym typeface="Open Sans"/>
              </a:rPr>
              <a:t>）：</a:t>
            </a:r>
            <a:r>
              <a:rPr lang="zh-CN" u="sng">
                <a:solidFill>
                  <a:schemeClr val="lt2"/>
                </a:solidFill>
                <a:latin typeface="Open Sans"/>
                <a:ea typeface="Noto Sans SC"/>
                <a:cs typeface="Open Sans"/>
                <a:sym typeface="Open Sans"/>
                <a:hlinkClick r:id="rId7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www.bagevent.com/event/8359360</a:t>
            </a:r>
            <a:r>
              <a:rPr lang="zh-CN">
                <a:solidFill>
                  <a:schemeClr val="dk2"/>
                </a:solidFill>
                <a:latin typeface="Open Sans"/>
                <a:ea typeface="Noto Sans SC"/>
                <a:cs typeface="Open Sans"/>
                <a:sym typeface="Open Sans"/>
              </a:rPr>
              <a:t> 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      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/>
              <a:t/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更多咨询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，</a:t>
            </a: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请邮件至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 </a:t>
            </a:r>
            <a:r>
              <a:rPr lang="zh-CN" u="sng">
                <a:solidFill>
                  <a:srgbClr val="76B900"/>
                </a:solidFill>
                <a:latin typeface="Open Sans"/>
                <a:ea typeface="Noto Sans SC"/>
                <a:cs typeface="Open Sans"/>
                <a:sym typeface="Open Sans"/>
                <a:hlinkClick r:id="rId8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dlichina@nvidia.com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 。</a:t>
            </a: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或微信添加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 DLIChina, </a:t>
            </a: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申请加入学习交流群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，</a:t>
            </a: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备注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“</a:t>
            </a:r>
            <a:r>
              <a:rPr lang="zh-CN">
                <a:latin typeface="Noto Sans SC"/>
                <a:ea typeface="Noto Sans SC"/>
                <a:cs typeface="Open Sans"/>
                <a:sym typeface="Open Sans"/>
              </a:rPr>
              <a:t>咨询培训</a:t>
            </a:r>
            <a:r>
              <a:rPr lang="zh-CN">
                <a:latin typeface="Open Sans"/>
                <a:ea typeface="Noto Sans SC"/>
                <a:cs typeface="Open Sans"/>
                <a:sym typeface="Open Sans"/>
              </a:rPr>
              <a:t>”</a:t>
            </a:r>
            <a:endParaRPr>
              <a:latin typeface="Open Sans"/>
              <a:ea typeface="Noto Sans SC"/>
              <a:cs typeface="Open Sans"/>
              <a:sym typeface="Open Sans"/>
            </a:endParaRPr>
          </a:p>
        </p:txBody>
      </p:sp>
      <p:sp xmlns:p="http://schemas.openxmlformats.org/presentationml/2006/main" xmlns:a="http://schemas.openxmlformats.org/drawingml/2006/main">
        <p:nvSpPr>
          <p:cNvPr id="286" name="NVIDIA Copyright Footer"/>
          <p:cNvSpPr txBox="1"/>
          <p:nvPr/>
        </p:nvSpPr>
        <p:spPr>
          <a:xfrm>
            <a:off x="5532120" y="6016752"/>
            <a:ext cx="5303520" cy="146304"/>
          </a:xfrm>
          <a:prstGeom prst="rect">
            <a:avLst/>
          </a:prstGeom>
          <a:noFill/>
          <a:ln>
            <a:noFill/>
          </a:ln>
        </p:spPr>
        <p:txBody>
          <a:bodyPr wrap="none" lIns="0" rIns="0" tIns="0" bIns="0" anchor="ctr"/>
          <a:lstStyle/>
          <a:p>
            <a:pPr algn="r">
              <a:buNone/>
            </a:pPr>
            <a:r>
              <a:rPr sz="800" lang="en-US">
                <a:solidFill>
                  <a:srgbClr val="000000"/>
                </a:solidFill>
                <a:latin typeface="Open Sans"/>
                <a:ea typeface="Noto Sans SC"/>
                <a:cs typeface="Open Sans"/>
                <a:sym typeface="Open Sans"/>
              </a:rPr>
              <a:t>Copyright © 2026 NVIDIA Corporation &amp; Affiliates. All rights reserved.</a:t>
            </a:r>
            <a:endParaRPr sz="800">
              <a:solidFill>
                <a:srgbClr val="000000"/>
              </a:solidFill>
              <a:latin typeface="Open Sans"/>
              <a:ea typeface="Noto Sans SC"/>
              <a:cs typeface="Open Sans"/>
              <a:sym typeface="Open Sans"/>
            </a:endParaRPr>
          </a:p>
        </p:txBody>
      </p:sp>
    </p:spTree>
  </p:cSld>
  <p:clrMapOvr>
    <a:masterClrMapping/>
  </p:clrMapOvr>
  <mc:AlternateContent>
    <mc:Choice Requires="p14">
      <p:transition spd="slow" p14:dur="700">
        <p:fade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Open Sans"/>
        <a:ea typeface="Noto Sans SC"/>
        <a:cs typeface="Open Sans"/>
        <a:font script="Jpan" typeface="ＭＳ Ｐゴシック"/>
        <a:font script="Hang" typeface="맑은 고딕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Noto Sans SC"/>
        <a:cs typeface="Open Sans"/>
        <a:font script="Jpan" typeface="ＭＳ Ｐゴシック"/>
        <a:font script="Hang" typeface="맑은 고딕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Gallery">
  <a:themeElements>
    <a:clrScheme name="Gallery">
      <a:dk1>
        <a:srgbClr val="000000"/>
      </a:dk1>
      <a:lt1>
        <a:srgbClr val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Office">
      <a:majorFont>
        <a:latin typeface="Open Sans"/>
        <a:ea typeface="Noto Sans SC"/>
        <a:cs typeface="Open Sans"/>
        <a:font script="Jpan" typeface="ＭＳ Ｐゴシック"/>
        <a:font script="Hang" typeface="맑은 고딕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Noto Sans SC"/>
        <a:cs typeface="Open Sans"/>
        <a:font script="Jpan" typeface="ＭＳ Ｐゴシック"/>
        <a:font script="Hang" typeface="맑은 고딕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Title &amp; Bullet">
  <a:themeElements>
    <a:clrScheme name="2015 WHITE Template">
      <a:dk1>
        <a:srgbClr val="B3B3B3"/>
      </a:dk1>
      <a:lt1>
        <a:srgbClr val="FFFFFF"/>
      </a:lt1>
      <a:dk2>
        <a:srgbClr val="000000"/>
      </a:dk2>
      <a:lt2>
        <a:srgbClr val="76B900"/>
      </a:lt2>
      <a:accent1>
        <a:srgbClr val="0071C5"/>
      </a:accent1>
      <a:accent2>
        <a:srgbClr val="007450"/>
      </a:accent2>
      <a:accent3>
        <a:srgbClr val="9A4216"/>
      </a:accent3>
      <a:accent4>
        <a:srgbClr val="505050"/>
      </a:accent4>
      <a:accent5>
        <a:srgbClr val="9E1212"/>
      </a:accent5>
      <a:accent6>
        <a:srgbClr val="0D3481"/>
      </a:accent6>
      <a:hlink>
        <a:srgbClr val="76B900"/>
      </a:hlink>
      <a:folHlink>
        <a:srgbClr val="004827"/>
      </a:folHlink>
    </a:clrScheme>
    <a:fontScheme name="Office">
      <a:majorFont>
        <a:latin typeface="Open Sans"/>
        <a:ea typeface="Noto Sans SC"/>
        <a:cs typeface="Open Sans"/>
        <a:font script="Jpan" typeface="ＭＳ Ｐゴシック"/>
        <a:font script="Hang" typeface="맑은 고딕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Noto Sans SC"/>
        <a:cs typeface="Open Sans"/>
        <a:font script="Jpan" typeface="ＭＳ Ｐゴシック"/>
        <a:font script="Hang" typeface="맑은 고딕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Open Sans"/>
        <a:ea typeface="Noto Sans SC"/>
        <a:cs typeface="Open Sans"/>
        <a:font script="Jpan" typeface="ＭＳ Ｐゴシック"/>
        <a:font script="Hang" typeface="맑은 고딕"/>
        <a:font script="Hans" typeface="Noto Sans SC"/>
        <a:font script="Hant" typeface="Noto Sans SC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Open Sans"/>
        <a:ea typeface="Noto Sans SC"/>
        <a:cs typeface="Open Sans"/>
        <a:font script="Jpan" typeface="ＭＳ Ｐゴシック"/>
        <a:font script="Hang" typeface="맑은 고딕"/>
        <a:font script="Hans" typeface="Noto Sans SC"/>
        <a:font script="Hant" typeface="Noto Sans SC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2020-08-31T09:07:08Z</dcterms:created>
  <dc:creator>Danielle Detering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6b558183-044c-4105-8d9c-cea02a2a3d86_Enabled">
    <vt:lpwstr>True</vt:lpwstr>
  </property>
  <property fmtid="{D5CDD505-2E9C-101B-9397-08002B2CF9AE}" pid="3" name="MSIP_Label_6b558183-044c-4105-8d9c-cea02a2a3d86_SiteId">
    <vt:lpwstr>43083d15-7273-40c1-b7db-39efd9ccc17a</vt:lpwstr>
  </property>
  <property fmtid="{D5CDD505-2E9C-101B-9397-08002B2CF9AE}" pid="4" name="MSIP_Label_6b558183-044c-4105-8d9c-cea02a2a3d86_Owner">
    <vt:lpwstr>ddetering@nvidia.com</vt:lpwstr>
  </property>
  <property fmtid="{D5CDD505-2E9C-101B-9397-08002B2CF9AE}" pid="5" name="MSIP_Label_6b558183-044c-4105-8d9c-cea02a2a3d86_SetDate">
    <vt:lpwstr>2020-08-31T09:33:22.0153626Z</vt:lpwstr>
  </property>
  <property fmtid="{D5CDD505-2E9C-101B-9397-08002B2CF9AE}" pid="6" name="MSIP_Label_6b558183-044c-4105-8d9c-cea02a2a3d86_Name">
    <vt:lpwstr>Unrestricted</vt:lpwstr>
  </property>
  <property fmtid="{D5CDD505-2E9C-101B-9397-08002B2CF9AE}" pid="7" name="MSIP_Label_6b558183-044c-4105-8d9c-cea02a2a3d86_Application">
    <vt:lpwstr>Microsoft Azure Information Protection</vt:lpwstr>
  </property>
  <property fmtid="{D5CDD505-2E9C-101B-9397-08002B2CF9AE}" pid="8" name="MSIP_Label_6b558183-044c-4105-8d9c-cea02a2a3d86_Extended_MSFT_Method">
    <vt:lpwstr>Automatic</vt:lpwstr>
  </property>
  <property fmtid="{D5CDD505-2E9C-101B-9397-08002B2CF9AE}" pid="9" name="Sensitivity">
    <vt:lpwstr>Unrestricted</vt:lpwstr>
  </property>
  <property fmtid="{D5CDD505-2E9C-101B-9397-08002B2CF9AE}" pid="10" name="ContentTypeId">
    <vt:lpwstr>0x01010004CF33B71089DC448F3A861CCE49DD4C</vt:lpwstr>
  </property>
</Properties>
</file>