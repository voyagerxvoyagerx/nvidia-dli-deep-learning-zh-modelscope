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55" r:id="rId7"/>
    <p:sldMasterId id="2147483657" r:id="rId8"/>
    <p:sldMasterId id="2147483660" r:id="rId9"/>
  </p:sldMasterIdLst>
  <p:notesMasterIdLst>
    <p:notesMasterId r:id="rId10"/>
  </p:notesMasterIdLst>
  <p:sldIdLst>
    <p:sldId id="310" r:id="rId82"/>
    <p:sldId id="311" r:id="rId83"/>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Lst>
  <p:sldSz cy="6172200" cx="10972800"/>
  <p:notesSz cx="7010400" cy="9296400"/>
  <p:embeddedFontLst>
    <p:embeddedFont>
      <p:font typeface="NVIDIA Sans"/>
      <p:regular r:id="rId65"/>
      <p:bold r:id="rId66"/>
      <p:italic r:id="rId67"/>
      <p:boldItalic r:id="rId68"/>
    </p:embeddedFont>
    <p:embeddedFont>
      <p:font typeface="NVIDIA Sans Medium"/>
      <p:regular r:id="rId69"/>
      <p:bold r:id="rId70"/>
      <p:italic r:id="rId71"/>
      <p:boldItalic r:id="rId72"/>
    </p:embeddedFont>
    <p:embeddedFont>
      <p:font typeface="Noto Sans"/>
      <p:regular r:id="rId73"/>
      <p:bold r:id="rId74"/>
      <p:italic r:id="rId75"/>
      <p:boldItalic r:id="rId76"/>
    </p:embeddedFont>
    <p:embeddedFont>
      <p:font typeface="Open Sans"/>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defaultTextStyle>
  <p:extLst>
    <p:ext uri="{EFAFB233-063F-42B5-8137-9DF3F51BA10A}">
      <p15:sldGuideLst>
        <p15:guide id="1" orient="horz" pos="1316">
          <p15:clr>
            <a:srgbClr val="000000"/>
          </p15:clr>
        </p15:guide>
        <p15:guide id="2" orient="horz" pos="3050">
          <p15:clr>
            <a:srgbClr val="000000"/>
          </p15:clr>
        </p15:guide>
        <p15:guide id="3" orient="horz" pos="3189">
          <p15:clr>
            <a:srgbClr val="000000"/>
          </p15:clr>
        </p15:guide>
        <p15:guide id="4" pos="5455">
          <p15:clr>
            <a:srgbClr val="000000"/>
          </p15:clr>
        </p15:guide>
        <p15:guide id="5" orient="horz" pos="963">
          <p15:clr>
            <a:srgbClr val="000000"/>
          </p15:clr>
        </p15:guide>
        <p15:guide id="6" pos="3456">
          <p15:clr>
            <a:srgbClr val="000000"/>
          </p15:clr>
        </p15:guide>
        <p15:guide id="7" orient="horz" pos="960">
          <p15:clr>
            <a:srgbClr val="000000"/>
          </p15:clr>
        </p15:guide>
      </p15:sldGuideLst>
    </p:ext>
    <p:ext uri="{2D200454-40CA-4A62-9FC3-DE9A4176ACB9}">
      <p15:notesGuideLst>
        <p15:guide id="1" orient="horz" pos="2976">
          <p15:clr>
            <a:srgbClr val="000000"/>
          </p15:clr>
        </p15:guide>
        <p15:guide id="2" pos="2208">
          <p15:clr>
            <a:srgbClr val="000000"/>
          </p15:clr>
        </p15:guide>
      </p15:notesGuideLst>
    </p:ext>
    <p:ext uri="GoogleSlidesCustomDataVersion2">
      <go:slidesCustomData xmlns:go="http://customooxmlschemas.google.com/" r:id="rId81" roundtripDataSignature="AMtx7mgw8kprE8Esv9v+Q4ti8GgFAvXN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2F0C3F-1D8F-44BD-A9BE-D08BDC8DFB2E}">
  <a:tblStyle styleId="{C92F0C3F-1D8F-44BD-A9BE-D08BDC8DFB2E}" styleName="Table_0">
    <a:wholeTbl>
      <a:tcTxStyle b="off" i="off">
        <a:font>
          <a:latin typeface="Open Sans"/>
          <a:ea typeface="Noto Sans SC"/>
          <a:cs typeface="Open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E8"/>
          </a:solidFill>
        </a:fill>
      </a:tcStyle>
    </a:wholeTbl>
    <a:band1H>
      <a:tcTxStyle b="off" i="off"/>
      <a:tcStyle>
        <a:fill>
          <a:solidFill>
            <a:srgbClr val="CAD5CF"/>
          </a:solidFill>
        </a:fill>
      </a:tcStyle>
    </a:band1H>
    <a:band2H>
      <a:tcTxStyle b="off" i="off"/>
    </a:band2H>
    <a:band1V>
      <a:tcTxStyle b="off" i="off"/>
      <a:tcStyle>
        <a:fill>
          <a:solidFill>
            <a:srgbClr val="CAD5CF"/>
          </a:solidFill>
        </a:fill>
      </a:tcStyle>
    </a:band1V>
    <a:band2V>
      <a:tcTxStyle b="off" i="off"/>
    </a:band2V>
    <a:lastCol>
      <a:tcTxStyle b="on" i="off">
        <a:font>
          <a:latin typeface="Open Sans"/>
          <a:ea typeface="Noto Sans SC"/>
          <a:cs typeface="Open Sans"/>
        </a:font>
        <a:schemeClr val="lt1"/>
      </a:tcTxStyle>
      <a:tcStyle>
        <a:fill>
          <a:solidFill>
            <a:schemeClr val="accent2"/>
          </a:solidFill>
        </a:fill>
      </a:tcStyle>
    </a:lastCol>
    <a:firstCol>
      <a:tcTxStyle b="on" i="off">
        <a:font>
          <a:latin typeface="Open Sans"/>
          <a:ea typeface="Noto Sans SC"/>
          <a:cs typeface="Open Sans"/>
        </a:font>
        <a:schemeClr val="lt1"/>
      </a:tcTxStyle>
      <a:tcStyle>
        <a:fill>
          <a:solidFill>
            <a:schemeClr val="accent2"/>
          </a:solidFill>
        </a:fill>
      </a:tcStyle>
    </a:firstCol>
    <a:lastRow>
      <a:tcTxStyle b="on" i="off">
        <a:font>
          <a:latin typeface="Open Sans"/>
          <a:ea typeface="Noto Sans SC"/>
          <a:cs typeface="Open Sans"/>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b="off" i="off"/>
    </a:seCell>
    <a:swCell>
      <a:tcTxStyle b="off" i="off"/>
    </a:swCell>
    <a:firstRow>
      <a:tcTxStyle b="on" i="off">
        <a:font>
          <a:latin typeface="Open Sans"/>
          <a:ea typeface="Noto Sans SC"/>
          <a:cs typeface="Open Sans"/>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16" orient="horz"/>
        <p:guide pos="3050" orient="horz"/>
        <p:guide pos="3189" orient="horz"/>
        <p:guide pos="5455"/>
        <p:guide pos="963" orient="horz"/>
        <p:guide pos="3456"/>
        <p:guide pos="960" orient="horz"/>
      </p:guideLst>
    </p:cSldViewPr>
  </p:slideViewPr>
  <p:notesViewPr>
    <p:cSldViewPr snapToGrid="0">
      <p:cViewPr varScale="1">
        <p:scale>
          <a:sx n="100" d="100"/>
          <a:sy n="100" d="100"/>
        </p:scale>
        <p:origin x="0" y="0"/>
      </p:cViewPr>
      <p:guideLst>
        <p:guide pos="2976" orient="horz"/>
        <p:guide pos="2208"/>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slideMaster" Target="slideMasters/slideMaster5.xml"/><Relationship Id="rId10" Type="http://schemas.openxmlformats.org/officeDocument/2006/relationships/notesMaster" Target="notesMasters/notesMaster1.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font" Target="fonts/NVIDIASans-regular.fntdata"/><Relationship Id="rId66" Type="http://schemas.openxmlformats.org/officeDocument/2006/relationships/font" Target="fonts/NVIDIASans-bold.fntdata"/><Relationship Id="rId67" Type="http://schemas.openxmlformats.org/officeDocument/2006/relationships/font" Target="fonts/NVIDIASans-italic.fntdata"/><Relationship Id="rId68" Type="http://schemas.openxmlformats.org/officeDocument/2006/relationships/font" Target="fonts/NVIDIASans-boldItalic.fntdata"/><Relationship Id="rId69" Type="http://schemas.openxmlformats.org/officeDocument/2006/relationships/font" Target="fonts/NVIDIASansMedium-regular.fntdata"/><Relationship Id="rId70" Type="http://schemas.openxmlformats.org/officeDocument/2006/relationships/font" Target="fonts/NVIDIASansMedium-bold.fntdata"/><Relationship Id="rId71" Type="http://schemas.openxmlformats.org/officeDocument/2006/relationships/font" Target="fonts/NVIDIASansMedium-italic.fntdata"/><Relationship Id="rId72" Type="http://schemas.openxmlformats.org/officeDocument/2006/relationships/font" Target="fonts/NVIDIASansMedium-boldItalic.fntdata"/><Relationship Id="rId73" Type="http://schemas.openxmlformats.org/officeDocument/2006/relationships/font" Target="fonts/NotoSans-regular.fntdata"/><Relationship Id="rId74" Type="http://schemas.openxmlformats.org/officeDocument/2006/relationships/font" Target="fonts/NotoSans-bold.fntdata"/><Relationship Id="rId75" Type="http://schemas.openxmlformats.org/officeDocument/2006/relationships/font" Target="fonts/NotoSans-italic.fntdata"/><Relationship Id="rId76" Type="http://schemas.openxmlformats.org/officeDocument/2006/relationships/font" Target="fonts/NotoSans-boldItalic.fntdata"/><Relationship Id="rId77" Type="http://schemas.openxmlformats.org/officeDocument/2006/relationships/font" Target="fonts/OpenSans-regular.fntdata"/><Relationship Id="rId78" Type="http://schemas.openxmlformats.org/officeDocument/2006/relationships/font" Target="fonts/OpenSans-bold.fntdata"/><Relationship Id="rId79" Type="http://schemas.openxmlformats.org/officeDocument/2006/relationships/font" Target="fonts/OpenSans-italic.fntdata"/><Relationship Id="rId80" Type="http://schemas.openxmlformats.org/officeDocument/2006/relationships/font" Target="fonts/OpenSans-boldItalic.fntdata"/><Relationship Id="rId81" Type="http://customschemas.google.com/relationships/presentationmetadata" Target="metadata"/><Relationship Id="rId82" Type="http://schemas.openxmlformats.org/officeDocument/2006/relationships/slide" Target="slides/slide1.xml"/><Relationship Id="rId8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package" Target="../embeddings/Microsoft_Excel_Sheet2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100D-407D-9EA0-D6ED3CA6C9CA}"/>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dirty="0"/>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5797-4EE8-AF71-2EA43E0B95C0}"/>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EA4A-4F49-907A-D6764FF06BC3}"/>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F2E9-4715-9AE5-DA37827C785F}"/>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8B13-4360-AA0F-4742D554E823}"/>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2"/>
                    </a:solidFill>
                    <a:latin typeface="Open Sans" panose="020B0603020202020204" pitchFamily="34" charset="0"/>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2"/>
                  </a:solidFill>
                  <a:latin typeface="Open Sans" panose="020B0603020202020204" pitchFamily="34" charset="0"/>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Open Sans" panose="020B0603020202020204" pitchFamily="34" charset="0"/>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Open Sans" panose="020B0603020202020204" pitchFamily="34" charset="0"/>
                    <a:ea typeface="Noto Sans SC"/>
                    <a:cs typeface="Open San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Open Sans" panose="020B0603020202020204" pitchFamily="34" charset="0"/>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Open Sans" panose="020B0603020202020204" pitchFamily="34" charset="0"/>
                <a:ea typeface="Noto Sans SC"/>
                <a:cs typeface="Open Sans"/>
              </a:defRPr>
            </a:pPr>
            <a:endParaRPr lang="en-US"/>
          </a:p>
        </c:txPr>
        <c:crossAx val="723789816"/>
        <c:crosses val="autoZero"/>
        <c:crossBetween val="midCat"/>
      </c:valAx>
      <c:spPr>
        <a:solidFill>
          <a:schemeClr val="tx1">
            <a:lumMod val="40000"/>
            <a:lumOff val="60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2"/>
          </a:solidFill>
          <a:latin typeface="Open Sans" panose="020B0603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670C-41DD-9BF9-D7CFC2A077D1}"/>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3861-4A00-B42F-FD7E67B188F9}"/>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66675">
                <a:solidFill>
                  <a:schemeClr val="tx2">
                    <a:lumMod val="75000"/>
                  </a:schemeClr>
                </a:solidFill>
              </a:ln>
              <a:effectLst/>
            </c:spPr>
          </c:marker>
          <c:xVal>
            <c:numRef>
              <c:f>Sheet1!$A$2:$A$4</c:f>
              <c:numCache>
                <c:formatCode>General</c:formatCode>
                <c:ptCount val="3"/>
                <c:pt idx="0">
                  <c:v>1</c:v>
                </c:pt>
                <c:pt idx="1">
                  <c:v>2</c:v>
                </c:pt>
                <c:pt idx="2">
                  <c:v>2.6</c:v>
                </c:pt>
              </c:numCache>
            </c:numRef>
          </c:xVal>
          <c:yVal>
            <c:numRef>
              <c:f>Sheet1!$B$2:$B$4</c:f>
              <c:numCache>
                <c:formatCode>General</c:formatCode>
                <c:ptCount val="3"/>
                <c:pt idx="0">
                  <c:v>3</c:v>
                </c:pt>
                <c:pt idx="1">
                  <c:v>5</c:v>
                </c:pt>
              </c:numCache>
            </c:numRef>
          </c:yVal>
          <c:smooth val="0"/>
          <c:extLst>
            <c:ext xmlns:c16="http://schemas.microsoft.com/office/drawing/2014/chart" uri="{C3380CC4-5D6E-409C-BE32-E72D297353CC}">
              <c16:uniqueId val="{00000000-FC25-4564-B2E4-9D6DA10008A3}"/>
            </c:ext>
          </c:extLst>
        </c:ser>
        <c:dLbls>
          <c:showLegendKey val="0"/>
          <c:showVal val="0"/>
          <c:showCatName val="0"/>
          <c:showSerName val="0"/>
          <c:showPercent val="0"/>
          <c:showBubbleSize val="0"/>
        </c:dLbls>
        <c:axId val="723789816"/>
        <c:axId val="723793752"/>
      </c:scatterChart>
      <c:valAx>
        <c:axId val="7237898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x</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93752"/>
        <c:crosses val="autoZero"/>
        <c:crossBetween val="midCat"/>
      </c:valAx>
      <c:valAx>
        <c:axId val="723793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r>
                  <a:rPr lang="en-US"/>
                  <a:t>y</a:t>
                </a:r>
              </a:p>
            </c:rich>
          </c:tx>
          <c:layout>
            <c:manualLayout>
              <c:xMode val="edge"/>
              <c:yMode val="edge"/>
              <c:x val="0"/>
              <c:y val="0.34150188051696317"/>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723789816"/>
        <c:crosses val="autoZero"/>
        <c:crossBetween val="midCat"/>
      </c:valAx>
      <c:spPr>
        <a:solidFill>
          <a:schemeClr val="tx1">
            <a:lumMod val="95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solidFill>
    </a:ln>
    <a:effectLst/>
  </c:spPr>
  <c:txPr>
    <a:bodyPr/>
    <a:lstStyle/>
    <a:p>
      <a:pPr>
        <a:defRPr sz="1800">
          <a:solidFill>
            <a:schemeClr val="bg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062992125984E-2"/>
          <c:y val="0.103046875"/>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Sheet1!$A$2:$A$6</c:f>
              <c:numCache>
                <c:formatCode>General</c:formatCode>
                <c:ptCount val="5"/>
                <c:pt idx="0">
                  <c:v>-10</c:v>
                </c:pt>
                <c:pt idx="1">
                  <c:v>-5</c:v>
                </c:pt>
                <c:pt idx="2">
                  <c:v>0</c:v>
                </c:pt>
                <c:pt idx="3">
                  <c:v>5</c:v>
                </c:pt>
                <c:pt idx="4">
                  <c:v>10</c:v>
                </c:pt>
              </c:numCache>
            </c:numRef>
          </c:cat>
          <c:val>
            <c:numRef>
              <c:f>Sheet1!$B$2:$B$6</c:f>
              <c:numCache>
                <c:formatCode>General</c:formatCode>
                <c:ptCount val="5"/>
                <c:pt idx="0">
                  <c:v>-10</c:v>
                </c:pt>
                <c:pt idx="1">
                  <c:v>-5</c:v>
                </c:pt>
                <c:pt idx="2">
                  <c:v>0</c:v>
                </c:pt>
                <c:pt idx="3">
                  <c:v>5</c:v>
                </c:pt>
                <c:pt idx="4">
                  <c:v>10</c:v>
                </c:pt>
              </c:numCache>
            </c:numRef>
          </c:val>
          <c:smooth val="0"/>
          <c:extLst>
            <c:ext xmlns:c16="http://schemas.microsoft.com/office/drawing/2014/chart" uri="{C3380CC4-5D6E-409C-BE32-E72D297353CC}">
              <c16:uniqueId val="{00000000-2D73-41AD-AB01-9489807E625B}"/>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4520"/>
        <c:crosses val="autoZero"/>
        <c:auto val="1"/>
        <c:lblAlgn val="ctr"/>
        <c:lblOffset val="100"/>
        <c:noMultiLvlLbl val="0"/>
      </c:catAx>
      <c:valAx>
        <c:axId val="800984520"/>
        <c:scaling>
          <c:orientation val="minMax"/>
          <c:max val="10"/>
          <c:min val="-1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7800"/>
        <c:crosses val="autoZero"/>
        <c:crossBetween val="midCat"/>
        <c:majorUnit val="5"/>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Sheet1!$A$2:$A$6</c:f>
              <c:numCache>
                <c:formatCode>General</c:formatCode>
                <c:ptCount val="5"/>
                <c:pt idx="0">
                  <c:v>-10</c:v>
                </c:pt>
                <c:pt idx="1">
                  <c:v>-5</c:v>
                </c:pt>
                <c:pt idx="2">
                  <c:v>0</c:v>
                </c:pt>
                <c:pt idx="3">
                  <c:v>5</c:v>
                </c:pt>
                <c:pt idx="4">
                  <c:v>10</c:v>
                </c:pt>
              </c:numCache>
            </c:numRef>
          </c:cat>
          <c:val>
            <c:numRef>
              <c:f>Sheet1!$B$2:$B$6</c:f>
              <c:numCache>
                <c:formatCode>General</c:formatCode>
                <c:ptCount val="5"/>
                <c:pt idx="0">
                  <c:v>0</c:v>
                </c:pt>
                <c:pt idx="1">
                  <c:v>0</c:v>
                </c:pt>
                <c:pt idx="2">
                  <c:v>0</c:v>
                </c:pt>
                <c:pt idx="3">
                  <c:v>5</c:v>
                </c:pt>
                <c:pt idx="4">
                  <c:v>10</c:v>
                </c:pt>
              </c:numCache>
            </c:numRef>
          </c:val>
          <c:smooth val="0"/>
          <c:extLst>
            <c:ext xmlns:c16="http://schemas.microsoft.com/office/drawing/2014/chart" uri="{C3380CC4-5D6E-409C-BE32-E72D297353CC}">
              <c16:uniqueId val="{00000000-A34F-421F-A18D-589E743CDBC6}"/>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4520"/>
        <c:crosses val="autoZero"/>
        <c:auto val="1"/>
        <c:lblAlgn val="ctr"/>
        <c:lblOffset val="100"/>
        <c:noMultiLvlLbl val="0"/>
      </c:catAx>
      <c:valAx>
        <c:axId val="800984520"/>
        <c:scaling>
          <c:orientation val="minMax"/>
          <c:max val="10"/>
          <c:min val="-1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7800"/>
        <c:crosses val="autoZero"/>
        <c:crossBetween val="midCat"/>
        <c:majorUnit val="5"/>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Sheet1!$A$2:$A$18</c:f>
              <c:numCache>
                <c:formatCode>General</c:formatCode>
                <c:ptCount val="17"/>
                <c:pt idx="0">
                  <c:v>-10</c:v>
                </c:pt>
                <c:pt idx="1">
                  <c:v>-8.75</c:v>
                </c:pt>
                <c:pt idx="2">
                  <c:v>-7.5</c:v>
                </c:pt>
                <c:pt idx="3">
                  <c:v>-6.25</c:v>
                </c:pt>
                <c:pt idx="4">
                  <c:v>-5</c:v>
                </c:pt>
                <c:pt idx="5">
                  <c:v>-3.75</c:v>
                </c:pt>
                <c:pt idx="6">
                  <c:v>-2.5</c:v>
                </c:pt>
                <c:pt idx="7">
                  <c:v>-1.25</c:v>
                </c:pt>
                <c:pt idx="8">
                  <c:v>0</c:v>
                </c:pt>
                <c:pt idx="9">
                  <c:v>1.25</c:v>
                </c:pt>
                <c:pt idx="10">
                  <c:v>2.5</c:v>
                </c:pt>
                <c:pt idx="11">
                  <c:v>3.75</c:v>
                </c:pt>
                <c:pt idx="12">
                  <c:v>5</c:v>
                </c:pt>
                <c:pt idx="13">
                  <c:v>6.25</c:v>
                </c:pt>
                <c:pt idx="14">
                  <c:v>7.5</c:v>
                </c:pt>
                <c:pt idx="15">
                  <c:v>8.75</c:v>
                </c:pt>
                <c:pt idx="16">
                  <c:v>10</c:v>
                </c:pt>
              </c:numCache>
            </c:numRef>
          </c:cat>
          <c:val>
            <c:numRef>
              <c:f>Sheet1!$B$2:$B$18</c:f>
              <c:numCache>
                <c:formatCode>General</c:formatCode>
                <c:ptCount val="17"/>
                <c:pt idx="0">
                  <c:v>4.5397868702434395E-5</c:v>
                </c:pt>
                <c:pt idx="1">
                  <c:v>1.5843621910252592E-4</c:v>
                </c:pt>
                <c:pt idx="2">
                  <c:v>5.5277863692359955E-4</c:v>
                </c:pt>
                <c:pt idx="3">
                  <c:v>1.9267346633274757E-3</c:v>
                </c:pt>
                <c:pt idx="4">
                  <c:v>6.6928509242848554E-3</c:v>
                </c:pt>
                <c:pt idx="5">
                  <c:v>2.2977369910025615E-2</c:v>
                </c:pt>
                <c:pt idx="6">
                  <c:v>7.5858180021243546E-2</c:v>
                </c:pt>
                <c:pt idx="7">
                  <c:v>0.22270013882530884</c:v>
                </c:pt>
                <c:pt idx="8">
                  <c:v>0.5</c:v>
                </c:pt>
                <c:pt idx="9">
                  <c:v>0.77729986117469108</c:v>
                </c:pt>
                <c:pt idx="10">
                  <c:v>0.92414181997875655</c:v>
                </c:pt>
                <c:pt idx="11">
                  <c:v>0.97702263008997436</c:v>
                </c:pt>
                <c:pt idx="12">
                  <c:v>0.99330714907571527</c:v>
                </c:pt>
                <c:pt idx="13">
                  <c:v>0.99807326533667251</c:v>
                </c:pt>
                <c:pt idx="14">
                  <c:v>0.9994472213630764</c:v>
                </c:pt>
                <c:pt idx="15">
                  <c:v>0.9998415637808975</c:v>
                </c:pt>
                <c:pt idx="16">
                  <c:v>0.99995460213129761</c:v>
                </c:pt>
              </c:numCache>
            </c:numRef>
          </c:val>
          <c:smooth val="0"/>
          <c:extLst>
            <c:ext xmlns:c16="http://schemas.microsoft.com/office/drawing/2014/chart" uri="{C3380CC4-5D6E-409C-BE32-E72D297353CC}">
              <c16:uniqueId val="{00000000-1553-4A49-AA3D-7CDA02DB743C}"/>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4520"/>
        <c:crosses val="autoZero"/>
        <c:auto val="1"/>
        <c:lblAlgn val="ctr"/>
        <c:lblOffset val="100"/>
        <c:tickMarkSkip val="4"/>
        <c:noMultiLvlLbl val="0"/>
      </c:catAx>
      <c:valAx>
        <c:axId val="800984520"/>
        <c:scaling>
          <c:orientation val="minMax"/>
          <c:max val="1"/>
          <c:min val="0"/>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37739124303808"/>
          <c:y val="8.4977610935169312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0.54402111088936977</c:v>
                </c:pt>
                <c:pt idx="1">
                  <c:v>7.5151120461809301E-2</c:v>
                </c:pt>
                <c:pt idx="2">
                  <c:v>-0.41211848524175659</c:v>
                </c:pt>
                <c:pt idx="3">
                  <c:v>-0.79848711262349026</c:v>
                </c:pt>
                <c:pt idx="4">
                  <c:v>-0.98935824662338179</c:v>
                </c:pt>
                <c:pt idx="5">
                  <c:v>-0.9379999767747389</c:v>
                </c:pt>
                <c:pt idx="6">
                  <c:v>-0.65698659871878906</c:v>
                </c:pt>
                <c:pt idx="7">
                  <c:v>-0.21511998808781552</c:v>
                </c:pt>
                <c:pt idx="8">
                  <c:v>0.27941549819892586</c:v>
                </c:pt>
                <c:pt idx="9">
                  <c:v>0.70554032557039192</c:v>
                </c:pt>
                <c:pt idx="10">
                  <c:v>0.95892427466313845</c:v>
                </c:pt>
                <c:pt idx="11">
                  <c:v>0.97753011766509701</c:v>
                </c:pt>
                <c:pt idx="12">
                  <c:v>0.7568024953079282</c:v>
                </c:pt>
                <c:pt idx="13">
                  <c:v>0.35078322768961984</c:v>
                </c:pt>
                <c:pt idx="14">
                  <c:v>-0.14112000805986721</c:v>
                </c:pt>
                <c:pt idx="15">
                  <c:v>-0.59847214410395655</c:v>
                </c:pt>
                <c:pt idx="16">
                  <c:v>-0.90929742682568171</c:v>
                </c:pt>
                <c:pt idx="17">
                  <c:v>-0.99749498660405445</c:v>
                </c:pt>
                <c:pt idx="18">
                  <c:v>-0.8414709848078965</c:v>
                </c:pt>
                <c:pt idx="19">
                  <c:v>-0.47942553860420301</c:v>
                </c:pt>
                <c:pt idx="20">
                  <c:v>0</c:v>
                </c:pt>
                <c:pt idx="21">
                  <c:v>0.47942553860420301</c:v>
                </c:pt>
                <c:pt idx="22">
                  <c:v>0.8414709848078965</c:v>
                </c:pt>
                <c:pt idx="23">
                  <c:v>0.99749498660405445</c:v>
                </c:pt>
                <c:pt idx="24">
                  <c:v>0.90929742682568171</c:v>
                </c:pt>
                <c:pt idx="25">
                  <c:v>0.59847214410395655</c:v>
                </c:pt>
                <c:pt idx="26">
                  <c:v>0.14112000805986721</c:v>
                </c:pt>
                <c:pt idx="27">
                  <c:v>-0.35078322768961984</c:v>
                </c:pt>
                <c:pt idx="28">
                  <c:v>-0.7568024953079282</c:v>
                </c:pt>
                <c:pt idx="29">
                  <c:v>-0.97753011766509701</c:v>
                </c:pt>
                <c:pt idx="30">
                  <c:v>-0.95892427466313845</c:v>
                </c:pt>
                <c:pt idx="31">
                  <c:v>-0.70554032557039192</c:v>
                </c:pt>
                <c:pt idx="32">
                  <c:v>-0.27941549819892586</c:v>
                </c:pt>
                <c:pt idx="33">
                  <c:v>0.21511998808781552</c:v>
                </c:pt>
                <c:pt idx="34">
                  <c:v>0.65698659871878906</c:v>
                </c:pt>
                <c:pt idx="35">
                  <c:v>0.9379999767747389</c:v>
                </c:pt>
                <c:pt idx="36">
                  <c:v>0.98935824662338179</c:v>
                </c:pt>
                <c:pt idx="37">
                  <c:v>0.79848711262349026</c:v>
                </c:pt>
                <c:pt idx="38">
                  <c:v>0.41211848524175659</c:v>
                </c:pt>
                <c:pt idx="39">
                  <c:v>-7.5151120461809301E-2</c:v>
                </c:pt>
                <c:pt idx="40">
                  <c:v>-0.54402111088936977</c:v>
                </c:pt>
              </c:numCache>
            </c:numRef>
          </c:val>
          <c:smooth val="0"/>
          <c:extLst>
            <c:ext xmlns:c16="http://schemas.microsoft.com/office/drawing/2014/chart" uri="{C3380CC4-5D6E-409C-BE32-E72D297353CC}">
              <c16:uniqueId val="{00000000-ADBA-42A3-9CE1-1C6D2B6EBA5A}"/>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0.7568024953079282</c:v>
                </c:pt>
                <c:pt idx="1">
                  <c:v>0.57156131874234373</c:v>
                </c:pt>
                <c:pt idx="2">
                  <c:v>0.35078322768961984</c:v>
                </c:pt>
                <c:pt idx="3">
                  <c:v>0.10819513453010837</c:v>
                </c:pt>
                <c:pt idx="4">
                  <c:v>-0.14112000805986721</c:v>
                </c:pt>
                <c:pt idx="5">
                  <c:v>-0.38166099205233167</c:v>
                </c:pt>
                <c:pt idx="6">
                  <c:v>-0.59847214410395655</c:v>
                </c:pt>
                <c:pt idx="7">
                  <c:v>-0.7780731968879212</c:v>
                </c:pt>
                <c:pt idx="8">
                  <c:v>-0.90929742682568171</c:v>
                </c:pt>
                <c:pt idx="9">
                  <c:v>-0.98398594687393692</c:v>
                </c:pt>
                <c:pt idx="10">
                  <c:v>-0.99749498660405445</c:v>
                </c:pt>
                <c:pt idx="11">
                  <c:v>-0.9489846193555862</c:v>
                </c:pt>
                <c:pt idx="12">
                  <c:v>-0.8414709848078965</c:v>
                </c:pt>
                <c:pt idx="13">
                  <c:v>-0.68163876002333412</c:v>
                </c:pt>
                <c:pt idx="14">
                  <c:v>-0.47942553860420301</c:v>
                </c:pt>
                <c:pt idx="15">
                  <c:v>-0.24740395925452294</c:v>
                </c:pt>
                <c:pt idx="16">
                  <c:v>0</c:v>
                </c:pt>
                <c:pt idx="17">
                  <c:v>0.24740395925452294</c:v>
                </c:pt>
                <c:pt idx="18">
                  <c:v>0.47942553860420301</c:v>
                </c:pt>
                <c:pt idx="19">
                  <c:v>0.68163876002333412</c:v>
                </c:pt>
                <c:pt idx="20">
                  <c:v>0.8414709848078965</c:v>
                </c:pt>
                <c:pt idx="21">
                  <c:v>0.9489846193555862</c:v>
                </c:pt>
                <c:pt idx="22">
                  <c:v>0.99749498660405445</c:v>
                </c:pt>
                <c:pt idx="23">
                  <c:v>0.98398594687393692</c:v>
                </c:pt>
                <c:pt idx="24">
                  <c:v>0.90929742682568171</c:v>
                </c:pt>
                <c:pt idx="25">
                  <c:v>0.7780731968879212</c:v>
                </c:pt>
                <c:pt idx="26">
                  <c:v>0.59847214410395655</c:v>
                </c:pt>
                <c:pt idx="27">
                  <c:v>0.38166099205233167</c:v>
                </c:pt>
                <c:pt idx="28">
                  <c:v>0.14112000805986721</c:v>
                </c:pt>
                <c:pt idx="29">
                  <c:v>-0.10819513453010837</c:v>
                </c:pt>
                <c:pt idx="30">
                  <c:v>-0.35078322768961984</c:v>
                </c:pt>
                <c:pt idx="31">
                  <c:v>-0.57156131874234373</c:v>
                </c:pt>
                <c:pt idx="32">
                  <c:v>-0.7568024953079282</c:v>
                </c:pt>
                <c:pt idx="33">
                  <c:v>-0.8949893582285835</c:v>
                </c:pt>
                <c:pt idx="34">
                  <c:v>-0.97753011766509701</c:v>
                </c:pt>
                <c:pt idx="35">
                  <c:v>-0.99929278897537799</c:v>
                </c:pt>
                <c:pt idx="36">
                  <c:v>-0.95892427466313845</c:v>
                </c:pt>
                <c:pt idx="37">
                  <c:v>-0.85893449342659201</c:v>
                </c:pt>
                <c:pt idx="38">
                  <c:v>-0.70554032557039192</c:v>
                </c:pt>
                <c:pt idx="39">
                  <c:v>-0.50827907749925838</c:v>
                </c:pt>
                <c:pt idx="40">
                  <c:v>-0.27941549819892586</c:v>
                </c:pt>
              </c:numCache>
            </c:numRef>
          </c:val>
          <c:smooth val="0"/>
          <c:extLst>
            <c:ext xmlns:c16="http://schemas.microsoft.com/office/drawing/2014/chart" uri="{C3380CC4-5D6E-409C-BE32-E72D297353CC}">
              <c16:uniqueId val="{00000000-30BB-4383-B5AE-ADF23A2A8ABF}"/>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81922045361094"/>
          <c:y val="6.970411656207573E-2"/>
          <c:w val="0.92162893700787396"/>
          <c:h val="0.749416215551181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Sheet1!$A$2:$A$42</c:f>
              <c:numCache>
                <c:formatCode>General</c:formatCode>
                <c:ptCount val="41"/>
                <c:pt idx="0">
                  <c:v>-10</c:v>
                </c:pt>
                <c:pt idx="1">
                  <c:v>-9.5</c:v>
                </c:pt>
                <c:pt idx="2">
                  <c:v>-9</c:v>
                </c:pt>
                <c:pt idx="3">
                  <c:v>-8.5</c:v>
                </c:pt>
                <c:pt idx="4">
                  <c:v>-8</c:v>
                </c:pt>
                <c:pt idx="5">
                  <c:v>-7.5</c:v>
                </c:pt>
                <c:pt idx="6">
                  <c:v>-7</c:v>
                </c:pt>
                <c:pt idx="7">
                  <c:v>-6.5</c:v>
                </c:pt>
                <c:pt idx="8">
                  <c:v>-6</c:v>
                </c:pt>
                <c:pt idx="9">
                  <c:v>-5.5</c:v>
                </c:pt>
                <c:pt idx="10">
                  <c:v>-5</c:v>
                </c:pt>
                <c:pt idx="11">
                  <c:v>-4.5</c:v>
                </c:pt>
                <c:pt idx="12">
                  <c:v>-4</c:v>
                </c:pt>
                <c:pt idx="13">
                  <c:v>-3.5</c:v>
                </c:pt>
                <c:pt idx="14">
                  <c:v>-3</c:v>
                </c:pt>
                <c:pt idx="15">
                  <c:v>-2.5</c:v>
                </c:pt>
                <c:pt idx="16">
                  <c:v>-2</c:v>
                </c:pt>
                <c:pt idx="17">
                  <c:v>-1.5</c:v>
                </c:pt>
                <c:pt idx="18">
                  <c:v>-1</c:v>
                </c:pt>
                <c:pt idx="19">
                  <c:v>-0.5</c:v>
                </c:pt>
                <c:pt idx="20">
                  <c:v>0</c:v>
                </c:pt>
                <c:pt idx="21">
                  <c:v>0.5</c:v>
                </c:pt>
                <c:pt idx="22">
                  <c:v>1</c:v>
                </c:pt>
                <c:pt idx="23">
                  <c:v>1.5</c:v>
                </c:pt>
                <c:pt idx="24">
                  <c:v>2</c:v>
                </c:pt>
                <c:pt idx="25">
                  <c:v>2.5</c:v>
                </c:pt>
                <c:pt idx="26">
                  <c:v>3</c:v>
                </c:pt>
                <c:pt idx="27">
                  <c:v>3.5</c:v>
                </c:pt>
                <c:pt idx="28">
                  <c:v>4</c:v>
                </c:pt>
                <c:pt idx="29">
                  <c:v>4.5</c:v>
                </c:pt>
                <c:pt idx="30">
                  <c:v>5</c:v>
                </c:pt>
                <c:pt idx="31">
                  <c:v>5.5</c:v>
                </c:pt>
                <c:pt idx="32">
                  <c:v>6</c:v>
                </c:pt>
                <c:pt idx="33">
                  <c:v>6.5</c:v>
                </c:pt>
                <c:pt idx="34">
                  <c:v>7</c:v>
                </c:pt>
                <c:pt idx="35">
                  <c:v>7.5</c:v>
                </c:pt>
                <c:pt idx="36">
                  <c:v>8</c:v>
                </c:pt>
                <c:pt idx="37">
                  <c:v>8.5</c:v>
                </c:pt>
                <c:pt idx="38">
                  <c:v>9</c:v>
                </c:pt>
                <c:pt idx="39">
                  <c:v>9.5</c:v>
                </c:pt>
                <c:pt idx="40">
                  <c:v>10</c:v>
                </c:pt>
              </c:numCache>
            </c:numRef>
          </c:cat>
          <c:val>
            <c:numRef>
              <c:f>Sheet1!$B$2:$B$42</c:f>
              <c:numCache>
                <c:formatCode>General</c:formatCode>
                <c:ptCount val="41"/>
                <c:pt idx="0">
                  <c:v>1.2008236061972979</c:v>
                </c:pt>
                <c:pt idx="1">
                  <c:v>0.54671243920415302</c:v>
                </c:pt>
                <c:pt idx="2">
                  <c:v>-0.16133525755213676</c:v>
                </c:pt>
                <c:pt idx="3">
                  <c:v>-0.79029197809338181</c:v>
                </c:pt>
                <c:pt idx="4">
                  <c:v>-1.2304782546832491</c:v>
                </c:pt>
                <c:pt idx="5">
                  <c:v>-1.4196609688270707</c:v>
                </c:pt>
                <c:pt idx="6">
                  <c:v>-1.3554587428227456</c:v>
                </c:pt>
                <c:pt idx="7">
                  <c:v>-1.0931931849757368</c:v>
                </c:pt>
                <c:pt idx="8">
                  <c:v>-0.72988192862675583</c:v>
                </c:pt>
                <c:pt idx="9">
                  <c:v>-0.37844562130354498</c:v>
                </c:pt>
                <c:pt idx="10">
                  <c:v>-0.138570711940916</c:v>
                </c:pt>
                <c:pt idx="11">
                  <c:v>-7.1454501690489197E-2</c:v>
                </c:pt>
                <c:pt idx="12">
                  <c:v>-0.18466848949996831</c:v>
                </c:pt>
                <c:pt idx="13">
                  <c:v>-0.43085553233371432</c:v>
                </c:pt>
                <c:pt idx="14">
                  <c:v>-0.72054554666407022</c:v>
                </c:pt>
                <c:pt idx="15">
                  <c:v>-0.94587610335847949</c:v>
                </c:pt>
                <c:pt idx="16">
                  <c:v>-1.0092974268256818</c:v>
                </c:pt>
                <c:pt idx="17">
                  <c:v>-0.85009102734953146</c:v>
                </c:pt>
                <c:pt idx="18">
                  <c:v>-0.46204544620369348</c:v>
                </c:pt>
                <c:pt idx="19">
                  <c:v>0.10221322141913111</c:v>
                </c:pt>
                <c:pt idx="20">
                  <c:v>0.74147098480789653</c:v>
                </c:pt>
                <c:pt idx="21">
                  <c:v>1.3284101579597891</c:v>
                </c:pt>
                <c:pt idx="22">
                  <c:v>1.7389659714119508</c:v>
                </c:pt>
                <c:pt idx="23">
                  <c:v>1.8814809334779912</c:v>
                </c:pt>
                <c:pt idx="24">
                  <c:v>1.7185948536513633</c:v>
                </c:pt>
                <c:pt idx="25">
                  <c:v>1.2765453409918777</c:v>
                </c:pt>
                <c:pt idx="26">
                  <c:v>0.63959215216382381</c:v>
                </c:pt>
                <c:pt idx="27">
                  <c:v>-6.9122235637288171E-2</c:v>
                </c:pt>
                <c:pt idx="28">
                  <c:v>-0.71568248724806094</c:v>
                </c:pt>
                <c:pt idx="29">
                  <c:v>-1.1857252521952055</c:v>
                </c:pt>
                <c:pt idx="30">
                  <c:v>-1.4097075023527583</c:v>
                </c:pt>
                <c:pt idx="31">
                  <c:v>-1.3771016443127357</c:v>
                </c:pt>
                <c:pt idx="32">
                  <c:v>-1.1362179935068542</c:v>
                </c:pt>
                <c:pt idx="33">
                  <c:v>-0.77986937014076796</c:v>
                </c:pt>
                <c:pt idx="34">
                  <c:v>-0.42054351894630793</c:v>
                </c:pt>
                <c:pt idx="35">
                  <c:v>-0.1612928122006391</c:v>
                </c:pt>
                <c:pt idx="36">
                  <c:v>-6.9566028039756672E-2</c:v>
                </c:pt>
                <c:pt idx="37">
                  <c:v>-0.16044738080310175</c:v>
                </c:pt>
                <c:pt idx="38">
                  <c:v>-0.39342184032863536</c:v>
                </c:pt>
                <c:pt idx="39">
                  <c:v>-0.68343019796106763</c:v>
                </c:pt>
                <c:pt idx="40">
                  <c:v>-0.92343660908829561</c:v>
                </c:pt>
              </c:numCache>
            </c:numRef>
          </c:val>
          <c:smooth val="0"/>
          <c:extLst>
            <c:ext xmlns:c16="http://schemas.microsoft.com/office/drawing/2014/chart" uri="{C3380CC4-5D6E-409C-BE32-E72D297353CC}">
              <c16:uniqueId val="{00000000-C286-4B00-8F72-D3481D27A10B}"/>
            </c:ext>
          </c:extLst>
        </c:ser>
        <c:dLbls>
          <c:showLegendKey val="0"/>
          <c:showVal val="0"/>
          <c:showCatName val="0"/>
          <c:showSerName val="0"/>
          <c:showPercent val="0"/>
          <c:showBubbleSize val="0"/>
        </c:dLbls>
        <c:smooth val="0"/>
        <c:axId val="800987800"/>
        <c:axId val="800984520"/>
      </c:lineChart>
      <c:catAx>
        <c:axId val="800987800"/>
        <c:scaling>
          <c:orientation val="minMax"/>
        </c:scaling>
        <c:delete val="0"/>
        <c:axPos val="b"/>
        <c:majorGridlines>
          <c:spPr>
            <a:ln w="9525" cap="flat" cmpd="sng" algn="ctr">
              <a:solidFill>
                <a:schemeClr val="bg1"/>
              </a:solidFill>
              <a:round/>
            </a:ln>
            <a:effectLst/>
          </c:spPr>
        </c:majorGridlines>
        <c:numFmt formatCode="General" sourceLinked="1"/>
        <c:majorTickMark val="out"/>
        <c:minorTickMark val="none"/>
        <c:tickLblPos val="low"/>
        <c:spPr>
          <a:noFill/>
          <a:ln w="9525" cap="flat" cmpd="sng" algn="ctr">
            <a:solidFill>
              <a:schemeClr val="bg1"/>
            </a:solidFill>
            <a:round/>
          </a:ln>
          <a:effectLst/>
        </c:spPr>
        <c:txPr>
          <a:bodyPr rot="0" spcFirstLastPara="1" vertOverflow="ellipsis"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4520"/>
        <c:crosses val="autoZero"/>
        <c:auto val="1"/>
        <c:lblAlgn val="ctr"/>
        <c:lblOffset val="100"/>
        <c:tickMarkSkip val="4"/>
        <c:noMultiLvlLbl val="0"/>
      </c:catAx>
      <c:valAx>
        <c:axId val="800984520"/>
        <c:scaling>
          <c:orientation val="minMax"/>
          <c:max val="2"/>
          <c:min val="-2"/>
        </c:scaling>
        <c:delete val="0"/>
        <c:axPos val="l"/>
        <c:majorGridlines>
          <c:spPr>
            <a:ln w="9525" cap="flat" cmpd="sng" algn="ctr">
              <a:solidFill>
                <a:schemeClr val="bg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bg1"/>
                </a:solidFill>
                <a:latin typeface="Open Sans"/>
                <a:ea typeface="Noto Sans SC"/>
                <a:cs typeface="Open Sans"/>
              </a:defRPr>
            </a:pPr>
            <a:endParaRPr lang="en-US"/>
          </a:p>
        </c:txPr>
        <c:crossAx val="800987800"/>
        <c:crosses val="autoZero"/>
        <c:crossBetween val="midCat"/>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600">
          <a:solidFill>
            <a:schemeClr val="bg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9E3B-4188-B81E-B8763D56CC6B}"/>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619F-4960-A482-E2DC400C8ABE}"/>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763B-44BD-B901-522FCB32D600}"/>
            </c:ext>
          </c:extLst>
        </c:ser>
        <c:ser>
          <c:idx val="1"/>
          <c:order val="1"/>
          <c:tx>
            <c:strRef>
              <c:f>Sheet1!$C$1</c:f>
              <c:strCache>
                <c:ptCount val="1"/>
                <c:pt idx="0">
                  <c:v>New Y-Values</c:v>
                </c:pt>
              </c:strCache>
            </c:strRef>
          </c:tx>
          <c:spPr>
            <a:ln w="57150" cap="rnd">
              <a:noFill/>
              <a:round/>
            </a:ln>
            <a:effectLst/>
          </c:spPr>
          <c:marker>
            <c:symbol val="circle"/>
            <c:size val="9"/>
            <c:spPr>
              <a:solidFill>
                <a:srgbClr val="C00000"/>
              </a:solidFill>
              <a:ln w="57150">
                <a:noFill/>
              </a:ln>
              <a:effectLst/>
            </c:spPr>
          </c:marker>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Sheet1!$C$2:$C$11</c:f>
              <c:numCache>
                <c:formatCode>General</c:formatCode>
                <c:ptCount val="10"/>
                <c:pt idx="0">
                  <c:v>0</c:v>
                </c:pt>
                <c:pt idx="1">
                  <c:v>0.15</c:v>
                </c:pt>
                <c:pt idx="2">
                  <c:v>0.4</c:v>
                </c:pt>
                <c:pt idx="3">
                  <c:v>0.3</c:v>
                </c:pt>
                <c:pt idx="4">
                  <c:v>0.6</c:v>
                </c:pt>
                <c:pt idx="5">
                  <c:v>0.5</c:v>
                </c:pt>
                <c:pt idx="6">
                  <c:v>0.6</c:v>
                </c:pt>
                <c:pt idx="7">
                  <c:v>0.6</c:v>
                </c:pt>
                <c:pt idx="8">
                  <c:v>0.75</c:v>
                </c:pt>
                <c:pt idx="9">
                  <c:v>0.85</c:v>
                </c:pt>
              </c:numCache>
            </c:numRef>
          </c:yVal>
          <c:smooth val="0"/>
          <c:extLst>
            <c:ext xmlns:c16="http://schemas.microsoft.com/office/drawing/2014/chart" uri="{C3380CC4-5D6E-409C-BE32-E72D297353CC}">
              <c16:uniqueId val="{00000002-763B-44BD-B901-522FCB32D600}"/>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57150" cap="rnd">
              <a:noFill/>
              <a:round/>
            </a:ln>
            <a:effectLst/>
          </c:spPr>
          <c:marker>
            <c:symbol val="circle"/>
            <c:size val="9"/>
            <c:spPr>
              <a:solidFill>
                <a:schemeClr val="accent6">
                  <a:lumMod val="75000"/>
                </a:schemeClr>
              </a:solidFill>
              <a:ln w="57150">
                <a:noFill/>
              </a:ln>
              <a:effectLst/>
            </c:spPr>
          </c:marker>
          <c:trendline>
            <c:spPr>
              <a:ln w="57150" cap="rnd">
                <a:solidFill>
                  <a:srgbClr val="83BA24">
                    <a:alpha val="0"/>
                  </a:srgbClr>
                </a:solidFill>
                <a:prstDash val="solid"/>
              </a:ln>
              <a:effectLst/>
            </c:spPr>
            <c:trendlineType val="linear"/>
            <c:dispRSqr val="0"/>
            <c:dispEq val="0"/>
          </c:trendline>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Sheet1!$B$2:$B$11</c:f>
              <c:numCache>
                <c:formatCode>General</c:formatCode>
                <c:ptCount val="10"/>
                <c:pt idx="0">
                  <c:v>0.2</c:v>
                </c:pt>
                <c:pt idx="1">
                  <c:v>0.1</c:v>
                </c:pt>
                <c:pt idx="2">
                  <c:v>0.2</c:v>
                </c:pt>
                <c:pt idx="3">
                  <c:v>0.5</c:v>
                </c:pt>
                <c:pt idx="4">
                  <c:v>0.3</c:v>
                </c:pt>
                <c:pt idx="5">
                  <c:v>0.7</c:v>
                </c:pt>
                <c:pt idx="6">
                  <c:v>0.5</c:v>
                </c:pt>
                <c:pt idx="7">
                  <c:v>0.8</c:v>
                </c:pt>
                <c:pt idx="8">
                  <c:v>0.7</c:v>
                </c:pt>
                <c:pt idx="9">
                  <c:v>0.8</c:v>
                </c:pt>
              </c:numCache>
            </c:numRef>
          </c:yVal>
          <c:smooth val="0"/>
          <c:extLst>
            <c:ext xmlns:c16="http://schemas.microsoft.com/office/drawing/2014/chart" uri="{C3380CC4-5D6E-409C-BE32-E72D297353CC}">
              <c16:uniqueId val="{00000001-0F94-4224-975C-24F8491D7792}"/>
            </c:ext>
          </c:extLst>
        </c:ser>
        <c:ser>
          <c:idx val="1"/>
          <c:order val="1"/>
          <c:tx>
            <c:strRef>
              <c:f>Sheet1!$C$1</c:f>
              <c:strCache>
                <c:ptCount val="1"/>
                <c:pt idx="0">
                  <c:v>New Y-Values</c:v>
                </c:pt>
              </c:strCache>
            </c:strRef>
          </c:tx>
          <c:spPr>
            <a:ln w="57150" cap="rnd">
              <a:noFill/>
              <a:round/>
            </a:ln>
            <a:effectLst/>
          </c:spPr>
          <c:marker>
            <c:symbol val="circle"/>
            <c:size val="9"/>
            <c:spPr>
              <a:solidFill>
                <a:srgbClr val="C00000"/>
              </a:solidFill>
              <a:ln w="57150">
                <a:noFill/>
              </a:ln>
              <a:effectLst/>
            </c:spPr>
          </c:marker>
          <c:xVal>
            <c:numRef>
              <c:f>Sheet1!$A$2:$A$11</c:f>
              <c:numCache>
                <c:formatCode>General</c:formatCode>
                <c:ptCount val="10"/>
                <c:pt idx="0">
                  <c:v>0.1</c:v>
                </c:pt>
                <c:pt idx="1">
                  <c:v>0.2</c:v>
                </c:pt>
                <c:pt idx="2">
                  <c:v>0.3</c:v>
                </c:pt>
                <c:pt idx="3">
                  <c:v>0.4</c:v>
                </c:pt>
                <c:pt idx="4">
                  <c:v>0.5</c:v>
                </c:pt>
                <c:pt idx="5">
                  <c:v>0.6</c:v>
                </c:pt>
                <c:pt idx="6">
                  <c:v>0.55000000000000004</c:v>
                </c:pt>
                <c:pt idx="7">
                  <c:v>0.7</c:v>
                </c:pt>
                <c:pt idx="8">
                  <c:v>0.8</c:v>
                </c:pt>
                <c:pt idx="9">
                  <c:v>0.9</c:v>
                </c:pt>
              </c:numCache>
            </c:numRef>
          </c:xVal>
          <c:yVal>
            <c:numRef>
              <c:f>Sheet1!$C$2:$C$11</c:f>
              <c:numCache>
                <c:formatCode>General</c:formatCode>
                <c:ptCount val="10"/>
                <c:pt idx="0">
                  <c:v>0</c:v>
                </c:pt>
                <c:pt idx="1">
                  <c:v>0.15</c:v>
                </c:pt>
                <c:pt idx="2">
                  <c:v>0.4</c:v>
                </c:pt>
                <c:pt idx="3">
                  <c:v>0.3</c:v>
                </c:pt>
                <c:pt idx="4">
                  <c:v>0.6</c:v>
                </c:pt>
                <c:pt idx="5">
                  <c:v>0.5</c:v>
                </c:pt>
                <c:pt idx="6">
                  <c:v>0.6</c:v>
                </c:pt>
                <c:pt idx="7">
                  <c:v>0.6</c:v>
                </c:pt>
                <c:pt idx="8">
                  <c:v>0.75</c:v>
                </c:pt>
                <c:pt idx="9">
                  <c:v>0.85</c:v>
                </c:pt>
              </c:numCache>
            </c:numRef>
          </c:yVal>
          <c:smooth val="0"/>
          <c:extLst>
            <c:ext xmlns:c16="http://schemas.microsoft.com/office/drawing/2014/chart" uri="{C3380CC4-5D6E-409C-BE32-E72D297353CC}">
              <c16:uniqueId val="{00000002-0F94-4224-975C-24F8491D7792}"/>
            </c:ext>
          </c:extLst>
        </c:ser>
        <c:dLbls>
          <c:showLegendKey val="0"/>
          <c:showVal val="0"/>
          <c:showCatName val="0"/>
          <c:showSerName val="0"/>
          <c:showPercent val="0"/>
          <c:showBubbleSize val="0"/>
        </c:dLbls>
        <c:axId val="965979152"/>
        <c:axId val="965974560"/>
      </c:scatterChart>
      <c:valAx>
        <c:axId val="965979152"/>
        <c:scaling>
          <c:orientation val="minMax"/>
        </c:scaling>
        <c:delete val="0"/>
        <c:axPos val="b"/>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4560"/>
        <c:crosses val="autoZero"/>
        <c:crossBetween val="midCat"/>
      </c:valAx>
      <c:valAx>
        <c:axId val="965974560"/>
        <c:scaling>
          <c:orientation val="minMax"/>
        </c:scaling>
        <c:delete val="0"/>
        <c:axPos val="l"/>
        <c:majorGridlines>
          <c:spPr>
            <a:ln w="9525" cap="flat" cmpd="sng" algn="ctr">
              <a:solidFill>
                <a:schemeClr val="bg2">
                  <a:lumMod val="20000"/>
                  <a:lumOff val="80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Open Sans"/>
                <a:ea typeface="Noto Sans SC"/>
                <a:cs typeface="Open Sans"/>
              </a:defRPr>
            </a:pPr>
            <a:endParaRPr lang="en-US"/>
          </a:p>
        </c:txPr>
        <c:crossAx val="965979152"/>
        <c:crosses val="autoZero"/>
        <c:crossBetween val="midCat"/>
      </c:valAx>
      <c:spPr>
        <a:solidFill>
          <a:schemeClr val="tx1"/>
        </a:solidFill>
        <a:ln>
          <a:solidFill>
            <a:schemeClr val="bg2">
              <a:lumMod val="20000"/>
              <a:lumOff val="80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2">
          <a:lumMod val="40000"/>
          <a:lumOff val="60000"/>
        </a:schemeClr>
      </a:solidFill>
    </a:ln>
    <a:effectLst/>
  </c:spPr>
  <c:txPr>
    <a:bodyPr/>
    <a:lstStyle/>
    <a:p>
      <a:pPr>
        <a:defRPr>
          <a:solidFill>
            <a:sysClr val="windowText" lastClr="000000"/>
          </a:solidFill>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Open Sans"/>
                <a:ea typeface="Noto Sans SC"/>
                <a:cs typeface="Open Sans"/>
              </a:defRPr>
            </a:pPr>
            <a:r>
              <a:rPr lang="zh-CN" altLang="en-US" noProof="0" dirty="0">
                <a:latin typeface="Open Sans" panose="02010609060101010101" pitchFamily="49" charset="-122"/>
                <a:ea typeface="Noto Sans SC" panose="02010609060101010101" pitchFamily="49" charset="-122"/>
              </a:rPr>
              <a:t>每个训练周期的</a:t>
            </a:r>
            <a:r>
              <a:rPr lang="en-US" dirty="0"/>
              <a:t> MSE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Open Sans"/>
              <a:ea typeface="Noto Sans SC"/>
              <a:cs typeface="Open Sans"/>
            </a:defRPr>
          </a:pPr>
          <a:endParaRPr lang="en-US"/>
        </a:p>
      </c:txPr>
    </c:title>
    <c:autoTitleDeleted val="0"/>
    <c:plotArea>
      <c:layout>
        <c:manualLayout>
          <c:layoutTarget val="inner"/>
          <c:xMode val="edge"/>
          <c:yMode val="edge"/>
          <c:x val="0.16610492653935499"/>
          <c:y val="0.14956991377249751"/>
          <c:w val="0.80017859836485961"/>
          <c:h val="0.44243799631718267"/>
        </c:manualLayout>
      </c:layout>
      <c:lineChart>
        <c:grouping val="standard"/>
        <c:varyColors val="0"/>
        <c:ser>
          <c:idx val="0"/>
          <c:order val="0"/>
          <c:tx>
            <c:strRef>
              <c:f>Sheet1!$B$1</c:f>
              <c:strCache>
                <c:ptCount val="1"/>
                <c:pt idx="0">
                  <c:v>训练 MSE</c:v>
                </c:pt>
              </c:strCache>
            </c:strRef>
          </c:tx>
          <c:spPr>
            <a:ln w="28575" cap="rnd">
              <a:solidFill>
                <a:schemeClr val="accent1"/>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51.2</c:v>
                </c:pt>
                <c:pt idx="1">
                  <c:v>25.6</c:v>
                </c:pt>
                <c:pt idx="2">
                  <c:v>12.8</c:v>
                </c:pt>
                <c:pt idx="3">
                  <c:v>6.4</c:v>
                </c:pt>
                <c:pt idx="4">
                  <c:v>3.2</c:v>
                </c:pt>
                <c:pt idx="5">
                  <c:v>1.6</c:v>
                </c:pt>
                <c:pt idx="6">
                  <c:v>0.8</c:v>
                </c:pt>
                <c:pt idx="7">
                  <c:v>0.4</c:v>
                </c:pt>
                <c:pt idx="8">
                  <c:v>0.2</c:v>
                </c:pt>
                <c:pt idx="9">
                  <c:v>0.1</c:v>
                </c:pt>
              </c:numCache>
            </c:numRef>
          </c:val>
          <c:smooth val="1"/>
          <c:extLst>
            <c:ext xmlns:c16="http://schemas.microsoft.com/office/drawing/2014/chart" uri="{C3380CC4-5D6E-409C-BE32-E72D297353CC}">
              <c16:uniqueId val="{00000000-1566-409F-AD13-05B39CCAF5BF}"/>
            </c:ext>
          </c:extLst>
        </c:ser>
        <c:ser>
          <c:idx val="1"/>
          <c:order val="1"/>
          <c:tx>
            <c:strRef>
              <c:f>Sheet1!$C$1</c:f>
              <c:strCache>
                <c:ptCount val="1"/>
                <c:pt idx="0">
                  <c:v>验证 MSE – 预期结果</c:v>
                </c:pt>
              </c:strCache>
            </c:strRef>
          </c:tx>
          <c:spPr>
            <a:ln w="28575" cap="rnd">
              <a:solidFill>
                <a:schemeClr val="tx2">
                  <a:lumMod val="75000"/>
                </a:schemeClr>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55</c:v>
                </c:pt>
                <c:pt idx="1">
                  <c:v>30</c:v>
                </c:pt>
                <c:pt idx="2">
                  <c:v>18</c:v>
                </c:pt>
                <c:pt idx="3">
                  <c:v>10</c:v>
                </c:pt>
                <c:pt idx="4">
                  <c:v>5</c:v>
                </c:pt>
                <c:pt idx="5">
                  <c:v>3</c:v>
                </c:pt>
                <c:pt idx="6">
                  <c:v>2</c:v>
                </c:pt>
                <c:pt idx="7">
                  <c:v>1.5</c:v>
                </c:pt>
                <c:pt idx="8">
                  <c:v>1</c:v>
                </c:pt>
                <c:pt idx="9">
                  <c:v>0.75</c:v>
                </c:pt>
              </c:numCache>
            </c:numRef>
          </c:val>
          <c:smooth val="1"/>
          <c:extLst>
            <c:ext xmlns:c16="http://schemas.microsoft.com/office/drawing/2014/chart" uri="{C3380CC4-5D6E-409C-BE32-E72D297353CC}">
              <c16:uniqueId val="{00000001-1566-409F-AD13-05B39CCAF5BF}"/>
            </c:ext>
          </c:extLst>
        </c:ser>
        <c:ser>
          <c:idx val="2"/>
          <c:order val="2"/>
          <c:tx>
            <c:strRef>
              <c:f>Sheet1!$D$1</c:f>
              <c:strCache>
                <c:ptCount val="1"/>
                <c:pt idx="0">
                  <c:v>验证 MSE – 过拟合</c:v>
                </c:pt>
              </c:strCache>
            </c:strRef>
          </c:tx>
          <c:spPr>
            <a:ln w="28575" cap="rnd">
              <a:solidFill>
                <a:schemeClr val="accent3"/>
              </a:solidFill>
              <a:round/>
            </a:ln>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55</c:v>
                </c:pt>
                <c:pt idx="1">
                  <c:v>30</c:v>
                </c:pt>
                <c:pt idx="2">
                  <c:v>18</c:v>
                </c:pt>
                <c:pt idx="3">
                  <c:v>10</c:v>
                </c:pt>
                <c:pt idx="4">
                  <c:v>7</c:v>
                </c:pt>
                <c:pt idx="5">
                  <c:v>10</c:v>
                </c:pt>
                <c:pt idx="6">
                  <c:v>15</c:v>
                </c:pt>
                <c:pt idx="7">
                  <c:v>20</c:v>
                </c:pt>
                <c:pt idx="8">
                  <c:v>30</c:v>
                </c:pt>
                <c:pt idx="9">
                  <c:v>40</c:v>
                </c:pt>
              </c:numCache>
            </c:numRef>
          </c:val>
          <c:smooth val="1"/>
          <c:extLst>
            <c:ext xmlns:c16="http://schemas.microsoft.com/office/drawing/2014/chart" uri="{C3380CC4-5D6E-409C-BE32-E72D297353CC}">
              <c16:uniqueId val="{00000002-1566-409F-AD13-05B39CCAF5BF}"/>
            </c:ext>
          </c:extLst>
        </c:ser>
        <c:dLbls>
          <c:showLegendKey val="0"/>
          <c:showVal val="0"/>
          <c:showCatName val="0"/>
          <c:showSerName val="0"/>
          <c:showPercent val="0"/>
          <c:showBubbleSize val="0"/>
        </c:dLbls>
        <c:smooth val="0"/>
        <c:axId val="967265352"/>
        <c:axId val="967265680"/>
      </c:lineChart>
      <c:catAx>
        <c:axId val="967265352"/>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solidFill>
                    <a:latin typeface="Open Sans" panose="020B0503020204020204" pitchFamily="34" charset="-122"/>
                    <a:ea typeface="Noto Sans SC" panose="020B0503020204020204" pitchFamily="34" charset="-122"/>
                    <a:cs typeface="Open Sans"/>
                  </a:defRPr>
                </a:pPr>
                <a:r>
                  <a:rPr lang="zh-CN" altLang="en-US" noProof="0" dirty="0">
                    <a:latin typeface="Open Sans" panose="02010609060101010101" pitchFamily="49" charset="-122"/>
                    <a:ea typeface="Noto Sans SC" panose="02010609060101010101" pitchFamily="49" charset="-122"/>
                  </a:rPr>
                  <a:t>训练周期</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bg1"/>
                  </a:solidFill>
                  <a:latin typeface="Open Sans" panose="020B0503020204020204" pitchFamily="34" charset="-122"/>
                  <a:ea typeface="Noto Sans SC" panose="020B0503020204020204" pitchFamily="34" charset="-122"/>
                  <a:cs typeface="Open San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Open Sans"/>
                <a:ea typeface="Noto Sans SC"/>
                <a:cs typeface="Open Sans"/>
              </a:defRPr>
            </a:pPr>
            <a:endParaRPr lang="en-US"/>
          </a:p>
        </c:txPr>
        <c:crossAx val="967265680"/>
        <c:crosses val="autoZero"/>
        <c:auto val="1"/>
        <c:lblAlgn val="ctr"/>
        <c:lblOffset val="100"/>
        <c:noMultiLvlLbl val="0"/>
      </c:catAx>
      <c:valAx>
        <c:axId val="96726568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bg1"/>
                    </a:solidFill>
                    <a:latin typeface="Open Sans"/>
                    <a:ea typeface="Noto Sans SC"/>
                    <a:cs typeface="Open Sans"/>
                  </a:defRPr>
                </a:pPr>
                <a:r>
                  <a:rPr lang="en-US"/>
                  <a:t>MSE</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Open Sans"/>
                  <a:ea typeface="Noto Sans SC"/>
                  <a:cs typeface="Open San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Open Sans"/>
                <a:ea typeface="Noto Sans SC"/>
                <a:cs typeface="Open Sans"/>
              </a:defRPr>
            </a:pPr>
            <a:endParaRPr lang="en-US"/>
          </a:p>
        </c:txPr>
        <c:crossAx val="96726535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400" b="0" i="0" u="none" strike="noStrike" kern="1200" baseline="0" noProof="0">
                <a:solidFill>
                  <a:schemeClr val="bg1"/>
                </a:solidFill>
                <a:latin typeface="Open Sans" panose="020B0603020202020204" pitchFamily="34" charset="0"/>
                <a:ea typeface="Noto Sans SC" panose="02010609060101010101" pitchFamily="49" charset="-122"/>
                <a:cs typeface="Open Sans"/>
              </a:defRPr>
            </a:pPr>
            <a:endParaRPr lang="en-US"/>
          </a:p>
        </c:txPr>
      </c:legendEntry>
      <c:legendEntry>
        <c:idx val="1"/>
        <c:txPr>
          <a:bodyPr rot="0" spcFirstLastPara="1" vertOverflow="ellipsis" vert="horz" wrap="square" anchor="ctr" anchorCtr="1"/>
          <a:lstStyle/>
          <a:p>
            <a:pPr>
              <a:defRPr lang="zh-CN" sz="1400" b="0" i="0" u="none" strike="noStrike" kern="1200" baseline="0" noProof="0">
                <a:solidFill>
                  <a:schemeClr val="bg1"/>
                </a:solidFill>
                <a:latin typeface="Open Sans" panose="020B0603020202020204" pitchFamily="34" charset="0"/>
                <a:ea typeface="Noto Sans SC" panose="02010609060101010101" pitchFamily="49" charset="-122"/>
                <a:cs typeface="Open Sans"/>
              </a:defRPr>
            </a:pPr>
            <a:endParaRPr lang="en-US"/>
          </a:p>
        </c:txPr>
      </c:legendEntry>
      <c:legendEntry>
        <c:idx val="2"/>
        <c:txPr>
          <a:bodyPr rot="0" spcFirstLastPara="1" vertOverflow="ellipsis" vert="horz" wrap="square" anchor="ctr" anchorCtr="1"/>
          <a:lstStyle/>
          <a:p>
            <a:pPr>
              <a:defRPr lang="zh-CN" sz="1400" b="0" i="0" u="none" strike="noStrike" kern="1200" baseline="0" noProof="0">
                <a:solidFill>
                  <a:schemeClr val="bg1"/>
                </a:solidFill>
                <a:latin typeface="Open Sans" panose="020B0603020202020204" pitchFamily="34" charset="0"/>
                <a:ea typeface="Noto Sans SC" panose="02010609060101010101" pitchFamily="49" charset="-122"/>
                <a:cs typeface="Open Sans"/>
              </a:defRPr>
            </a:pPr>
            <a:endParaRPr lang="en-US"/>
          </a:p>
        </c:txPr>
      </c:legendEntry>
      <c:layout>
        <c:manualLayout>
          <c:xMode val="edge"/>
          <c:yMode val="edge"/>
          <c:x val="5.0000043541339016E-2"/>
          <c:y val="0.84953968289205739"/>
          <c:w val="0.89999991291732195"/>
          <c:h val="0.1298309201631509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Open Sans" panose="020B0503020204020204" pitchFamily="34" charset="-122"/>
              <a:ea typeface="Noto Sans SC" panose="020B0503020204020204" pitchFamily="34" charset="-122"/>
              <a:cs typeface="Open San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solidFill>
    </a:ln>
    <a:effectLst/>
  </c:spPr>
  <c:txPr>
    <a:bodyPr/>
    <a:lstStyle/>
    <a:p>
      <a:pPr>
        <a:defRPr>
          <a:solidFill>
            <a:schemeClr val="bg1"/>
          </a:solidFill>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BC23-40EF-B9D9-EA79FC1337A5}"/>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4-BC23-40EF-B9D9-EA79FC1337A5}"/>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EA73-47A4-AB00-7DCE4819E4F2}"/>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EA73-47A4-AB00-7DCE4819E4F2}"/>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2B7-4B88-AEED-4EBFC5D60EFD}"/>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2B7-4B88-AEED-4EBFC5D60E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000000"/>
                </a:solidFill>
                <a:latin typeface="Open Sans"/>
                <a:ea typeface="Noto Sans SC"/>
                <a:cs typeface="Open Sans"/>
              </a:defRPr>
            </a:pPr>
            <a:r>
              <a:rPr lang="zh-CN" altLang="en-US" sz="1800" noProof="0" dirty="0">
                <a:latin typeface="Open Sans" panose="02010609060101010101" pitchFamily="49" charset="-122"/>
                <a:ea typeface="Noto Sans SC" panose="02010609060101010101" pitchFamily="49" charset="-122"/>
              </a:rPr>
              <a:t>多分类交叉熵蓝点预测</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rgbClr val="000000"/>
              </a:solidFill>
              <a:latin typeface="Open Sans"/>
              <a:ea typeface="Noto Sans SC"/>
              <a:cs typeface="Open Sans"/>
            </a:defRPr>
          </a:pPr>
          <a:endParaRPr lang="en-US"/>
        </a:p>
      </c:txPr>
    </c:title>
    <c:autoTitleDeleted val="0"/>
    <c:plotArea>
      <c:layout/>
      <c:lineChart>
        <c:grouping val="standard"/>
        <c:varyColors val="0"/>
        <c:ser>
          <c:idx val="0"/>
          <c:order val="0"/>
          <c:tx>
            <c:strRef>
              <c:f>Sheet1!$B$1</c:f>
              <c:strCache>
                <c:ptCount val="1"/>
                <c:pt idx="0">
                  <c:v>若为 True 的损失</c:v>
                </c:pt>
              </c:strCache>
            </c:strRef>
          </c:tx>
          <c:spPr>
            <a:ln w="63500" cap="rnd">
              <a:solidFill>
                <a:schemeClr val="accent1"/>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40C5-4E26-9A25-00DC0E6902FA}"/>
            </c:ext>
          </c:extLst>
        </c:ser>
        <c:ser>
          <c:idx val="1"/>
          <c:order val="1"/>
          <c:tx>
            <c:strRef>
              <c:f>Sheet1!$C$1</c:f>
              <c:strCache>
                <c:ptCount val="1"/>
                <c:pt idx="0">
                  <c:v>若为 False 的损失</c:v>
                </c:pt>
              </c:strCache>
            </c:strRef>
          </c:tx>
          <c:spPr>
            <a:ln w="53975" cap="rnd">
              <a:solidFill>
                <a:schemeClr val="accent3"/>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40C5-4E26-9A25-00DC0E6902FA}"/>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ctr" anchorCtr="1"/>
              <a:lstStyle/>
              <a:p>
                <a:pPr>
                  <a:defRPr sz="1600" b="0" i="0" u="none" strike="noStrike" kern="1200" baseline="0">
                    <a:solidFill>
                      <a:srgbClr val="000000"/>
                    </a:solidFill>
                    <a:latin typeface="Open Sans"/>
                    <a:ea typeface="Noto Sans SC"/>
                    <a:cs typeface="Open Sans"/>
                  </a:defRPr>
                </a:pPr>
                <a:r>
                  <a:rPr lang="zh-CN" altLang="en-US" sz="1600" noProof="0" dirty="0">
                    <a:latin typeface="Open Sans"/>
                    <a:ea typeface="Noto Sans SC"/>
                  </a:rPr>
                  <a:t>分配的概率</a:t>
                </a:r>
              </a:p>
            </c:rich>
          </c:tx>
          <c:layout>
            <c:manualLayout>
              <c:xMode val="edge"/>
              <c:yMode val="edge"/>
              <c:x val="0.39674691053975147"/>
              <c:y val="0.71938608096548018"/>
            </c:manualLayout>
          </c:layout>
          <c:overlay val="0"/>
          <c:spPr>
            <a:noFill/>
            <a:ln>
              <a:noFill/>
            </a:ln>
            <a:effectLst/>
          </c:spPr>
          <c:txPr>
            <a:bodyPr rot="0" spcFirstLastPara="1" vertOverflow="ellipsis" vert="horz" wrap="square" anchor="ctr" anchorCtr="1"/>
            <a:lstStyle/>
            <a:p>
              <a:pPr>
                <a:defRPr sz="1600" b="0" i="0" u="none" strike="noStrike" kern="1200" baseline="0">
                  <a:solidFill>
                    <a:srgbClr val="000000"/>
                  </a:solidFill>
                  <a:latin typeface="Open Sans"/>
                  <a:ea typeface="Noto Sans SC"/>
                  <a:cs typeface="Open Sans"/>
                </a:defRPr>
              </a:pPr>
              <a:endParaRPr lang="en-US"/>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rgbClr val="000000"/>
                </a:solidFill>
                <a:latin typeface="Open Sans"/>
                <a:ea typeface="Noto Sans SC"/>
                <a:cs typeface="Open Sans"/>
              </a:defRPr>
            </a:pPr>
            <a:endParaRPr lang="en-US"/>
          </a:p>
        </c:txPr>
        <c:crossAx val="967254528"/>
        <c:crosses val="autoZero"/>
        <c:auto val="1"/>
        <c:lblAlgn val="ctr"/>
        <c:lblOffset val="100"/>
        <c:noMultiLvlLbl val="0"/>
      </c:catAx>
      <c:valAx>
        <c:axId val="9672545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rgbClr val="000000"/>
                    </a:solidFill>
                    <a:latin typeface="Open Sans" panose="020B0503020204020204" pitchFamily="34" charset="-122"/>
                    <a:ea typeface="Noto Sans SC" panose="020B0503020204020204" pitchFamily="34" charset="-122"/>
                    <a:cs typeface="Open Sans"/>
                  </a:defRPr>
                </a:pPr>
                <a:r>
                  <a:rPr lang="zh-CN" altLang="en-US" sz="1600" noProof="0" dirty="0">
                    <a:latin typeface="Open Sans" panose="02010609060101010101" pitchFamily="49" charset="-122"/>
                    <a:ea typeface="Noto Sans SC" panose="02010609060101010101" pitchFamily="49" charset="-122"/>
                  </a:rPr>
                  <a:t>损失</a:t>
                </a:r>
              </a:p>
            </c:rich>
          </c:tx>
          <c:layout>
            <c:manualLayout>
              <c:xMode val="edge"/>
              <c:yMode val="edge"/>
              <c:x val="4.0287276833864155E-2"/>
              <c:y val="0.3495753694354054"/>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rgbClr val="000000"/>
                  </a:solidFill>
                  <a:latin typeface="Open Sans" panose="020B0503020204020204" pitchFamily="34" charset="-122"/>
                  <a:ea typeface="Noto Sans SC" panose="020B0503020204020204" pitchFamily="34" charset="-122"/>
                  <a:cs typeface="Open San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rgbClr val="000000"/>
                </a:solidFill>
                <a:latin typeface="Open Sans"/>
                <a:ea typeface="Noto Sans SC"/>
                <a:cs typeface="Open Sans"/>
              </a:defRPr>
            </a:pPr>
            <a:endParaRPr lang="en-US"/>
          </a:p>
        </c:txPr>
        <c:crossAx val="96725682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rgbClr val="000000"/>
                </a:solidFill>
                <a:latin typeface="Open Sans" panose="020B0603020202020204" pitchFamily="34" charset="0"/>
                <a:ea typeface="Noto Sans SC" panose="02010609060101010101" pitchFamily="49" charset="-122"/>
                <a:cs typeface="Open Sans"/>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0000"/>
                </a:solidFill>
                <a:latin typeface="Open Sans" panose="020B0603020202020204" pitchFamily="34" charset="0"/>
                <a:ea typeface="Noto Sans SC" panose="02010609060101010101" pitchFamily="49" charset="-122"/>
                <a:cs typeface="Open Sans"/>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rgbClr val="000000"/>
              </a:solidFill>
              <a:latin typeface="Open Sans" panose="020B0503020204020204" pitchFamily="34" charset="-122"/>
              <a:ea typeface="Noto Sans SC" panose="020B0503020204020204" pitchFamily="34" charset="-122"/>
              <a:cs typeface="Open San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0000"/>
          </a:solidFill>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2B7-4B88-AEED-4EBFC5D60EFD}"/>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2B7-4B88-AEED-4EBFC5D60E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000000"/>
                </a:solidFill>
                <a:latin typeface="Open Sans"/>
                <a:ea typeface="Noto Sans SC"/>
                <a:cs typeface="Open Sans"/>
              </a:defRPr>
            </a:pPr>
            <a:r>
              <a:rPr lang="zh-CN" altLang="en-US" sz="1800" noProof="0" dirty="0">
                <a:latin typeface="Open Sans" panose="02010609060101010101" pitchFamily="49" charset="-122"/>
                <a:ea typeface="Noto Sans SC" panose="02010609060101010101" pitchFamily="49" charset="-122"/>
              </a:rPr>
              <a:t>多分类交叉熵蓝点预测</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rgbClr val="000000"/>
              </a:solidFill>
              <a:latin typeface="Open Sans"/>
              <a:ea typeface="Noto Sans SC"/>
              <a:cs typeface="Open Sans"/>
            </a:defRPr>
          </a:pPr>
          <a:endParaRPr lang="en-US"/>
        </a:p>
      </c:txPr>
    </c:title>
    <c:autoTitleDeleted val="0"/>
    <c:plotArea>
      <c:layout/>
      <c:lineChart>
        <c:grouping val="standard"/>
        <c:varyColors val="0"/>
        <c:ser>
          <c:idx val="0"/>
          <c:order val="0"/>
          <c:tx>
            <c:strRef>
              <c:f>Sheet1!$B$1</c:f>
              <c:strCache>
                <c:ptCount val="1"/>
                <c:pt idx="0">
                  <c:v>若为 True 的损失</c:v>
                </c:pt>
              </c:strCache>
            </c:strRef>
          </c:tx>
          <c:spPr>
            <a:ln w="63500" cap="rnd">
              <a:solidFill>
                <a:schemeClr val="accent1"/>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5355-44AD-9B28-4E45A240D393}"/>
            </c:ext>
          </c:extLst>
        </c:ser>
        <c:ser>
          <c:idx val="1"/>
          <c:order val="1"/>
          <c:tx>
            <c:strRef>
              <c:f>Sheet1!$C$1</c:f>
              <c:strCache>
                <c:ptCount val="1"/>
                <c:pt idx="0">
                  <c:v>若为 False 的损失</c:v>
                </c:pt>
              </c:strCache>
            </c:strRef>
          </c:tx>
          <c:spPr>
            <a:ln w="53975" cap="rnd">
              <a:solidFill>
                <a:schemeClr val="accent3"/>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5355-44AD-9B28-4E45A240D393}"/>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ctr" anchorCtr="1"/>
              <a:lstStyle/>
              <a:p>
                <a:pPr>
                  <a:defRPr sz="1600" b="0" i="0" u="none" strike="noStrike" kern="1200" baseline="0">
                    <a:solidFill>
                      <a:srgbClr val="000000"/>
                    </a:solidFill>
                    <a:latin typeface="Open Sans"/>
                    <a:ea typeface="Noto Sans SC"/>
                    <a:cs typeface="Open Sans"/>
                  </a:defRPr>
                </a:pPr>
                <a:r>
                  <a:rPr lang="zh-CN" altLang="en-US" sz="1600" noProof="0" dirty="0">
                    <a:latin typeface="Open Sans"/>
                    <a:ea typeface="Noto Sans SC"/>
                  </a:rPr>
                  <a:t>分配的概率</a:t>
                </a:r>
              </a:p>
            </c:rich>
          </c:tx>
          <c:layout>
            <c:manualLayout>
              <c:xMode val="edge"/>
              <c:yMode val="edge"/>
              <c:x val="0.39674691053975147"/>
              <c:y val="0.71938608096548018"/>
            </c:manualLayout>
          </c:layout>
          <c:overlay val="0"/>
          <c:spPr>
            <a:noFill/>
            <a:ln>
              <a:noFill/>
            </a:ln>
            <a:effectLst/>
          </c:spPr>
          <c:txPr>
            <a:bodyPr rot="0" spcFirstLastPara="1" vertOverflow="ellipsis" vert="horz" wrap="square" anchor="ctr" anchorCtr="1"/>
            <a:lstStyle/>
            <a:p>
              <a:pPr>
                <a:defRPr sz="1600" b="0" i="0" u="none" strike="noStrike" kern="1200" baseline="0">
                  <a:solidFill>
                    <a:srgbClr val="000000"/>
                  </a:solidFill>
                  <a:latin typeface="Open Sans"/>
                  <a:ea typeface="Noto Sans SC"/>
                  <a:cs typeface="Open Sans"/>
                </a:defRPr>
              </a:pPr>
              <a:endParaRPr lang="en-US"/>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rgbClr val="000000"/>
                </a:solidFill>
                <a:latin typeface="Open Sans"/>
                <a:ea typeface="Noto Sans SC"/>
                <a:cs typeface="Open Sans"/>
              </a:defRPr>
            </a:pPr>
            <a:endParaRPr lang="en-US"/>
          </a:p>
        </c:txPr>
        <c:crossAx val="967254528"/>
        <c:crosses val="autoZero"/>
        <c:auto val="1"/>
        <c:lblAlgn val="ctr"/>
        <c:lblOffset val="100"/>
        <c:noMultiLvlLbl val="0"/>
      </c:catAx>
      <c:valAx>
        <c:axId val="9672545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rgbClr val="000000"/>
                    </a:solidFill>
                    <a:latin typeface="Open Sans" panose="020B0503020204020204" pitchFamily="34" charset="-122"/>
                    <a:ea typeface="Noto Sans SC" panose="020B0503020204020204" pitchFamily="34" charset="-122"/>
                    <a:cs typeface="Open Sans"/>
                  </a:defRPr>
                </a:pPr>
                <a:r>
                  <a:rPr lang="zh-CN" altLang="en-US" sz="1600" noProof="0" dirty="0">
                    <a:latin typeface="Open Sans" panose="02010609060101010101" pitchFamily="49" charset="-122"/>
                    <a:ea typeface="Noto Sans SC" panose="02010609060101010101" pitchFamily="49" charset="-122"/>
                  </a:rPr>
                  <a:t>损失</a:t>
                </a:r>
              </a:p>
            </c:rich>
          </c:tx>
          <c:layout>
            <c:manualLayout>
              <c:xMode val="edge"/>
              <c:yMode val="edge"/>
              <c:x val="4.0287276833864155E-2"/>
              <c:y val="0.3495753694354054"/>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rgbClr val="000000"/>
                  </a:solidFill>
                  <a:latin typeface="Open Sans" panose="020B0503020204020204" pitchFamily="34" charset="-122"/>
                  <a:ea typeface="Noto Sans SC" panose="020B0503020204020204" pitchFamily="34" charset="-122"/>
                  <a:cs typeface="Open San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rgbClr val="000000"/>
                </a:solidFill>
                <a:latin typeface="Open Sans"/>
                <a:ea typeface="Noto Sans SC"/>
                <a:cs typeface="Open Sans"/>
              </a:defRPr>
            </a:pPr>
            <a:endParaRPr lang="en-US"/>
          </a:p>
        </c:txPr>
        <c:crossAx val="967256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rgbClr val="000000"/>
              </a:solidFill>
              <a:latin typeface="Open Sans" panose="020B0603020202020204" pitchFamily="34" charset="0"/>
              <a:ea typeface="Noto Sans SC" panose="02010609060101010101" pitchFamily="49" charset="-122"/>
              <a:cs typeface="Open San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0000"/>
          </a:solidFill>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Y-Red</c:v>
                </c:pt>
              </c:strCache>
            </c:strRef>
          </c:tx>
          <c:spPr>
            <a:ln w="28575" cap="rnd">
              <a:noFill/>
              <a:round/>
            </a:ln>
            <a:effectLst/>
          </c:spPr>
          <c:marker>
            <c:symbol val="circle"/>
            <c:size val="15"/>
            <c:spPr>
              <a:solidFill>
                <a:schemeClr val="accent1"/>
              </a:solidFill>
              <a:ln w="9525">
                <a:solidFill>
                  <a:schemeClr val="accent1"/>
                </a:solidFill>
              </a:ln>
              <a:effectLst/>
            </c:spPr>
          </c:marker>
          <c:xVal>
            <c:numRef>
              <c:f>Sheet1!$A$2:$A$5</c:f>
              <c:numCache>
                <c:formatCode>General</c:formatCode>
                <c:ptCount val="4"/>
                <c:pt idx="0">
                  <c:v>1</c:v>
                </c:pt>
                <c:pt idx="1">
                  <c:v>1</c:v>
                </c:pt>
                <c:pt idx="2">
                  <c:v>2</c:v>
                </c:pt>
                <c:pt idx="3">
                  <c:v>0.5</c:v>
                </c:pt>
              </c:numCache>
            </c:numRef>
          </c:xVal>
          <c:yVal>
            <c:numRef>
              <c:f>Sheet1!$B$2:$B$5</c:f>
              <c:numCache>
                <c:formatCode>General</c:formatCode>
                <c:ptCount val="4"/>
                <c:pt idx="0">
                  <c:v>1</c:v>
                </c:pt>
                <c:pt idx="1">
                  <c:v>2</c:v>
                </c:pt>
                <c:pt idx="2">
                  <c:v>1</c:v>
                </c:pt>
                <c:pt idx="3">
                  <c:v>0.5</c:v>
                </c:pt>
              </c:numCache>
            </c:numRef>
          </c:yVal>
          <c:smooth val="0"/>
          <c:extLst>
            <c:ext xmlns:c16="http://schemas.microsoft.com/office/drawing/2014/chart" uri="{C3380CC4-5D6E-409C-BE32-E72D297353CC}">
              <c16:uniqueId val="{00000000-82B7-4B88-AEED-4EBFC5D60EFD}"/>
            </c:ext>
          </c:extLst>
        </c:ser>
        <c:ser>
          <c:idx val="1"/>
          <c:order val="1"/>
          <c:tx>
            <c:strRef>
              <c:f>Sheet1!$D$1</c:f>
              <c:strCache>
                <c:ptCount val="1"/>
                <c:pt idx="0">
                  <c:v>Y-Blue</c:v>
                </c:pt>
              </c:strCache>
            </c:strRef>
          </c:tx>
          <c:spPr>
            <a:ln w="25400" cap="rnd">
              <a:noFill/>
              <a:round/>
            </a:ln>
            <a:effectLst/>
          </c:spPr>
          <c:marker>
            <c:symbol val="circle"/>
            <c:size val="15"/>
            <c:spPr>
              <a:solidFill>
                <a:schemeClr val="accent5"/>
              </a:solidFill>
              <a:ln w="9525">
                <a:solidFill>
                  <a:schemeClr val="accent2"/>
                </a:solidFill>
              </a:ln>
              <a:effectLst/>
            </c:spPr>
          </c:marker>
          <c:xVal>
            <c:numRef>
              <c:f>Sheet1!$C$2:$C$5</c:f>
              <c:numCache>
                <c:formatCode>General</c:formatCode>
                <c:ptCount val="4"/>
                <c:pt idx="0">
                  <c:v>2</c:v>
                </c:pt>
                <c:pt idx="1">
                  <c:v>3</c:v>
                </c:pt>
                <c:pt idx="2">
                  <c:v>3</c:v>
                </c:pt>
                <c:pt idx="3">
                  <c:v>2.5</c:v>
                </c:pt>
              </c:numCache>
            </c:numRef>
          </c:xVal>
          <c:yVal>
            <c:numRef>
              <c:f>Sheet1!$D$2:$D$5</c:f>
              <c:numCache>
                <c:formatCode>General</c:formatCode>
                <c:ptCount val="4"/>
                <c:pt idx="0">
                  <c:v>3</c:v>
                </c:pt>
                <c:pt idx="1">
                  <c:v>3</c:v>
                </c:pt>
                <c:pt idx="2">
                  <c:v>2</c:v>
                </c:pt>
                <c:pt idx="3">
                  <c:v>2.5</c:v>
                </c:pt>
              </c:numCache>
            </c:numRef>
          </c:yVal>
          <c:smooth val="0"/>
          <c:extLst>
            <c:ext xmlns:c16="http://schemas.microsoft.com/office/drawing/2014/chart" uri="{C3380CC4-5D6E-409C-BE32-E72D297353CC}">
              <c16:uniqueId val="{00000001-82B7-4B88-AEED-4EBFC5D60EFD}"/>
            </c:ext>
          </c:extLst>
        </c:ser>
        <c:dLbls>
          <c:showLegendKey val="0"/>
          <c:showVal val="0"/>
          <c:showCatName val="0"/>
          <c:showSerName val="0"/>
          <c:showPercent val="0"/>
          <c:showBubbleSize val="0"/>
        </c:dLbls>
        <c:axId val="870488680"/>
        <c:axId val="870489008"/>
      </c:scatterChart>
      <c:valAx>
        <c:axId val="870488680"/>
        <c:scaling>
          <c:orientation val="minMax"/>
        </c:scaling>
        <c:delete val="0"/>
        <c:axPos val="b"/>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9008"/>
        <c:crosses val="autoZero"/>
        <c:crossBetween val="midCat"/>
      </c:valAx>
      <c:valAx>
        <c:axId val="870489008"/>
        <c:scaling>
          <c:orientation val="minMax"/>
        </c:scaling>
        <c:delete val="0"/>
        <c:axPos val="l"/>
        <c:majorGridlines>
          <c:spPr>
            <a:ln w="9525" cap="flat" cmpd="sng" algn="ctr">
              <a:solidFill>
                <a:schemeClr val="tx1">
                  <a:lumMod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bg1"/>
                </a:solidFill>
                <a:latin typeface="Open Sans"/>
                <a:ea typeface="Noto Sans SC"/>
                <a:cs typeface="Open Sans"/>
              </a:defRPr>
            </a:pPr>
            <a:endParaRPr lang="en-US"/>
          </a:p>
        </c:txPr>
        <c:crossAx val="870488680"/>
        <c:crosses val="autoZero"/>
        <c:crossBetween val="midCat"/>
        <c:majorUnit val="1"/>
      </c:valAx>
      <c:spPr>
        <a:solidFill>
          <a:schemeClr val="tx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lumMod val="95000"/>
      </a:schemeClr>
    </a:solidFill>
    <a:ln>
      <a:solidFill>
        <a:schemeClr val="bg1"/>
      </a:solidFill>
    </a:ln>
    <a:effectLst/>
  </c:spPr>
  <c:txPr>
    <a:bodyPr/>
    <a:lstStyle/>
    <a:p>
      <a:pPr>
        <a:defRPr sz="1800">
          <a:solidFill>
            <a:schemeClr val="bg1"/>
          </a:solidFill>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000000"/>
                </a:solidFill>
                <a:latin typeface="Open Sans"/>
                <a:ea typeface="Noto Sans SC"/>
                <a:cs typeface="Open Sans"/>
              </a:defRPr>
            </a:pPr>
            <a:r>
              <a:rPr lang="zh-CN" altLang="en-US" sz="1800" noProof="0" dirty="0">
                <a:latin typeface="Open Sans" panose="02010609060101010101" pitchFamily="49" charset="-122"/>
                <a:ea typeface="Noto Sans SC" panose="02010609060101010101" pitchFamily="49" charset="-122"/>
              </a:rPr>
              <a:t>多分类交叉熵蓝点预测</a:t>
            </a:r>
          </a:p>
        </c:rich>
      </c:tx>
      <c:layout>
        <c:manualLayout>
          <c:xMode val="edge"/>
          <c:yMode val="edge"/>
          <c:x val="0.25715913849248873"/>
          <c:y val="2.5729005367975424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rgbClr val="000000"/>
              </a:solidFill>
              <a:latin typeface="Open Sans"/>
              <a:ea typeface="Noto Sans SC"/>
              <a:cs typeface="Open Sans"/>
            </a:defRPr>
          </a:pPr>
          <a:endParaRPr lang="en-US"/>
        </a:p>
      </c:txPr>
    </c:title>
    <c:autoTitleDeleted val="0"/>
    <c:plotArea>
      <c:layout/>
      <c:lineChart>
        <c:grouping val="standard"/>
        <c:varyColors val="0"/>
        <c:ser>
          <c:idx val="0"/>
          <c:order val="0"/>
          <c:tx>
            <c:strRef>
              <c:f>Sheet1!$B$1</c:f>
              <c:strCache>
                <c:ptCount val="1"/>
                <c:pt idx="0">
                  <c:v>若为 True 的损失</c:v>
                </c:pt>
              </c:strCache>
            </c:strRef>
          </c:tx>
          <c:spPr>
            <a:ln w="63500" cap="rnd">
              <a:solidFill>
                <a:schemeClr val="accent1"/>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Sheet1!$B$2:$B$28</c:f>
              <c:numCache>
                <c:formatCode>General</c:formatCode>
                <c:ptCount val="27"/>
                <c:pt idx="0">
                  <c:v>5</c:v>
                </c:pt>
                <c:pt idx="1">
                  <c:v>4</c:v>
                </c:pt>
                <c:pt idx="2">
                  <c:v>3</c:v>
                </c:pt>
                <c:pt idx="3">
                  <c:v>2</c:v>
                </c:pt>
                <c:pt idx="4">
                  <c:v>1.3010299956639813</c:v>
                </c:pt>
                <c:pt idx="5">
                  <c:v>1</c:v>
                </c:pt>
                <c:pt idx="6">
                  <c:v>0.82390874094431876</c:v>
                </c:pt>
                <c:pt idx="7">
                  <c:v>0.69897000433601875</c:v>
                </c:pt>
                <c:pt idx="8">
                  <c:v>0.6020599913279624</c:v>
                </c:pt>
                <c:pt idx="9">
                  <c:v>0.52287874528033762</c:v>
                </c:pt>
                <c:pt idx="10">
                  <c:v>0.45593195564972439</c:v>
                </c:pt>
                <c:pt idx="11">
                  <c:v>0.3979400086720376</c:v>
                </c:pt>
                <c:pt idx="12">
                  <c:v>0.34678748622465633</c:v>
                </c:pt>
                <c:pt idx="13">
                  <c:v>0.3010299956639812</c:v>
                </c:pt>
                <c:pt idx="14">
                  <c:v>0.25963731050575611</c:v>
                </c:pt>
                <c:pt idx="15">
                  <c:v>0.22184874961635639</c:v>
                </c:pt>
                <c:pt idx="16">
                  <c:v>0.18708664335714442</c:v>
                </c:pt>
                <c:pt idx="17">
                  <c:v>0.15490195998574319</c:v>
                </c:pt>
                <c:pt idx="18">
                  <c:v>0.12493873660829995</c:v>
                </c:pt>
                <c:pt idx="19">
                  <c:v>9.6910013008056392E-2</c:v>
                </c:pt>
                <c:pt idx="20">
                  <c:v>7.0581074285707285E-2</c:v>
                </c:pt>
                <c:pt idx="21">
                  <c:v>4.5757490560675115E-2</c:v>
                </c:pt>
                <c:pt idx="22">
                  <c:v>2.2276394711152253E-2</c:v>
                </c:pt>
                <c:pt idx="23">
                  <c:v>4.3648054024500883E-3</c:v>
                </c:pt>
                <c:pt idx="24">
                  <c:v>4.3451177401769168E-4</c:v>
                </c:pt>
                <c:pt idx="25">
                  <c:v>4.3431619807505604E-5</c:v>
                </c:pt>
                <c:pt idx="26">
                  <c:v>4.3429665338816141E-6</c:v>
                </c:pt>
              </c:numCache>
            </c:numRef>
          </c:val>
          <c:smooth val="1"/>
          <c:extLst>
            <c:ext xmlns:c16="http://schemas.microsoft.com/office/drawing/2014/chart" uri="{C3380CC4-5D6E-409C-BE32-E72D297353CC}">
              <c16:uniqueId val="{00000000-A22E-4E32-A22B-C2AECA682214}"/>
            </c:ext>
          </c:extLst>
        </c:ser>
        <c:ser>
          <c:idx val="1"/>
          <c:order val="1"/>
          <c:tx>
            <c:strRef>
              <c:f>Sheet1!$C$1</c:f>
              <c:strCache>
                <c:ptCount val="1"/>
                <c:pt idx="0">
                  <c:v>若为 False 的损失</c:v>
                </c:pt>
              </c:strCache>
            </c:strRef>
          </c:tx>
          <c:spPr>
            <a:ln w="53975" cap="rnd">
              <a:solidFill>
                <a:schemeClr val="accent3"/>
              </a:solidFill>
              <a:round/>
            </a:ln>
            <a:effectLst/>
          </c:spPr>
          <c:marker>
            <c:symbol val="none"/>
          </c:marker>
          <c:cat>
            <c:numRef>
              <c:f>Sheet1!$A$2:$A$28</c:f>
              <c:numCache>
                <c:formatCode>General</c:formatCode>
                <c:ptCount val="27"/>
                <c:pt idx="0">
                  <c:v>1.0000000000000001E-5</c:v>
                </c:pt>
                <c:pt idx="1">
                  <c:v>1E-4</c:v>
                </c:pt>
                <c:pt idx="2">
                  <c:v>1E-3</c:v>
                </c:pt>
                <c:pt idx="3">
                  <c:v>0.01</c:v>
                </c:pt>
                <c:pt idx="4">
                  <c:v>0.05</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0.75</c:v>
                </c:pt>
                <c:pt idx="19">
                  <c:v>0.8</c:v>
                </c:pt>
                <c:pt idx="20">
                  <c:v>0.85</c:v>
                </c:pt>
                <c:pt idx="21">
                  <c:v>0.9</c:v>
                </c:pt>
                <c:pt idx="22">
                  <c:v>0.95</c:v>
                </c:pt>
                <c:pt idx="23">
                  <c:v>0.99</c:v>
                </c:pt>
                <c:pt idx="24">
                  <c:v>0.999</c:v>
                </c:pt>
                <c:pt idx="25">
                  <c:v>0.99990000000000001</c:v>
                </c:pt>
                <c:pt idx="26">
                  <c:v>0.99999000000000005</c:v>
                </c:pt>
              </c:numCache>
            </c:numRef>
          </c:cat>
          <c:val>
            <c:numRef>
              <c:f>Sheet1!$C$2:$C$28</c:f>
              <c:numCache>
                <c:formatCode>General</c:formatCode>
                <c:ptCount val="27"/>
                <c:pt idx="0">
                  <c:v>4.3429665338816141E-6</c:v>
                </c:pt>
                <c:pt idx="1">
                  <c:v>4.3431619807505604E-5</c:v>
                </c:pt>
                <c:pt idx="2">
                  <c:v>4.3451177401769168E-4</c:v>
                </c:pt>
                <c:pt idx="3">
                  <c:v>4.3648054024500883E-3</c:v>
                </c:pt>
                <c:pt idx="4">
                  <c:v>2.2276394711152253E-2</c:v>
                </c:pt>
                <c:pt idx="5">
                  <c:v>4.5757490560675115E-2</c:v>
                </c:pt>
                <c:pt idx="6">
                  <c:v>7.0581074285707285E-2</c:v>
                </c:pt>
                <c:pt idx="7">
                  <c:v>9.6910013008056392E-2</c:v>
                </c:pt>
                <c:pt idx="8">
                  <c:v>0.12493873660829995</c:v>
                </c:pt>
                <c:pt idx="9">
                  <c:v>0.15490195998574319</c:v>
                </c:pt>
                <c:pt idx="10">
                  <c:v>0.18708664335714442</c:v>
                </c:pt>
                <c:pt idx="11">
                  <c:v>0.22184874961635639</c:v>
                </c:pt>
                <c:pt idx="12">
                  <c:v>0.25963731050575611</c:v>
                </c:pt>
                <c:pt idx="13">
                  <c:v>0.3010299956639812</c:v>
                </c:pt>
                <c:pt idx="14">
                  <c:v>0.34678748622465638</c:v>
                </c:pt>
                <c:pt idx="15">
                  <c:v>0.3979400086720376</c:v>
                </c:pt>
                <c:pt idx="16">
                  <c:v>0.45593195564972439</c:v>
                </c:pt>
                <c:pt idx="17">
                  <c:v>0.52287874528033751</c:v>
                </c:pt>
                <c:pt idx="18">
                  <c:v>0.6020599913279624</c:v>
                </c:pt>
                <c:pt idx="19">
                  <c:v>0.69897000433601886</c:v>
                </c:pt>
                <c:pt idx="20">
                  <c:v>0.82390874094431865</c:v>
                </c:pt>
                <c:pt idx="21">
                  <c:v>1</c:v>
                </c:pt>
                <c:pt idx="22">
                  <c:v>1.3010299956639808</c:v>
                </c:pt>
                <c:pt idx="23">
                  <c:v>1.9999999999999996</c:v>
                </c:pt>
                <c:pt idx="24">
                  <c:v>2.9999999999999996</c:v>
                </c:pt>
                <c:pt idx="25">
                  <c:v>4.000000000000048</c:v>
                </c:pt>
                <c:pt idx="26">
                  <c:v>5.0000000000019762</c:v>
                </c:pt>
              </c:numCache>
            </c:numRef>
          </c:val>
          <c:smooth val="1"/>
          <c:extLst>
            <c:ext xmlns:c16="http://schemas.microsoft.com/office/drawing/2014/chart" uri="{C3380CC4-5D6E-409C-BE32-E72D297353CC}">
              <c16:uniqueId val="{00000001-A22E-4E32-A22B-C2AECA682214}"/>
            </c:ext>
          </c:extLst>
        </c:ser>
        <c:dLbls>
          <c:showLegendKey val="0"/>
          <c:showVal val="0"/>
          <c:showCatName val="0"/>
          <c:showSerName val="0"/>
          <c:showPercent val="0"/>
          <c:showBubbleSize val="0"/>
        </c:dLbls>
        <c:smooth val="0"/>
        <c:axId val="967256824"/>
        <c:axId val="967254528"/>
      </c:lineChart>
      <c:catAx>
        <c:axId val="967256824"/>
        <c:scaling>
          <c:orientation val="minMax"/>
        </c:scaling>
        <c:delete val="0"/>
        <c:axPos val="b"/>
        <c:title>
          <c:tx>
            <c:rich>
              <a:bodyPr rot="0" spcFirstLastPara="1" vertOverflow="ellipsis" vert="horz" wrap="square" anchor="ctr" anchorCtr="1"/>
              <a:lstStyle/>
              <a:p>
                <a:pPr>
                  <a:defRPr sz="1600" b="0" i="0" u="none" strike="noStrike" kern="1200" baseline="0">
                    <a:solidFill>
                      <a:srgbClr val="000000"/>
                    </a:solidFill>
                    <a:latin typeface="Open Sans"/>
                    <a:ea typeface="Noto Sans SC"/>
                    <a:cs typeface="Open Sans"/>
                  </a:defRPr>
                </a:pPr>
                <a:r>
                  <a:rPr lang="zh-CN" altLang="en-US" sz="1600" noProof="0" dirty="0">
                    <a:latin typeface="Open Sans"/>
                    <a:ea typeface="Noto Sans SC"/>
                  </a:rPr>
                  <a:t>分配的概率</a:t>
                </a:r>
              </a:p>
            </c:rich>
          </c:tx>
          <c:layout>
            <c:manualLayout>
              <c:xMode val="edge"/>
              <c:yMode val="edge"/>
              <c:x val="0.39674691053975147"/>
              <c:y val="0.71938608096548018"/>
            </c:manualLayout>
          </c:layout>
          <c:overlay val="0"/>
          <c:spPr>
            <a:noFill/>
            <a:ln>
              <a:noFill/>
            </a:ln>
            <a:effectLst/>
          </c:spPr>
          <c:txPr>
            <a:bodyPr rot="0" spcFirstLastPara="1" vertOverflow="ellipsis" vert="horz" wrap="square" anchor="ctr" anchorCtr="1"/>
            <a:lstStyle/>
            <a:p>
              <a:pPr>
                <a:defRPr sz="1600" b="0" i="0" u="none" strike="noStrike" kern="1200" baseline="0">
                  <a:solidFill>
                    <a:srgbClr val="000000"/>
                  </a:solidFill>
                  <a:latin typeface="Open Sans"/>
                  <a:ea typeface="Noto Sans SC"/>
                  <a:cs typeface="Open Sans"/>
                </a:defRPr>
              </a:pPr>
              <a:endParaRPr lang="en-US"/>
            </a:p>
          </c:txPr>
        </c:title>
        <c:numFmt formatCode="#,##0.0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rgbClr val="000000"/>
                </a:solidFill>
                <a:latin typeface="Open Sans"/>
                <a:ea typeface="Noto Sans SC"/>
                <a:cs typeface="Open Sans"/>
              </a:defRPr>
            </a:pPr>
            <a:endParaRPr lang="en-US"/>
          </a:p>
        </c:txPr>
        <c:crossAx val="967254528"/>
        <c:crosses val="autoZero"/>
        <c:auto val="1"/>
        <c:lblAlgn val="ctr"/>
        <c:lblOffset val="100"/>
        <c:noMultiLvlLbl val="0"/>
      </c:catAx>
      <c:valAx>
        <c:axId val="9672545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rgbClr val="000000"/>
                    </a:solidFill>
                    <a:latin typeface="Open Sans" panose="020B0503020204020204" pitchFamily="34" charset="-122"/>
                    <a:ea typeface="Noto Sans SC" panose="020B0503020204020204" pitchFamily="34" charset="-122"/>
                    <a:cs typeface="Open Sans"/>
                  </a:defRPr>
                </a:pPr>
                <a:r>
                  <a:rPr lang="zh-CN" altLang="en-US" sz="1600" noProof="0" dirty="0">
                    <a:latin typeface="Open Sans" panose="02010609060101010101" pitchFamily="49" charset="-122"/>
                    <a:ea typeface="Noto Sans SC" panose="02010609060101010101" pitchFamily="49" charset="-122"/>
                  </a:rPr>
                  <a:t>损失</a:t>
                </a:r>
              </a:p>
            </c:rich>
          </c:tx>
          <c:layout>
            <c:manualLayout>
              <c:xMode val="edge"/>
              <c:yMode val="edge"/>
              <c:x val="4.0287276833864155E-2"/>
              <c:y val="0.3495753694354054"/>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rgbClr val="000000"/>
                  </a:solidFill>
                  <a:latin typeface="Open Sans" panose="020B0503020204020204" pitchFamily="34" charset="-122"/>
                  <a:ea typeface="Noto Sans SC" panose="020B0503020204020204" pitchFamily="34" charset="-122"/>
                  <a:cs typeface="Open San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rgbClr val="000000"/>
                </a:solidFill>
                <a:latin typeface="Open Sans"/>
                <a:ea typeface="Noto Sans SC"/>
                <a:cs typeface="Open Sans"/>
              </a:defRPr>
            </a:pPr>
            <a:endParaRPr lang="en-US"/>
          </a:p>
        </c:txPr>
        <c:crossAx val="967256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rgbClr val="000000"/>
              </a:solidFill>
              <a:latin typeface="Open Sans" panose="020B0603020202020204" pitchFamily="34" charset="0"/>
              <a:ea typeface="Noto Sans SC" panose="02010609060101010101" pitchFamily="49" charset="-122"/>
              <a:cs typeface="Open San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000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lvl1pPr indent="-228600" lvl="0" marL="4572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1pPr>
            <a:lvl2pPr indent="-228600" lvl="1" marL="9144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2pPr>
            <a:lvl3pPr indent="-228600" lvl="2" marL="13716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3pPr>
            <a:lvl4pPr indent="-228600" lvl="3" marL="18288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4pPr>
            <a:lvl5pPr indent="-228600" lvl="4" marL="22860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5pPr>
            <a:lvl6pPr indent="-228600" lvl="5" marL="27432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6pPr>
            <a:lvl7pPr indent="-228600" lvl="6" marL="32004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7pPr>
            <a:lvl8pPr indent="-228600" lvl="7" marL="36576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8pPr>
            <a:lvl9pPr indent="-228600" lvl="8" marL="41148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ack.now.sh/"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dot-devsite-v2-prod.appspot.com/machine-learning/crash-course/backprop-scroll"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quora.com/How-does-TensorFlow-calculate-gradients#:~:text=There%20are%20a%20few%20different,another%20to%20approximate%20the%20derivative."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刚刚发生了什么？让我们逐步回顾一下</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我们加载数据并对数据进行了可视化</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我们编辑了数据，使其变成正确的形式，并对值进行归一化，使其介于 0-1 之间</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我们还按照分类形式而不是数字形式编辑了“答案”，原因是我们的模型将能使用该类型的答案更好地进行训练</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然后，我们创建和编译了模型，并使用数据训练了模型</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我们首先来看看数据。我们获得的数据是一个由 784 个整数构成的数组，它来自一个28x28 </a:t>
            </a:r>
            <a:r>
              <a:rPr lang="en-US">
                <a:solidFill>
                  <a:srgbClr val="000000"/>
                </a:solidFill>
                <a:latin typeface="Open Sans"/>
                <a:ea typeface="Noto Sans SC"/>
                <a:cs typeface="Open Sans"/>
                <a:sym typeface="Open Sans"/>
              </a:rPr>
              <a:t>像素</a:t>
            </a:r>
            <a:r>
              <a:rPr lang="en-US">
                <a:latin typeface="Open Sans"/>
                <a:ea typeface="Noto Sans SC"/>
                <a:cs typeface="Open Sans"/>
                <a:sym typeface="Open Sans"/>
              </a:rPr>
              <a:t>的图像。</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然后，我们通过将数据除以 255（像素的最大值）进行归一化，使它的值介于 0和1 之间。</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接着，我们获取“答案”或目标（格式为介于 0-9 之间的整数）并对其进行分类编码，即将其表示为由多个 0 和唯一的1组成的数组，</a:t>
            </a:r>
            <a:r>
              <a:rPr lang="en-US">
                <a:solidFill>
                  <a:srgbClr val="000000"/>
                </a:solidFill>
                <a:latin typeface="Open Sans"/>
                <a:ea typeface="Noto Sans SC"/>
                <a:cs typeface="Open Sans"/>
                <a:sym typeface="Open Sans"/>
              </a:rPr>
              <a:t>目标值被当作索引，用来指定</a:t>
            </a:r>
            <a:r>
              <a:rPr lang="en-US">
                <a:latin typeface="Open Sans"/>
                <a:ea typeface="Noto Sans SC"/>
                <a:cs typeface="Open Sans"/>
                <a:sym typeface="Open Sans"/>
              </a:rPr>
              <a:t> 1在数值中 的位置。</a:t>
            </a:r>
            <a:endParaRPr>
              <a:latin typeface="Open Sans"/>
              <a:ea typeface="Noto Sans SC"/>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80000"/>
              </a:lnSpc>
              <a:spcBef>
                <a:spcPts val="0"/>
              </a:spcBef>
              <a:spcAft>
                <a:spcPts val="0"/>
              </a:spcAft>
              <a:buSzPts val="1400"/>
              <a:buNone/>
            </a:pPr>
            <a:r>
              <a:rPr lang="en-US" sz="770">
                <a:latin typeface="Open Sans"/>
                <a:ea typeface="Noto Sans SC"/>
                <a:cs typeface="Open Sans"/>
                <a:sym typeface="Open Sans"/>
              </a:rPr>
              <a:t>下面我们谈谈模型（显示模型的图片）</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由于模型具有很多连接，我们无法在幻灯片中完整表示整个模型</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请记住：共有 784 个输入、2 个层（每层有 512 个神经元或节点）和 1 个输出层（有 10 个神经元，每个数字 1 个）</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每层中的每个神经元都连接到下一层中的每个神经元。这就是“密集”（Dense）Keras 层的意思。</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这意味着模型中有很多连接 (784x512 + 512x512 + 512x10)</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看看这幅图，有人能猜到大致的连接数吗？</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连接数为 668,672</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对于 4 层网络而言，这是一个很大的数字</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这可以存储大量信息。思考一下 1 MB 的信息（100 万个字节），以及 1 MB 大约相当于 500 页文本这个事实。</a:t>
            </a:r>
            <a:endParaRPr/>
          </a:p>
          <a:p>
            <a:pPr indent="0" lvl="0" marL="0" rtl="0" algn="l">
              <a:lnSpc>
                <a:spcPct val="80000"/>
              </a:lnSpc>
              <a:spcBef>
                <a:spcPts val="231"/>
              </a:spcBef>
              <a:spcAft>
                <a:spcPts val="0"/>
              </a:spcAft>
              <a:buSzPts val="1400"/>
              <a:buNone/>
            </a:pPr>
            <a:r>
              <a:t/>
            </a:r>
            <a:endParaRPr sz="77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那么，如果每个神经元彼此连接，如何存储信息呢？</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我们将信息存储在两个神经元之间的“权重”中</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770">
                <a:latin typeface="Open Sans"/>
                <a:ea typeface="Noto Sans SC"/>
                <a:cs typeface="Open Sans"/>
                <a:sym typeface="Open Sans"/>
              </a:rPr>
              <a:t>权重类似于我们大脑神经元之间的连接强度，不过在机制上存在一些差异</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sz="770">
              <a:latin typeface="Open Sans"/>
              <a:ea typeface="Noto Sans SC"/>
              <a:cs typeface="Open Sans"/>
              <a:sym typeface="Open Sans"/>
            </a:endParaRPr>
          </a:p>
          <a:p>
            <a:pPr indent="0" lvl="0" marL="0" marR="0" rtl="0" algn="l">
              <a:lnSpc>
                <a:spcPct val="80000"/>
              </a:lnSpc>
              <a:spcBef>
                <a:spcPts val="231"/>
              </a:spcBef>
              <a:spcAft>
                <a:spcPts val="0"/>
              </a:spcAft>
              <a:buClr>
                <a:schemeClr val="dk1"/>
              </a:buClr>
              <a:buSzPts val="770"/>
              <a:buFont typeface="Open Sans"/>
              <a:buNone/>
            </a:pPr>
            <a:r>
              <a:rPr lang="en-US" sz="770">
                <a:latin typeface="Open Sans"/>
                <a:ea typeface="Noto Sans SC"/>
                <a:cs typeface="Open Sans"/>
                <a:sym typeface="Open Sans"/>
              </a:rPr>
              <a:t>那么，我们如何更新这些权重呢？</a:t>
            </a:r>
            <a:endParaRPr b="0" i="0" sz="770" u="none" strike="noStrike">
              <a:solidFill>
                <a:schemeClr val="dk1"/>
              </a:solidFill>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sz="770">
              <a:latin typeface="Open Sans"/>
              <a:ea typeface="Noto Sans SC"/>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为了理解此网络是如何形成的，我们来看看最简单的模型。</a:t>
            </a:r>
            <a:endParaRPr>
              <a:latin typeface="Open Sans"/>
              <a:ea typeface="Noto Sans SC"/>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1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前一张幻灯片上的每个圆形都代表一个神经元。此神经元最早被用于线性回归，即经典的 y = mx + b。回归是指我们使用连续的输入量来预测连续的输出量，例如使用一壶水放在炉子上的秒数来预测水温。</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对于每个进入神经元的变量，我们都会找到它的斜率 (m) 或“权重”。y = mx + b 中的“b”（或 y 轴截距）存储在神经元中。</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1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我们的目标是找到一条可以穿过这些点的直线。这样一来，我们可以使用该直线对x-&gt;y进行预测。</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1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1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如果你们之中有些人学过统计学，可能知道如何更确定地获得 m 和 b。（我们可以通过代数 m = 2 和 b = 1 进行验证。我们将执行一种更好的试错法。我们将选择一个随机起始值（通常介于 -1 和 1 之间，但我们将选择 5 作为 m，并选择 -1 作为 b，以便更容易进行可视化）</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此处的 ŷ 成为真值 y 的估计值。大多数情况下，我们的猜测将略有偏差，那么如何纠正它呢？</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1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1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大多数情况下，我们的猜测将略有偏差，那么如何纠正它呢？传统回归线基于最小方差的概念而构建，也就是说，我们将从真值中获取每个估计值的差值，并求出其平方。这将使误差保持正值，因此在我们找出总误差时，误差不会相互抵消。它还会“严厉惩罚”错误的猜测。</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80000"/>
              </a:lnSpc>
              <a:spcBef>
                <a:spcPts val="0"/>
              </a:spcBef>
              <a:spcAft>
                <a:spcPts val="0"/>
              </a:spcAft>
              <a:buSzPts val="1400"/>
              <a:buNone/>
            </a:pPr>
            <a:r>
              <a:rPr lang="en-US" sz="1017">
                <a:latin typeface="Open Sans"/>
                <a:ea typeface="Noto Sans SC"/>
                <a:cs typeface="Open Sans"/>
                <a:sym typeface="Open Sans"/>
              </a:rPr>
              <a:t>如果对其中一些数学符号感到陌生，没关系，我们可以像下面这样对 RMSE 进行编码。对于每个点，我们将找出 y 与 mx+b 之间的差值。然后，我们求出该差值的平方，再求出所有方差的平均值。</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lang="en-US" sz="1017" u="sng">
                <a:solidFill>
                  <a:schemeClr val="hlink"/>
                </a:solidFill>
                <a:latin typeface="Open Sans"/>
                <a:ea typeface="Noto Sans SC"/>
                <a:cs typeface="Open Sans"/>
                <a:sym typeface="Open Sans"/>
                <a:hlinkClick r:id="rId2"/>
              </a:rPr>
              <a:t>https://black.now.sh/</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Code:</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data = [(1, 3), (2, 5)]</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m = -1</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b = 5</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def get_mse(data, m, b):</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"""Calculates Mean Square Error"""</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n = len(data)</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squared_error = 0</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for x, y in data:</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 Find predicted y</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y_hat = m*x+b</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 Square difference between </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 prediction and true value</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squared_error += (</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y - y_hat)**2</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 Get average squared difference</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mse = squared_error / n</a:t>
            </a:r>
            <a:endParaRPr b="0" i="0" sz="1017" u="none" strike="noStrike">
              <a:solidFill>
                <a:schemeClr val="dk1"/>
              </a:solidFill>
              <a:latin typeface="Open Sans"/>
              <a:ea typeface="Noto Sans SC"/>
              <a:cs typeface="Open Sans"/>
              <a:sym typeface="Open Sans"/>
            </a:endParaRPr>
          </a:p>
          <a:p>
            <a:pPr indent="0" lvl="0" marL="0" rtl="0" algn="l">
              <a:lnSpc>
                <a:spcPct val="80000"/>
              </a:lnSpc>
              <a:spcBef>
                <a:spcPts val="305"/>
              </a:spcBef>
              <a:spcAft>
                <a:spcPts val="0"/>
              </a:spcAft>
              <a:buSzPts val="1400"/>
              <a:buNone/>
            </a:pPr>
            <a:r>
              <a:rPr b="0" i="0" lang="en-US" sz="1017" u="none" strike="noStrike">
                <a:solidFill>
                  <a:schemeClr val="dk1"/>
                </a:solidFill>
                <a:latin typeface="Open Sans"/>
                <a:ea typeface="Noto Sans SC"/>
                <a:cs typeface="Open Sans"/>
                <a:sym typeface="Open Sans"/>
              </a:rPr>
              <a:t>    return mse</a:t>
            </a:r>
            <a:endParaRPr b="0" i="0" sz="1017"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哇，这要进行很多数学运算。我们来画出 m 和 b 与均方差的关系图。左侧是损失函数的曲面图。这是我们选择用于评估模型的误差函数，在我们的例子中称为 MSE。曲面图有点难看懂，因此，我们在右侧画出了等高线图。从等高线图中我们可以看到，它实际上是一种抛物线椭圆，最低处出现在 b=1 和 m=2 时。</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1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如果这是我们猜测的直线，我们可以看到当前位置处于曲线上的哪个地方。我们的目标是找出最小误差，而由于它是一个虚构的示例，因此我们知道最小误差为 0。对我们人类而言，很容易看到最低处出现在 m = 2 和 b = 1 附近，但计算机很难看到这一点。（如果缺少帮助，计算机无法将此损失曲线可视化，所以我们向计算机提供了 (x,y) 点的网格，并指示它画出该区域的图形。）事实证明计算机并不擅长微积分，因此我们将帮助它“作弊”。</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我们有 m 和 b 这两个帮手来帮助移动直线。我们可以更改截距 b 或斜率 m。我们从截距 b 开始。如果将它减 1……</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1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很好，现在直线通过了其中一个点，但未通过另一个点。我们将斜率加 1……</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1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现在直线没有通过这两个点，但 MSE 从 2.5 下降到 1。</a:t>
            </a:r>
            <a:endParaRPr b="0" i="0" u="none" strike="noStrike">
              <a:solidFill>
                <a:schemeClr val="dk1"/>
              </a:solidFill>
              <a:latin typeface="Open Sans"/>
              <a:ea typeface="Noto Sans SC"/>
              <a:cs typeface="Open Sans"/>
              <a:sym typeface="Open Sans"/>
            </a:endParaRPr>
          </a:p>
          <a:p>
            <a:pPr indent="-228600" lvl="0" marL="457200" rtl="0" algn="l">
              <a:lnSpc>
                <a:spcPct val="100000"/>
              </a:lnSpc>
              <a:spcBef>
                <a:spcPts val="330"/>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228600" lvl="0" marL="457200" rtl="0" algn="l">
              <a:lnSpc>
                <a:spcPct val="100000"/>
              </a:lnSpc>
              <a:spcBef>
                <a:spcPts val="330"/>
              </a:spcBef>
              <a:spcAft>
                <a:spcPts val="0"/>
              </a:spcAft>
              <a:buSzPts val="1400"/>
              <a:buNone/>
            </a:pPr>
            <a:r>
              <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计算机没有我们的“人眼”功能来大致估计要到达这个碗的底部而应改变的东西，因此，它将根据当前所在的点计算梯度（“梯度”是一个用来描述多变量斜率的一个好听的名字）。它将确定在哪个方向上损失的下降幅度最大，而这将是 b 与 m 的某个比值。</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找出方向后，我们需要确定沿着该方向移动的距离。梯度将根据当前位置改变，因此我们不希望步长太大，这是因为我们可能会意外地进一步远离目标。我们也不希望步长太小，原因是这意味着可能要经过很长时间才能达到目标，而且我们时间有限，无法等待模型完成训练。</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现在我们处于新的位置，我们来重复整个过程：找到新的梯度，然后执行另一步。可以通过多种方式测量我们的进展，其中包括训练周期，这是针对整个数据集的另一种说法。过去，人们使用整个数据集来计算平均梯度，但现在，人们发现使用数据集中的部分样本或批次来训练的效率会更高。在这两种情况下，每一步操作包括了：获取整个数据集或批量数据，接着计算平均梯度，然后使用平均梯度和学习率更新参数。</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2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2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完成几个步骤后，整个过程将如上图所示。</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2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12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幸运的是，有关如何定义最佳学习率的大量研究工作已经完成，而且机器学习框架包含了一些可自动调整学习率的工具。</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例如，常用的一款工具是 Adam (Adaptive Momentum)，它的工作方式有点像将损失曲线视为一座山，并将位置视为弹子。如果从山顶丢下一颗弹子，它将会加速前进，并会跳过壕沟（局部极小值），然后有望降落到更低的极小值上。</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Adam 已得到改进，而且 TensorFlow 中的当前默认工具名为“rmsprop”。</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2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2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2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2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现在我们已经了解底层核心概念，接下来可以开始构建网络了。我们不使用带有斜率 (m) 的单个 x 输入，而是使用多个 x 输入（x1、x2、x3……），并找出每个输入的权重。前面的数学运算基本保持不变，我们只需找出新变量的梯度，就像我们对其他变量所做的一样。</a:t>
            </a:r>
            <a:endParaRPr>
              <a:latin typeface="Open Sans"/>
              <a:ea typeface="Noto Sans SC"/>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2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2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还可以获取某个神经元的输出，并将其送入到另一个神经元中，而且，只要我们不建立循环，就可以将相同的输出连接到多个输入。Badum！这样一来，我们正式拥有了一个深度学习网络。当我们通过梯度下降计算新权重时，可以将在后一个神经元中算出的误差用作它所连接的前一个神经元的误差的一部分。</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大多数框架都会为我们自动完成这部分工作，因此我们不会深入研究数学理论，不过以下网址提供了一个很好的自主学习动画，它深入介绍了具体原理：</a:t>
            </a:r>
            <a:r>
              <a:rPr lang="en-US" u="sng">
                <a:solidFill>
                  <a:schemeClr val="hlink"/>
                </a:solidFill>
                <a:latin typeface="Open Sans"/>
                <a:ea typeface="Noto Sans SC"/>
                <a:cs typeface="Open Sans"/>
                <a:sym typeface="Open Sans"/>
                <a:hlinkClick r:id="rId2"/>
              </a:rPr>
              <a:t>https://developers-dot-devsite-v2-prod.appspot.com/machine-learning/crash-course/backprop-scroll</a:t>
            </a:r>
            <a:endParaRPr>
              <a:latin typeface="Open Sans"/>
              <a:ea typeface="Noto Sans SC"/>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2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12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我们应该注意这里的一个数学“陷阱”，这就是我们的“激活功能”。现在，我们只是求线性和，因此我们获得一条 2D 直线和一个 3D 平面。由于我们将多条直线加在一起所获得的唯一输出是另一条直线，因此在神经网络上这样做有点浪费。如果能够捕获更复杂的形状那就好了。</a:t>
            </a:r>
            <a:endParaRPr>
              <a:latin typeface="Open Sans"/>
              <a:ea typeface="Noto Sans SC"/>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2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2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12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80000"/>
              </a:lnSpc>
              <a:spcBef>
                <a:spcPts val="0"/>
              </a:spcBef>
              <a:spcAft>
                <a:spcPts val="0"/>
              </a:spcAft>
              <a:buSzPts val="1400"/>
              <a:buNone/>
            </a:pPr>
            <a:r>
              <a:rPr lang="en-US" sz="800">
                <a:latin typeface="Open Sans"/>
                <a:ea typeface="Noto Sans SC"/>
                <a:cs typeface="Open Sans"/>
                <a:sym typeface="Open Sans"/>
              </a:rPr>
              <a:t>在图形中，w = 1，b = 0</a:t>
            </a:r>
            <a:endParaRPr/>
          </a:p>
          <a:p>
            <a:pPr indent="0" lvl="0" marL="0" rtl="0" algn="l">
              <a:lnSpc>
                <a:spcPct val="80000"/>
              </a:lnSpc>
              <a:spcBef>
                <a:spcPts val="231"/>
              </a:spcBef>
              <a:spcAft>
                <a:spcPts val="0"/>
              </a:spcAft>
              <a:buSzPts val="1400"/>
              <a:buNone/>
            </a:pPr>
            <a:r>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具体策略为：计算机擅长计算直线方程，这不仅因为此类方程计算速度快，还因为我们很容易向计算机提供有关如何区分这些方程的规则。</a:t>
            </a:r>
            <a:endParaRPr/>
          </a:p>
          <a:p>
            <a:pPr indent="0" lvl="0" marL="0" rtl="0" algn="l">
              <a:lnSpc>
                <a:spcPct val="80000"/>
              </a:lnSpc>
              <a:spcBef>
                <a:spcPts val="231"/>
              </a:spcBef>
              <a:spcAft>
                <a:spcPts val="0"/>
              </a:spcAft>
              <a:buSzPts val="1400"/>
              <a:buNone/>
            </a:pPr>
            <a:r>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添加非线性的一种简单方法是将直线方程送入到另一个非线性函数中。最常见的非线性函数之一是 ReLU，即线性修正单元。这个听上去有点玄妙的名字只不过代表以下情况：当直线的输出为负值时，我们将其激活值设置为 0。由于神经元的输出在送入到另一个神经元中时会被分配权重，因此该输出可能会是负值。</a:t>
            </a:r>
            <a:endParaRPr/>
          </a:p>
          <a:p>
            <a:pPr indent="0" lvl="0" marL="0" rtl="0" algn="l">
              <a:lnSpc>
                <a:spcPct val="80000"/>
              </a:lnSpc>
              <a:spcBef>
                <a:spcPts val="231"/>
              </a:spcBef>
              <a:spcAft>
                <a:spcPts val="0"/>
              </a:spcAft>
              <a:buSzPts val="1400"/>
              <a:buNone/>
            </a:pPr>
            <a:r>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另一个重要的激活函数是 Sigmoid。它对直线进行处理，让我们得到一个介于 0 到 1 之间的 S 形。这很好，原因是之后我们可以使用神经元向预测结果分配概率。</a:t>
            </a:r>
            <a:endParaRPr/>
          </a:p>
          <a:p>
            <a:pPr indent="0" lvl="0" marL="0" rtl="0" algn="l">
              <a:lnSpc>
                <a:spcPct val="80000"/>
              </a:lnSpc>
              <a:spcBef>
                <a:spcPts val="231"/>
              </a:spcBef>
              <a:spcAft>
                <a:spcPts val="0"/>
              </a:spcAft>
              <a:buSzPts val="1400"/>
              <a:buNone/>
            </a:pPr>
            <a:r>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Code:</a:t>
            </a:r>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Multiply each input</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with a weight (w) and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add intercept (b)</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y_hat = wx+b</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Only return result</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if total is positive</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y_hat = wx+b</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y_hat = y_hat * (y_hat &gt; 0)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Start with line</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linear = wx + b</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Warp to - inf to 0</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inf_to_zero = np.exp(-1 * linear)</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 Squish to -1 to 1</a:t>
            </a:r>
            <a:endParaRPr sz="800">
              <a:latin typeface="Open Sans"/>
              <a:ea typeface="Noto Sans SC"/>
              <a:cs typeface="Open Sans"/>
              <a:sym typeface="Open Sans"/>
            </a:endParaRPr>
          </a:p>
          <a:p>
            <a:pPr indent="0" lvl="0" marL="0" rtl="0" algn="l">
              <a:lnSpc>
                <a:spcPct val="80000"/>
              </a:lnSpc>
              <a:spcBef>
                <a:spcPts val="231"/>
              </a:spcBef>
              <a:spcAft>
                <a:spcPts val="0"/>
              </a:spcAft>
              <a:buSzPts val="1400"/>
              <a:buNone/>
            </a:pPr>
            <a:r>
              <a:rPr lang="en-US" sz="800">
                <a:latin typeface="Open Sans"/>
                <a:ea typeface="Noto Sans SC"/>
                <a:cs typeface="Open Sans"/>
                <a:sym typeface="Open Sans"/>
              </a:rPr>
              <a:t>y_hat = 1 / (1 + inf_to_zero)</a:t>
            </a:r>
            <a:endParaRPr>
              <a:latin typeface="Open Sans"/>
              <a:ea typeface="Noto Sans SC"/>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marR="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所有这些图形都从 </a:t>
            </a:r>
            <a:r>
              <a:rPr lang="en-US">
                <a:solidFill>
                  <a:srgbClr val="000000"/>
                </a:solidFill>
                <a:latin typeface="Open Sans"/>
                <a:ea typeface="Noto Sans SC"/>
                <a:cs typeface="Open Sans"/>
                <a:sym typeface="Open Sans"/>
              </a:rPr>
              <a:t>linear</a:t>
            </a:r>
            <a:r>
              <a:rPr lang="en-US">
                <a:latin typeface="Open Sans"/>
                <a:ea typeface="Noto Sans SC"/>
                <a:cs typeface="Open Sans"/>
                <a:sym typeface="Open Sans"/>
              </a:rPr>
              <a:t>(</a:t>
            </a:r>
            <a:r>
              <a:rPr b="0" i="0" lang="en-US" sz="1100">
                <a:solidFill>
                  <a:schemeClr val="lt1"/>
                </a:solidFill>
                <a:latin typeface="Open Sans"/>
                <a:ea typeface="Noto Sans SC"/>
                <a:cs typeface="Open Sans"/>
                <a:sym typeface="Open Sans"/>
              </a:rPr>
              <a:t>𝑦=∑_(𝑖=1)^𝑛▒〖𝑤_𝑖 𝑥_𝑖 〗+𝑏</a:t>
            </a:r>
            <a:r>
              <a:rPr lang="en-US" sz="800">
                <a:solidFill>
                  <a:schemeClr val="lt1"/>
                </a:solidFill>
                <a:latin typeface="Open Sans"/>
                <a:ea typeface="Noto Sans SC"/>
                <a:cs typeface="Open Sans"/>
                <a:sym typeface="Open Sans"/>
              </a:rPr>
              <a:t>), </a:t>
            </a:r>
            <a:r>
              <a:rPr lang="en-US">
                <a:solidFill>
                  <a:srgbClr val="000000"/>
                </a:solidFill>
                <a:latin typeface="Open Sans"/>
                <a:ea typeface="Noto Sans SC"/>
                <a:cs typeface="Open Sans"/>
                <a:sym typeface="Open Sans"/>
              </a:rPr>
              <a:t>开始，然后将平面/直线“挤压”到激活函数中。</a:t>
            </a:r>
            <a:endParaRPr/>
          </a:p>
          <a:p>
            <a:pPr indent="0" lvl="0" marL="0" marR="0" rtl="0" algn="l">
              <a:lnSpc>
                <a:spcPct val="100000"/>
              </a:lnSpc>
              <a:spcBef>
                <a:spcPts val="330"/>
              </a:spcBef>
              <a:spcAft>
                <a:spcPts val="0"/>
              </a:spcAft>
              <a:buClr>
                <a:schemeClr val="dk1"/>
              </a:buClr>
              <a:buSzPts val="1100"/>
              <a:buFont typeface="Open Sans"/>
              <a:buNone/>
            </a:pPr>
            <a:r>
              <a:rPr lang="en-US">
                <a:solidFill>
                  <a:srgbClr val="000000"/>
                </a:solidFill>
                <a:latin typeface="Open Sans"/>
                <a:ea typeface="Noto Sans SC"/>
                <a:cs typeface="Open Sans"/>
                <a:sym typeface="Open Sans"/>
              </a:rPr>
              <a:t>在图形中，w1 = 1，w2 = 1，b = 0</a:t>
            </a:r>
            <a:endParaRPr>
              <a:solidFill>
                <a:srgbClr val="000000"/>
              </a:solidFill>
              <a:latin typeface="Open Sans"/>
              <a:ea typeface="Noto Sans SC"/>
              <a:cs typeface="Open Sans"/>
              <a:sym typeface="Open Sans"/>
            </a:endParaRPr>
          </a:p>
          <a:p>
            <a:pPr indent="0" lvl="0" marL="0" marR="0" rtl="0" algn="l">
              <a:lnSpc>
                <a:spcPct val="100000"/>
              </a:lnSpc>
              <a:spcBef>
                <a:spcPts val="330"/>
              </a:spcBef>
              <a:spcAft>
                <a:spcPts val="0"/>
              </a:spcAft>
              <a:buClr>
                <a:schemeClr val="dk1"/>
              </a:buClr>
              <a:buSzPts val="1100"/>
              <a:buFont typeface="Open Sans"/>
              <a:buNone/>
            </a:pPr>
            <a:r>
              <a:t/>
            </a:r>
            <a:endParaRPr>
              <a:solidFill>
                <a:srgbClr val="000000"/>
              </a:solidFill>
              <a:latin typeface="Open Sans"/>
              <a:ea typeface="Noto Sans SC"/>
              <a:cs typeface="Open Sans"/>
              <a:sym typeface="Open Sans"/>
            </a:endParaRPr>
          </a:p>
          <a:p>
            <a:pPr indent="0" lvl="0" marL="0" marR="0" rtl="0" algn="l">
              <a:lnSpc>
                <a:spcPct val="100000"/>
              </a:lnSpc>
              <a:spcBef>
                <a:spcPts val="330"/>
              </a:spcBef>
              <a:spcAft>
                <a:spcPts val="0"/>
              </a:spcAft>
              <a:buClr>
                <a:schemeClr val="dk1"/>
              </a:buClr>
              <a:buSzPts val="1100"/>
              <a:buFont typeface="Open Sans"/>
              <a:buNone/>
            </a:pPr>
            <a:r>
              <a:rPr lang="en-US">
                <a:latin typeface="Open Sans"/>
                <a:ea typeface="Noto Sans SC"/>
                <a:cs typeface="Open Sans"/>
                <a:sym typeface="Open Sans"/>
              </a:rPr>
              <a:t>实际上，神经元可能会具有多个输入，而这正是这些激活函数在三维空间中赋予神经元的形状。Linear 只是一个平面，就像一张纸一样。ReLU 像一个楔形。而 Sigmoid 像是卷起的波浪。</a:t>
            </a:r>
            <a:endParaRPr>
              <a:latin typeface="Open Sans"/>
              <a:ea typeface="Noto Sans SC"/>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2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p12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现在说说理解所有这些数学理论有何帮助。假设有一个单输入单输出的数据集，我们推测该数据集由两个波形相加而成。我们可以在第一层中使用 </a:t>
            </a:r>
            <a:r>
              <a:rPr lang="en-US">
                <a:solidFill>
                  <a:srgbClr val="222222"/>
                </a:solidFill>
                <a:latin typeface="Open Sans"/>
                <a:ea typeface="Noto Sans SC"/>
                <a:cs typeface="Open Sans"/>
                <a:sym typeface="Open Sans"/>
              </a:rPr>
              <a:t>Sinusoidal</a:t>
            </a:r>
            <a:r>
              <a:rPr lang="en-US">
                <a:latin typeface="Open Sans"/>
                <a:ea typeface="Noto Sans SC"/>
                <a:cs typeface="Open Sans"/>
                <a:sym typeface="Open Sans"/>
              </a:rPr>
              <a:t> 激活函数，并在最后一层中使用线性激活，以便能将二者相加。</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如果有足够的数据，神经网络将能为我们确定这些子成分中每一个的权重参数。大致了解数据的形状以及变量之间的关系可以帮助我们建立更高效的数据模型，从而节省时间和算力，最终节省资金。</a:t>
            </a:r>
            <a:endParaRPr>
              <a:latin typeface="Open Sans"/>
              <a:ea typeface="Noto Sans SC"/>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2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如果我们可以使用更多层和神经元来生成这些复杂的形状，为何不建立一个超大的神经网络来解决每个问题呢？</a:t>
            </a:r>
            <a:endParaRPr>
              <a:latin typeface="Open Sans"/>
              <a:ea typeface="Noto Sans SC"/>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3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任何人都能想到模型过大会带来的缺陷。</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我们可能会浪费大量计算资源，并且训练时间也可能会更长，但我们还应了解另一个问题。</a:t>
            </a:r>
            <a:endParaRPr>
              <a:latin typeface="Open Sans"/>
              <a:ea typeface="Noto Sans SC"/>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2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p12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这个问题可以追溯到经典统计学，但它仍然牵扯到神经网络。假设我们出去收集了一些数据，并创建了两个模型。哪一个更好？</a:t>
            </a:r>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按照 RMSE 来看，左边这个更好。</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但如果我们出去收集了新的数据样本呢？</a:t>
            </a:r>
            <a:endParaRPr>
              <a:latin typeface="Open Sans"/>
              <a:ea typeface="Noto Sans SC"/>
              <a:cs typeface="Open Sans"/>
              <a:sym typeface="Open Sans"/>
            </a:endParaRPr>
          </a:p>
          <a:p>
            <a:pPr indent="-228600" lvl="0" marL="457200" marR="0" rtl="0" algn="l">
              <a:lnSpc>
                <a:spcPct val="100000"/>
              </a:lnSpc>
              <a:spcBef>
                <a:spcPts val="33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2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12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SzPts val="1400"/>
              <a:buNone/>
            </a:pPr>
            <a:r>
              <a:rPr lang="en-US">
                <a:latin typeface="Open Sans"/>
                <a:ea typeface="Noto Sans SC"/>
                <a:cs typeface="Open Sans"/>
                <a:sym typeface="Open Sans"/>
              </a:rPr>
              <a:t>事实证明，我们更简单的模型可以更好地推广到新数据。 并非所有问题都那么简单，并且能够确定给定模型的正确复杂度是数据科学家的职责</a:t>
            </a:r>
            <a:endParaRPr>
              <a:latin typeface="Open Sans"/>
              <a:ea typeface="Noto Sans SC"/>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3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13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还记得我们拥有两个独立数据池（训练和验证）的时候吗？</a:t>
            </a:r>
            <a:endParaRPr b="0" i="0" u="none" strike="noStrike">
              <a:solidFill>
                <a:schemeClr val="lt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lt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因此，我们可以肯定网络并不只是“记住”它用来进行学习的数据</a:t>
            </a:r>
            <a:endParaRPr b="0" i="0" u="none" strike="noStrike">
              <a:solidFill>
                <a:schemeClr val="lt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lt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我们需要确保它在看到新的和不同的图像时同样保持准确性</a:t>
            </a:r>
            <a:endParaRPr b="0" i="0" u="none" strike="noStrike">
              <a:solidFill>
                <a:schemeClr val="lt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lt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如果模型在使用训练数据时表现良好，但在使用新数据时表现不佳，我们将这种现象称为过拟合</a:t>
            </a:r>
            <a:endParaRPr b="0" i="0" u="none" strike="noStrike">
              <a:solidFill>
                <a:schemeClr val="lt1"/>
              </a:solidFill>
              <a:latin typeface="Open Sans"/>
              <a:ea typeface="Noto Sans SC"/>
              <a:cs typeface="Open Sans"/>
              <a:sym typeface="Open Sans"/>
            </a:endParaRPr>
          </a:p>
          <a:p>
            <a:pPr indent="-228600" lvl="0" marL="457200" marR="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3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我们刚才回顾了神经网络的许多部分。现在我们看看它们是如何应用于上一个实验的。</a:t>
            </a:r>
            <a:endParaRPr>
              <a:latin typeface="Open Sans"/>
              <a:ea typeface="Noto Sans SC"/>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3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这是上一个实验中的模型的可视化图形。您能说出此图中我们刚才学过的一些组成部分吗？缺少哪些细节？</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3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这是此图的更详细版本，现在它包含了激活函数。我们在隐藏层中使用 ReLu 来添加高效的非线性，但为何在末尾使用 sigmoid？因为这可让我们获得0到1的值，代表某个数字的概率！</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但如果全部 10 个数字的所有概率加起来等于 100%，岂不是很有用？如何做到这一点呢？</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3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3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别担心，TensorFlow 内置了一个可以做到这一点的函数，叫做 softmax。它会将整个输出层中所有的logits分数换算成未归一化的概率，然后再进行归一化后，使它们加起来等于 100%。</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42857"/>
              </a:lnSpc>
              <a:spcBef>
                <a:spcPts val="0"/>
              </a:spcBef>
              <a:spcAft>
                <a:spcPts val="0"/>
              </a:spcAft>
              <a:buSzPts val="1400"/>
              <a:buNone/>
            </a:pPr>
            <a:r>
              <a:rPr lang="en-US" sz="1050">
                <a:solidFill>
                  <a:srgbClr val="37474F"/>
                </a:solidFill>
                <a:highlight>
                  <a:srgbClr val="FFFFFF"/>
                </a:highlight>
                <a:latin typeface="Open Sans"/>
                <a:ea typeface="Noto Sans SC"/>
                <a:cs typeface="Open Sans"/>
                <a:sym typeface="Open Sans"/>
              </a:rPr>
              <a:t>logits - </a:t>
            </a:r>
            <a:r>
              <a:rPr lang="en-US" sz="1050">
                <a:solidFill>
                  <a:srgbClr val="202124"/>
                </a:solidFill>
                <a:highlight>
                  <a:srgbClr val="FFFFFF"/>
                </a:highlight>
                <a:latin typeface="Open Sans"/>
                <a:ea typeface="Noto Sans SC"/>
                <a:cs typeface="Open Sans"/>
                <a:sym typeface="Open Sans"/>
              </a:rPr>
              <a:t>Per-label activations, typically a linear output（即加权和Wx+b）. These activation energies are interpreted as unnormalized log probabilities.</a:t>
            </a:r>
            <a:endParaRPr sz="1050">
              <a:solidFill>
                <a:srgbClr val="202124"/>
              </a:solidFill>
              <a:highlight>
                <a:srgbClr val="FFFFFF"/>
              </a:highlight>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13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13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rtl="0" algn="l">
              <a:lnSpc>
                <a:spcPct val="100000"/>
              </a:lnSpc>
              <a:spcBef>
                <a:spcPts val="330"/>
              </a:spcBef>
              <a:spcAft>
                <a:spcPts val="0"/>
              </a:spcAft>
              <a:buSzPts val="1400"/>
              <a:buNone/>
            </a:pPr>
            <a:r>
              <a:rPr b="0" i="0" lang="en-US" sz="1100" u="none" strike="noStrike">
                <a:solidFill>
                  <a:schemeClr val="dk1"/>
                </a:solidFill>
                <a:latin typeface="Open Sans"/>
                <a:ea typeface="Noto Sans SC"/>
                <a:cs typeface="Open Sans"/>
                <a:sym typeface="Open Sans"/>
              </a:rPr>
              <a:t>Let’s say we have a group of points that are categorized by color. How would we use and RMSE line to predict whether a new data point is going to be red or blue?</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3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13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现在，我们想找到一条能最好地分隔这些数据的直线。我们用于计算梯度下降的误差函数称为损失函数或代价函数。RMSE 和 MSE 都属于损失函数。我们可以尝试为这些颜色分配数字并使用 RMSE，但还有更好的方法。</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3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13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解决此问题最常用的方法是使用多分类交叉熵。在深入研究数学理论之前，我们先说说逻辑。我们将向每个点分配一个与它是红色还是蓝色有关的概率。我们大致可以将此概率视为它属于特定类别的置信度。</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多分类交叉熵的具体设计如下：如果我们百分之百地确信某个点为蓝色，并且结果完全正确，则我们的损失为 0。但是，如果结果错误，则我们应为自己的自大受到惩罚，并且遭受无限大的损失！反过来同样如此。如果我们将某个点是蓝色的概率指定为 0%，这表示我们绝对确定该点是红色而不是蓝色，因此我们不会有任何损失。但是，如果它是蓝色，我们会有无限大的损失。</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3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13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这是完整的数学公式。对数用于获取近乎无限大的损失。这个公式看起来可能很长，其实您可以使用一个小技巧。当目标为 False 时（即</a:t>
            </a:r>
            <a:r>
              <a:rPr i="1" lang="en-US">
                <a:latin typeface="Open Sans"/>
                <a:ea typeface="Noto Sans SC"/>
                <a:cs typeface="Open Sans"/>
                <a:sym typeface="Open Sans"/>
              </a:rPr>
              <a:t>t(x)=0</a:t>
            </a:r>
            <a:r>
              <a:rPr lang="en-US">
                <a:latin typeface="Open Sans"/>
                <a:ea typeface="Noto Sans SC"/>
                <a:cs typeface="Open Sans"/>
                <a:sym typeface="Open Sans"/>
              </a:rPr>
              <a:t>），公式的左半部分直接变为 0；而</a:t>
            </a:r>
            <a:r>
              <a:rPr lang="en-US">
                <a:solidFill>
                  <a:srgbClr val="000000"/>
                </a:solidFill>
                <a:latin typeface="Open Sans"/>
                <a:ea typeface="Noto Sans SC"/>
                <a:cs typeface="Open Sans"/>
                <a:sym typeface="Open Sans"/>
              </a:rPr>
              <a:t>目标为 True 时，</a:t>
            </a:r>
            <a:r>
              <a:rPr lang="en-US">
                <a:latin typeface="Open Sans"/>
                <a:ea typeface="Noto Sans SC"/>
                <a:cs typeface="Open Sans"/>
                <a:sym typeface="Open Sans"/>
              </a:rPr>
              <a:t>右半部分则并变为 0。</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3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0" name="Google Shape;920;p13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这是供所有程序员参考的代码版本。这在数学上与前一张幻灯片相同，不过现在是代码形式。</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y_hat 表示我们预测点为蓝色，而 y_actual 表示点是否确实为蓝色。对数用于将代码推向无穷大，因为 log(0) 为负无穷大。</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b="0" i="0" lang="en-US" sz="1100" u="none" strike="noStrike">
                <a:solidFill>
                  <a:schemeClr val="dk1"/>
                </a:solidFill>
                <a:latin typeface="Open Sans"/>
                <a:ea typeface="Noto Sans SC"/>
                <a:cs typeface="Open Sans"/>
                <a:sym typeface="Open Sans"/>
              </a:rPr>
              <a:t>Code:</a:t>
            </a:r>
            <a:endParaRPr/>
          </a:p>
          <a:p>
            <a:pPr indent="0" lvl="0" marL="0" rtl="0" algn="l">
              <a:lnSpc>
                <a:spcPct val="100000"/>
              </a:lnSpc>
              <a:spcBef>
                <a:spcPts val="330"/>
              </a:spcBef>
              <a:spcAft>
                <a:spcPts val="0"/>
              </a:spcAft>
              <a:buSzPts val="1400"/>
              <a:buNone/>
            </a:pPr>
            <a:r>
              <a:rPr b="0" i="0" lang="en-US" sz="1100" u="none" strike="noStrike">
                <a:solidFill>
                  <a:schemeClr val="dk1"/>
                </a:solidFill>
                <a:latin typeface="Open Sans"/>
                <a:ea typeface="Noto Sans SC"/>
                <a:cs typeface="Open Sans"/>
                <a:sym typeface="Open Sans"/>
              </a:rPr>
              <a:t>def cross_entropy(y_hat, y_actual):</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b="0" i="0" lang="en-US" sz="1100" u="none" strike="noStrike">
                <a:solidFill>
                  <a:schemeClr val="dk1"/>
                </a:solidFill>
                <a:latin typeface="Open Sans"/>
                <a:ea typeface="Noto Sans SC"/>
                <a:cs typeface="Open Sans"/>
                <a:sym typeface="Open Sans"/>
              </a:rPr>
              <a:t>    """Infinite error for misplaced confidence."""</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b="0" i="0" lang="en-US" sz="1100" u="none" strike="noStrike">
                <a:solidFill>
                  <a:schemeClr val="dk1"/>
                </a:solidFill>
                <a:latin typeface="Open Sans"/>
                <a:ea typeface="Noto Sans SC"/>
                <a:cs typeface="Open Sans"/>
                <a:sym typeface="Open Sans"/>
              </a:rPr>
              <a:t>    loss = log(y_hat) if y_actual else log(1-y_hat)</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b="0" i="0" lang="en-US" sz="1100" u="none" strike="noStrike">
                <a:solidFill>
                  <a:schemeClr val="dk1"/>
                </a:solidFill>
                <a:latin typeface="Open Sans"/>
                <a:ea typeface="Noto Sans SC"/>
                <a:cs typeface="Open Sans"/>
                <a:sym typeface="Open Sans"/>
              </a:rPr>
              <a:t>    return -1*loss</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4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4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好，既然我们了解了主要机制，现在我们谈谈下一个实验。</a:t>
            </a:r>
            <a:endParaRPr>
              <a:latin typeface="Open Sans"/>
              <a:ea typeface="Noto Sans SC"/>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4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p4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我们将使用另一个数据集再试一次：</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美国手语字母表</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与上一次相同的形状（28x28 像素）</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342900" lvl="0" marL="342900" rtl="0" algn="l">
              <a:lnSpc>
                <a:spcPct val="100000"/>
              </a:lnSpc>
              <a:spcBef>
                <a:spcPts val="330"/>
              </a:spcBef>
              <a:spcAft>
                <a:spcPts val="0"/>
              </a:spcAft>
              <a:buClr>
                <a:schemeClr val="dk1"/>
              </a:buClr>
              <a:buSzPts val="1100"/>
              <a:buFont typeface="Open Sans"/>
              <a:buChar char="-"/>
            </a:pPr>
            <a:r>
              <a:rPr lang="en-US">
                <a:latin typeface="Open Sans"/>
                <a:ea typeface="Noto Sans SC"/>
                <a:cs typeface="Open Sans"/>
                <a:sym typeface="Open Sans"/>
              </a:rPr>
              <a:t>相同的灰度形状（28x28 像素）</a:t>
            </a:r>
            <a:endParaRPr/>
          </a:p>
          <a:p>
            <a:pPr indent="-342900" lvl="0" marL="342900" rtl="0" algn="l">
              <a:lnSpc>
                <a:spcPct val="100000"/>
              </a:lnSpc>
              <a:spcBef>
                <a:spcPts val="330"/>
              </a:spcBef>
              <a:spcAft>
                <a:spcPts val="0"/>
              </a:spcAft>
              <a:buClr>
                <a:schemeClr val="dk1"/>
              </a:buClr>
              <a:buSzPts val="1100"/>
              <a:buFont typeface="Open Sans"/>
              <a:buChar char="-"/>
            </a:pPr>
            <a:r>
              <a:rPr lang="en-US">
                <a:latin typeface="Open Sans"/>
                <a:ea typeface="Noto Sans SC"/>
                <a:cs typeface="Open Sans"/>
                <a:sym typeface="Open Sans"/>
              </a:rPr>
              <a:t>跳过 J 和 Z，原因是它们需要手指的移动</a:t>
            </a:r>
            <a:endParaRPr/>
          </a:p>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4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p4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我们现在开始做动手练习吧！</a:t>
            </a:r>
            <a:endParaRPr>
              <a:latin typeface="Open Sans"/>
              <a:ea typeface="Noto Sans SC"/>
              <a:cs typeface="Open Sans"/>
              <a:sym typeface="Open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4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6" name="Google Shape;946;p4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13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13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sz="1100">
                <a:latin typeface="Open Sans"/>
                <a:ea typeface="Noto Sans SC"/>
                <a:cs typeface="Open Sans"/>
                <a:sym typeface="Open Sans"/>
              </a:rPr>
              <a:t>我们知道如何在给定模型的情况下计算 MSE。我们可以使用这些信息做什么呢？</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rPr lang="en-US" sz="1100">
                <a:latin typeface="Open Sans"/>
                <a:ea typeface="Noto Sans SC"/>
                <a:cs typeface="Open Sans"/>
                <a:sym typeface="Open Sans"/>
              </a:rPr>
              <a:t>我们将借鉴微积分课本，并最大限度减小误差。</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rPr lang="en-US" sz="1100">
                <a:latin typeface="Open Sans"/>
                <a:ea typeface="Noto Sans SC"/>
                <a:cs typeface="Open Sans"/>
                <a:sym typeface="Open Sans"/>
              </a:rPr>
              <a:t>现在，如果我们想找出真正的最小值，可以插入所有点的值，并进行一些多元微积分计算来找出 m 和 b，但事实证明，计算机不擅长微积分计算，因此我们将帮助计算机作一下弊。</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rPr lang="en-US" sz="1100">
                <a:latin typeface="Open Sans"/>
                <a:ea typeface="Noto Sans SC"/>
                <a:cs typeface="Open Sans"/>
                <a:sym typeface="Open Sans"/>
              </a:rPr>
              <a:t>在这里，我们已取得 MSE 并将其扩展为包含两个 x-y 数据点 (1,3) 和 (2,5)</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rPr lang="en-US" sz="1100">
                <a:latin typeface="Open Sans"/>
                <a:ea typeface="Noto Sans SC"/>
                <a:cs typeface="Open Sans"/>
                <a:sym typeface="Open Sans"/>
              </a:rPr>
              <a:t>事实证明，虽然计算机难以找出函数的全局最小值，但它们在给定输入的情况下计算函数斜率时表现出色。如果该函数是多维函数（就像有多个输入一样），则该斜率称为梯度。</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rPr lang="en-US" sz="1100">
                <a:latin typeface="Open Sans"/>
                <a:ea typeface="Noto Sans SC"/>
                <a:cs typeface="Open Sans"/>
                <a:sym typeface="Open Sans"/>
              </a:rPr>
              <a:t>正如以下 quora 解答所述，计算机可以通过许多种方式获取梯度：</a:t>
            </a:r>
            <a:r>
              <a:rPr lang="en-US" sz="1100" u="sng">
                <a:solidFill>
                  <a:schemeClr val="hlink"/>
                </a:solidFill>
                <a:latin typeface="Open Sans"/>
                <a:ea typeface="Noto Sans SC"/>
                <a:cs typeface="Open Sans"/>
                <a:sym typeface="Open Sans"/>
                <a:hlinkClick r:id="rId2"/>
              </a:rPr>
              <a:t>https://www.quora.com/How-does-TensorFlow-calculate-gradients#:~:text=There%20are%20a%20few%20different,another%20to%20approximate%20the%20derivative</a:t>
            </a:r>
            <a:r>
              <a:rPr lang="en-US" sz="1100">
                <a:latin typeface="Open Sans"/>
                <a:ea typeface="Noto Sans SC"/>
                <a:cs typeface="Open Sans"/>
                <a:sym typeface="Open Sans"/>
              </a:rPr>
              <a:t>。</a:t>
            </a:r>
            <a:endParaRPr/>
          </a:p>
          <a:p>
            <a:pPr indent="0" lvl="0" marL="0" rtl="0" algn="l">
              <a:lnSpc>
                <a:spcPct val="100000"/>
              </a:lnSpc>
              <a:spcBef>
                <a:spcPts val="305"/>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05"/>
              </a:spcBef>
              <a:spcAft>
                <a:spcPts val="0"/>
              </a:spcAft>
              <a:buSzPts val="1400"/>
              <a:buNone/>
            </a:pPr>
            <a:r>
              <a:rPr lang="en-US" sz="1100">
                <a:latin typeface="Open Sans"/>
                <a:ea typeface="Noto Sans SC"/>
                <a:cs typeface="Open Sans"/>
                <a:sym typeface="Open Sans"/>
              </a:rPr>
              <a:t>一种简单的方法是：直接取两个非常接近的点并计算二者之间的梯度。通过计算梯度，我们将算出我们要学习的每个参数的斜率，而一旦斜率对于所有变量为 0，我们就能找出局部最小值。</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4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4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我们将使用之前算出的梯度来引导估计值接近目标。</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3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3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因为两者都是负值，所以我们需要增大两者的值，以便更接近 0。梯度为我们提供了正确的方向，但幅度过大。</a:t>
            </a:r>
            <a:endParaRPr b="0" i="0" sz="1100" u="none" strike="noStrike">
              <a:solidFill>
                <a:schemeClr val="dk1"/>
              </a:solidFill>
              <a:latin typeface="Open Sans"/>
              <a:ea typeface="Noto Sans SC"/>
              <a:cs typeface="Open Sans"/>
              <a:sym typeface="Open Sans"/>
            </a:endParaRPr>
          </a:p>
          <a:p>
            <a:pPr indent="-228600" lvl="0" marL="457200" rtl="0" algn="l">
              <a:lnSpc>
                <a:spcPct val="100000"/>
              </a:lnSpc>
              <a:spcBef>
                <a:spcPts val="330"/>
              </a:spcBef>
              <a:spcAft>
                <a:spcPts val="0"/>
              </a:spcAft>
              <a:buSzPts val="1400"/>
              <a:buNone/>
            </a:pPr>
            <a:r>
              <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5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p5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让我们引入一个名叫学习率（由 lamba λ 表示）的新参数，它将允许我们改变对参数所做更改的尺度。数据科学家需要自行定义该参数，但值得庆幸的是，有关该主题的研究已</a:t>
            </a:r>
            <a:r>
              <a:rPr lang="en-US">
                <a:solidFill>
                  <a:srgbClr val="000000"/>
                </a:solidFill>
                <a:latin typeface="Open Sans"/>
                <a:ea typeface="Noto Sans SC"/>
                <a:cs typeface="Open Sans"/>
                <a:sym typeface="Open Sans"/>
              </a:rPr>
              <a:t>足够多</a:t>
            </a:r>
            <a:r>
              <a:rPr lang="en-US">
                <a:latin typeface="Open Sans"/>
                <a:ea typeface="Noto Sans SC"/>
                <a:cs typeface="Open Sans"/>
                <a:sym typeface="Open Sans"/>
              </a:rPr>
              <a:t>了，现在的机器学习库都内置了自己的学习率策略。</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5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9" name="Google Shape;1009;p5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如果将学习率设得过大，则会进一步远离目标。</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5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5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如果设得过小，则需要很长时间才能到达目标。此外，在利用更复杂的问题进行训练后，我们可能会受困于局部最小值。</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13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p13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现在，我们让学习率保持 0.1 不变。好的，朝着正确的方向前进，但不够近。没有问题，我们只需反复进行此过程，获取 b 和 m 的新值并找出它们的梯度。</a:t>
            </a:r>
            <a:endParaRPr b="0" i="0" sz="1100" u="none" strike="noStrike">
              <a:solidFill>
                <a:schemeClr val="dk1"/>
              </a:solidFill>
              <a:latin typeface="Open Sans"/>
              <a:ea typeface="Noto Sans SC"/>
              <a:cs typeface="Open Sans"/>
              <a:sym typeface="Open Sans"/>
            </a:endParaRPr>
          </a:p>
          <a:p>
            <a:pPr indent="-228600" lvl="0" marL="457200" rtl="0" algn="l">
              <a:lnSpc>
                <a:spcPct val="100000"/>
              </a:lnSpc>
              <a:spcBef>
                <a:spcPts val="330"/>
              </a:spcBef>
              <a:spcAft>
                <a:spcPts val="0"/>
              </a:spcAft>
              <a:buSzPts val="1400"/>
              <a:buNone/>
            </a:pPr>
            <a:r>
              <a:t/>
            </a:r>
            <a:endParaRPr b="0" i="0" sz="1100" u="none" strike="noStrike">
              <a:solidFill>
                <a:schemeClr val="dk1"/>
              </a:solidFill>
              <a:latin typeface="Open Sans"/>
              <a:ea typeface="Noto Sans SC"/>
              <a:cs typeface="Open Sans"/>
              <a:sym typeface="Open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f63aefb6fc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g3f63aefb6fc_0_28:notes"/>
          <p:cNvSpPr txBox="1"/>
          <p:nvPr>
            <p:ph idx="1" type="body"/>
          </p:nvPr>
        </p:nvSpPr>
        <p:spPr>
          <a:xfrm>
            <a:off x="701040" y="4415790"/>
            <a:ext cx="5608200" cy="4183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sz="1100" u="none" strike="noStrike">
              <a:solidFill>
                <a:schemeClr val="dk1"/>
              </a:solidFill>
              <a:latin typeface="Open Sans"/>
              <a:ea typeface="Noto Sans SC"/>
              <a:cs typeface="Open Sans"/>
              <a:sym typeface="Open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 name="Shape 6"/>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30" name="Shape 30"/>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spTree>
      <p:nvGrpSpPr>
        <p:cNvPr id="32" name="Shape 32"/>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4" name="Shape 34"/>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7" name="Shape 37"/>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theme" Target="../theme/theme6.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6"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8"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upport.microsoft.com/en-us/office/foundations-experiences/what-am-i-allowed-to-use-premium-creative-content-fo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chart" Target="../charts/chart2.xml"/><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chart" Target="../charts/chart3.xml"/><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chart" Target="../charts/chart4.xml"/><Relationship Id="rId6"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5.xml"/><Relationship Id="rId4" Type="http://schemas.openxmlformats.org/officeDocument/2006/relationships/image" Target="../media/image2.png"/><Relationship Id="rId5"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chart" Target="../charts/chart6.xml"/><Relationship Id="rId5" Type="http://schemas.openxmlformats.org/officeDocument/2006/relationships/image" Target="../media/image11.pn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chart" Target="../charts/chart7.xml"/><Relationship Id="rId5" Type="http://schemas.openxmlformats.org/officeDocument/2006/relationships/image" Target="../media/image11.png"/><Relationship Id="rId6"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chart" Target="../charts/chart8.xml"/><Relationship Id="rId5" Type="http://schemas.openxmlformats.org/officeDocument/2006/relationships/image" Target="../media/image9.png"/><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image" Target="../media/image27.png"/><Relationship Id="rId7" Type="http://schemas.openxmlformats.org/officeDocument/2006/relationships/image" Target="../media/image23.png"/><Relationship Id="rId8" Type="http://schemas.openxmlformats.org/officeDocument/2006/relationships/image" Target="../media/image34.png"/><Relationship Id="rId9" Type="http://schemas.openxmlformats.org/officeDocument/2006/relationships/image" Target="../media/image24.png"/><Relationship Id="rId10" Type="http://schemas.openxmlformats.org/officeDocument/2006/relationships/image" Target="../media/image18.png"/><Relationship Id="rId11"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0.png"/><Relationship Id="rId4" Type="http://schemas.openxmlformats.org/officeDocument/2006/relationships/image" Target="../media/image21.png"/><Relationship Id="rId5" Type="http://schemas.openxmlformats.org/officeDocument/2006/relationships/image" Target="../media/image20.png"/><Relationship Id="rId6" Type="http://schemas.openxmlformats.org/officeDocument/2006/relationships/image" Target="../media/image25.png"/><Relationship Id="rId7" Type="http://schemas.openxmlformats.org/officeDocument/2006/relationships/image" Target="../media/image39.png"/><Relationship Id="rId8"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image" Target="../media/image53.png"/><Relationship Id="rId7" Type="http://schemas.openxmlformats.org/officeDocument/2006/relationships/image" Target="../media/image22.png"/><Relationship Id="rId8"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chart" Target="../charts/chart15.xml"/><Relationship Id="rId4" Type="http://schemas.openxmlformats.org/officeDocument/2006/relationships/chart" Target="../charts/char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chart" Target="../charts/chart17.xml"/><Relationship Id="rId4" Type="http://schemas.openxmlformats.org/officeDocument/2006/relationships/chart" Target="../charts/char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chart" Target="../charts/char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chart" Target="../charts/char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chart" Target="../charts/chart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chart" Target="../charts/chart22.xml"/><Relationship Id="rId4" Type="http://schemas.openxmlformats.org/officeDocument/2006/relationships/chart" Target="../charts/char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chart" Target="../charts/chart24.xml"/><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51.png"/><Relationship Id="rId7" Type="http://schemas.openxmlformats.org/officeDocument/2006/relationships/chart" Target="../charts/char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chart" Target="../charts/chart26.xml"/><Relationship Id="rId4" Type="http://schemas.openxmlformats.org/officeDocument/2006/relationships/image" Target="../media/image35.png"/><Relationship Id="rId5" Type="http://schemas.openxmlformats.org/officeDocument/2006/relationships/chart" Target="../charts/char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46.png"/><Relationship Id="rId10"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4.png"/><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8.png"/><Relationship Id="rId4" Type="http://schemas.openxmlformats.org/officeDocument/2006/relationships/image" Target="../media/image37.png"/><Relationship Id="rId5"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8.png"/><Relationship Id="rId6" Type="http://schemas.openxmlformats.org/officeDocument/2006/relationships/image" Target="../media/image37.png"/><Relationship Id="rId7"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3.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8.png"/><Relationship Id="rId7" Type="http://schemas.openxmlformats.org/officeDocument/2006/relationships/image" Target="../media/image37.png"/><Relationship Id="rId8"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7.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57.png"/><Relationship Id="rId7" Type="http://schemas.openxmlformats.org/officeDocument/2006/relationships/image" Target="../media/image37.png"/><Relationship Id="rId8"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8.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hyperlink" Target="https://nvidia.cn/training" TargetMode="External"/><Relationship Id="rId4" Type="http://schemas.openxmlformats.org/officeDocument/2006/relationships/hyperlink" Target="https://www.nvidia.cn/training/certification" TargetMode="External"/><Relationship Id="rId5" Type="http://schemas.openxmlformats.org/officeDocument/2006/relationships/hyperlink" Target="https://www.nvidia.cn/training/find-training/" TargetMode="External"/><Relationship Id="rId6" Type="http://schemas.openxmlformats.org/officeDocument/2006/relationships/hyperlink" Target="https://www.nvidia.cn/training/online" TargetMode="External"/><Relationship Id="rId7" Type="http://schemas.openxmlformats.org/officeDocument/2006/relationships/hyperlink" Target="http://www.bagevent.com/event/8359360" TargetMode="External"/><Relationship Id="rId8" Type="http://schemas.openxmlformats.org/officeDocument/2006/relationships/hyperlink" Target="mailto:dlichina@nvidia.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Course Title"/>
          <p:cNvSpPr txBox="1"/>
          <p:nvPr/>
        </p:nvSpPr>
        <p:spPr>
          <a:xfrm>
            <a:off x="685800" y="2267712"/>
            <a:ext cx="9601200" cy="1005840"/>
          </a:xfrm>
          <a:prstGeom prst="rect">
            <a:avLst/>
          </a:prstGeom>
          <a:noFill/>
          <a:ln>
            <a:noFill/>
          </a:ln>
        </p:spPr>
        <p:txBody>
          <a:bodyPr wrap="none" lIns="0" rIns="0" tIns="0" bIns="0" anchor="ctr" anchorCtr="1"/>
          <a:lstStyle/>
          <a:p>
            <a:pPr algn="ctr">
              <a:buNone/>
            </a:pPr>
            <a:r>
              <a:rPr sz="3200" lang="en-US" b="1">
                <a:solidFill>
                  <a:srgbClr val="000000"/>
                </a:solidFill>
                <a:latin typeface="Noto Sans SC"/>
                <a:ea typeface="Noto Sans SC"/>
                <a:cs typeface="Open Sans"/>
                <a:sym typeface="Open Sans"/>
              </a:rPr>
              <a:t>深度学习新手入门</a:t>
            </a:r>
            <a:endParaRPr sz="3200" b="1">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
        <p:nvSpPr>
          <p:cNvPr id="4" name="Course Part Subtitle"/>
          <p:cNvSpPr txBox="1"/>
          <p:nvPr/>
        </p:nvSpPr>
        <p:spPr>
          <a:xfrm>
            <a:off x="685800" y="3310128"/>
            <a:ext cx="9601200" cy="502920"/>
          </a:xfrm>
          <a:prstGeom prst="rect">
            <a:avLst/>
          </a:prstGeom>
          <a:noFill/>
        </p:spPr>
        <p:txBody>
          <a:bodyPr wrap="none" lIns="0" rIns="0" tIns="0" bIns="0" anchor="ctr">
            <a:spAutoFit/>
          </a:bodyPr>
          <a:lstStyle/>
          <a:p>
            <a:pPr algn="ctr">
              <a:spcBef>
                <a:spcPts val="0"/>
              </a:spcBef>
              <a:spcAft>
                <a:spcPts val="0"/>
              </a:spcAft>
            </a:pPr>
            <a:r>
              <a:rPr sz="1800" b="0" i="0">
                <a:solidFill>
                  <a:srgbClr val="000000"/>
                </a:solidFill>
                <a:latin typeface="Noto Sans SC"/>
                <a:ea typeface="Noto Sans SC"/>
                <a:cs typeface="Open Sans"/>
                <a:sym typeface="Open Sans"/>
              </a:rPr>
              <a:t>第</a:t>
            </a:r>
            <a:r>
              <a:rPr sz="1800" b="0" i="0">
                <a:solidFill>
                  <a:srgbClr val="000000"/>
                </a:solidFill>
                <a:latin typeface="Open Sans"/>
                <a:ea typeface="Noto Sans SC"/>
                <a:cs typeface="Open Sans"/>
                <a:sym typeface="Open Sans"/>
              </a:rPr>
              <a:t> 2 </a:t>
            </a:r>
            <a:r>
              <a:rPr sz="1800" b="0" i="0">
                <a:solidFill>
                  <a:srgbClr val="000000"/>
                </a:solidFill>
                <a:latin typeface="Noto Sans SC"/>
                <a:ea typeface="Noto Sans SC"/>
                <a:cs typeface="Open Sans"/>
                <a:sym typeface="Open Sans"/>
              </a:rPr>
              <a:t>部分</a:t>
            </a:r>
            <a:r>
              <a:rPr sz="1800" b="0" i="0">
                <a:solidFill>
                  <a:srgbClr val="000000"/>
                </a:solidFill>
                <a:latin typeface="Open Sans"/>
                <a:ea typeface="Noto Sans SC"/>
                <a:cs typeface="Open Sans"/>
                <a:sym typeface="Open Sans"/>
              </a:rPr>
              <a:t>：</a:t>
            </a:r>
            <a:r>
              <a:rPr sz="1800" b="0" i="0">
                <a:solidFill>
                  <a:srgbClr val="000000"/>
                </a:solidFill>
                <a:latin typeface="Noto Sans SC"/>
                <a:ea typeface="Noto Sans SC"/>
                <a:cs typeface="Open Sans"/>
                <a:sym typeface="Open Sans"/>
              </a:rPr>
              <a:t>如何训练神经网络</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xmlns:p="http://schemas.openxmlformats.org/presentationml/2006/main" xmlns:a="http://schemas.openxmlformats.org/drawingml/2006/main">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C4C99-3AA4-6FAE-E4D2-E87C07DA3E13}"/>
              </a:ext>
            </a:extLst>
          </p:cNvPr>
          <p:cNvSpPr txBox="1">
            <a:spLocks noGrp="1"/>
          </p:cNvSpPr>
          <p:nvPr/>
        </p:nvSpPr>
        <p:spPr>
          <a:xfrm>
            <a:off x="779069" y="2048878"/>
            <a:ext cx="3642970" cy="1009708"/>
          </a:xfrm>
        </p:spPr>
        <p:txBody>
          <a:bodyPr vert="horz" lIns="27432" tIns="13716" rIns="27432" bIns="13716" rtlCol="0" anchor="b">
            <a:normAutofit/>
          </a:bodyPr>
          <a:lstStyle>
            <a:lvl1pPr algn="l" defTabSz="2743200" rtl="0" eaLnBrk="1" latinLnBrk="0" hangingPunct="1">
              <a:lnSpc>
                <a:spcPct val="90000"/>
              </a:lnSpc>
              <a:spcBef>
                <a:spcPts val="180"/>
              </a:spcBef>
              <a:buNone/>
              <a:defRPr sz="2160" b="1" kern="1200" cap="none" baseline="0">
                <a:solidFill>
                  <a:srgbClr val="000000"/>
                </a:solidFill>
                <a:ea typeface="Noto Sans SC"/>
                <a:latin typeface="Open Sans" panose="020B0503020203020204" pitchFamily="34" charset="0"/>
                <a:cs typeface="Open Sans" panose="020B0503020203020204" pitchFamily="34" charset="0"/>
              </a:defRPr>
              <a:spcAft>
                <a:spcPts val="180"/>
              </a:spcAft>
            </a:lvl1pPr>
          </a:lstStyle>
          <a:p>
            <a:pPr algn="l"/>
            <a:r>
              <a:rPr lang="en-US" sz="2160" b="1">
                <a:latin typeface="Open Sans"/>
              </a:rPr>
              <a:t>Third Party Content Notice</a:t>
            </a:r>
            <a:endParaRPr lang="en-US" dirty="0" sz="2160" b="1"/>
          </a:p>
        </p:txBody>
      </p:sp>
      <p:sp>
        <p:nvSpPr>
          <p:cNvPr id="3" name="Text Placeholder 2">
            <a:extLst>
              <a:ext uri="{FF2B5EF4-FFF2-40B4-BE49-F238E27FC236}">
                <a16:creationId xmlns:a16="http://schemas.microsoft.com/office/drawing/2014/main" id="{BB335D20-198A-2E02-0876-6E631CAA33EA}"/>
              </a:ext>
            </a:extLst>
          </p:cNvPr>
          <p:cNvSpPr txBox="1">
            <a:spLocks noGrp="1"/>
          </p:cNvSpPr>
          <p:nvPr/>
        </p:nvSpPr>
        <p:spPr>
          <a:xfrm>
            <a:off x="779069" y="3084936"/>
            <a:ext cx="3642970" cy="422453"/>
          </a:xfrm>
        </p:spPr>
        <p:txBody>
          <a:bodyPr/>
          <a:lstStyle>
            <a:lvl1pPr marL="0" indent="0" algn="l" defTabSz="2743200" rtl="0" eaLnBrk="1" latinLnBrk="0" hangingPunct="1">
              <a:lnSpc>
                <a:spcPct val="90000"/>
              </a:lnSpc>
              <a:spcBef>
                <a:spcPts val="180"/>
              </a:spcBef>
              <a:defRPr sz="1440" kern="1200">
                <a:ea typeface="Noto Sans SC"/>
                <a:solidFill>
                  <a:srgbClr val="76B900"/>
                </a:solidFill>
                <a:latin typeface="Open Sans" panose="020B0503020203020204" pitchFamily="34" charset="0"/>
                <a:cs typeface="Open Sans" panose="020B0503020203020204" pitchFamily="34" charset="0"/>
              </a:defRPr>
              <a:spcAft>
                <a:spcPts val="180"/>
              </a:spcAft>
              <a:buFontTx/>
              <a:buNone/>
            </a:lvl1pPr>
            <a:lvl2pPr marL="13716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2pPr>
            <a:lvl3pPr marL="27432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3pPr>
            <a:lvl4pPr marL="41148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4pPr>
            <a:lvl5pPr marL="54864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5pPr>
            <a:lvl6pPr marL="75438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6pPr>
            <a:lvl7pPr marL="89154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7pPr>
            <a:lvl8pPr marL="102870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8pPr>
            <a:lvl9pPr marL="116586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9pPr>
          </a:lstStyle>
          <a:p>
            <a:pPr algn="l"/>
            <a:r>
              <a:rPr lang="en-US" sz="1440">
                <a:latin typeface="Open Sans"/>
              </a:rPr>
              <a:t>Microsoft 365 Premium Creative Content</a:t>
            </a:r>
            <a:endParaRPr lang="en-US" dirty="0" sz="1440"/>
          </a:p>
        </p:txBody>
      </p:sp>
      <p:sp>
        <p:nvSpPr>
          <p:cNvPr id="6" name="Rectangle 5">
            <a:extLst>
              <a:ext uri="{FF2B5EF4-FFF2-40B4-BE49-F238E27FC236}">
                <a16:creationId xmlns:a16="http://schemas.microsoft.com/office/drawing/2014/main" id="{230DE533-874C-3F67-0B1B-EB1B6A11F10E}"/>
              </a:ext>
            </a:extLst>
          </p:cNvPr>
          <p:cNvSpPr/>
          <p:nvPr/>
        </p:nvSpPr>
        <p:spPr>
          <a:xfrm>
            <a:off x="4768948" y="0"/>
            <a:ext cx="6203852" cy="6172200"/>
          </a:xfrm>
          <a:prstGeom prst="rect">
            <a:avLst/>
          </a:prstGeom>
          <a:solidFill>
            <a:srgbClr val="FFFFFF">
              <a:lumMod val="95000"/>
            </a:srgbClr>
          </a:solid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pPr algn="ctr">
              <a:lnSpc>
                <a:spcPct val="90000"/>
              </a:lnSpc>
            </a:pPr>
            <a:endParaRPr lang="en-US" sz="1200" dirty="0" err="1">
              <a:solidFill>
                <a:srgbClr val="FFFFFF"/>
              </a:solidFill>
              <a:latin typeface="Open Sans" panose="020B0603020202020204" pitchFamily="34" charset="0"/>
            </a:endParaRPr>
          </a:p>
        </p:txBody>
      </p:sp>
      <p:sp>
        <p:nvSpPr>
          <p:cNvPr id="8" name="Rectangle 7">
            <a:extLst>
              <a:ext uri="{FF2B5EF4-FFF2-40B4-BE49-F238E27FC236}">
                <a16:creationId xmlns:a16="http://schemas.microsoft.com/office/drawing/2014/main" id="{482C3FCD-B910-77C2-26B4-37A0EE6E44D5}"/>
              </a:ext>
            </a:extLst>
          </p:cNvPr>
          <p:cNvSpPr/>
          <p:nvPr/>
        </p:nvSpPr>
        <p:spPr>
          <a:xfrm>
            <a:off x="5401994" y="958956"/>
            <a:ext cx="5011616" cy="4251960"/>
          </a:xfrm>
          <a:prstGeom prst="rect">
            <a:avLst/>
          </a:prstGeom>
          <a:no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r>
              <a:rPr lang="en-US" sz="1200" dirty="0">
                <a:solidFill>
                  <a:srgbClr val="000000"/>
                </a:solidFill>
                <a:latin typeface="Open Sans"/>
              </a:rPr>
              <a:t>This slide deck includes Microsoft 365 stock images, icons, or other premium creative content.</a:t>
            </a:r>
          </a:p>
          <a:p>
            <a:endParaRPr lang="en-US" sz="1200" dirty="0">
              <a:solidFill>
                <a:srgbClr val="000000"/>
              </a:solidFill>
            </a:endParaRPr>
          </a:p>
          <a:p>
            <a:r>
              <a:rPr lang="en-US" sz="1200" dirty="0">
                <a:solidFill>
                  <a:srgbClr val="000000"/>
                </a:solidFill>
                <a:latin typeface="Open Sans"/>
              </a:rPr>
              <a:t>These Microsoft assets are not licensed under this project’s open-source license. They are included only under Microsoft’s applicable Microsoft 365 premium creative content terms:</a:t>
            </a:r>
          </a:p>
          <a:p>
            <a:br>
              <a:rPr lang="en-US" sz="1200" dirty="0">
                <a:solidFill>
                  <a:srgbClr val="000000"/>
                </a:solidFill>
              </a:rPr>
            </a:br>
            <a:endParaRPr lang="en-US" sz="1200" dirty="0">
              <a:solidFill>
                <a:srgbClr val="000000"/>
              </a:solidFill>
            </a:endParaRPr>
          </a:p>
          <a:p>
            <a:r>
              <a:rPr lang="en-US" sz="1200" dirty="0" u="sng">
                <a:solidFill>
                  <a:srgbClr val="76B900"/>
                </a:solidFill>
                <a:latin typeface="Open Sans"/>
                <a:hlinkClick r:id="rId2"/>
              </a:rPr>
              <a:t>https://support.microsoft.com/en-us/office/foundations-experiences/what-am-i-allowed-to-use-premium-creative-content-for</a:t>
            </a:r>
            <a:endParaRPr lang="en-US" sz="1200" dirty="0">
              <a:solidFill>
                <a:srgbClr val="000000"/>
              </a:solidFill>
            </a:endParaRPr>
          </a:p>
          <a:p>
            <a:br>
              <a:rPr lang="en-US" sz="1200" dirty="0">
                <a:solidFill>
                  <a:srgbClr val="000000"/>
                </a:solidFill>
              </a:rPr>
            </a:br>
            <a:endParaRPr lang="en-US" sz="1200" dirty="0">
              <a:solidFill>
                <a:srgbClr val="000000"/>
              </a:solidFill>
            </a:endParaRPr>
          </a:p>
          <a:p>
            <a:r>
              <a:rPr lang="en-US" sz="1200" dirty="0">
                <a:solidFill>
                  <a:srgbClr val="000000"/>
                </a:solidFill>
                <a:latin typeface="Open Sans"/>
              </a:rPr>
              <a:t>Recipients may not extract, reuse, sublicense, or redistribute those Microsoft assets separately under the project’s open-source license. Any use of those assets outside the included Microsoft 365 document, exported PDF, presentation, or similar file must be separately permitted by Microsoft.</a:t>
            </a:r>
          </a:p>
          <a:p>
            <a:pPr algn="ctr">
              <a:lnSpc>
                <a:spcPct val="90000"/>
              </a:lnSpc>
            </a:pPr>
            <a:endParaRPr lang="en-US" sz="1200" dirty="0" err="1">
              <a:solidFill>
                <a:srgbClr val="FFFFFF"/>
              </a:solidFill>
              <a:latin typeface="Open Sans" panose="020B0603020202020204" pitchFamily="34" charset="0"/>
            </a:endParaRPr>
          </a:p>
        </p:txBody>
      </p:sp>
      <p:sp xmlns:p="http://schemas.openxmlformats.org/presentationml/2006/main" xmlns:a="http://schemas.openxmlformats.org/drawingml/2006/main">
        <p:nvSpPr>
          <p:cNvPr id="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extLst>
      <p:ext uri="{BB962C8B-B14F-4D97-AF65-F5344CB8AC3E}">
        <p14:creationId xmlns:p14="http://schemas.microsoft.com/office/powerpoint/2010/main" val="1312169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7" name="Shape 47"/>
        <p:cNvGrpSpPr/>
        <p:nvPr/>
      </p:nvGrpSpPr>
      <p:grpSpPr>
        <a:xfrm>
          <a:off x="0" y="0"/>
          <a:ext cx="0" cy="0"/>
          <a:chOff x="0" y="0"/>
          <a:chExt cx="0" cy="0"/>
        </a:xfrm>
      </p:grpSpPr>
      <p:sp>
        <p:nvSpPr>
          <p:cNvPr id="48" name="Google Shape;48;p2"/>
          <p:cNvSpPr txBox="1"/>
          <p:nvPr/>
        </p:nvSpPr>
        <p:spPr>
          <a:xfrm>
            <a:off x="1306421" y="2072742"/>
            <a:ext cx="2944883" cy="240677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Open Sans"/>
              <a:buNone/>
            </a:pPr>
            <a:r>
              <a:rPr b="0" i="0" lang="en-US" sz="3200" u="none" cap="none" strike="noStrike">
                <a:solidFill>
                  <a:schemeClr val="dk1"/>
                </a:solidFill>
                <a:latin typeface="Noto Sans SC"/>
                <a:ea typeface="Noto Sans SC"/>
                <a:cs typeface="Open Sans"/>
                <a:sym typeface="Open Sans"/>
              </a:rPr>
              <a:t>课程议题</a:t>
            </a:r>
            <a:endParaRPr/>
          </a:p>
        </p:txBody>
      </p:sp>
      <p:grpSp>
        <p:nvGrpSpPr>
          <p:cNvPr id="49" name="Google Shape;49;p2"/>
          <p:cNvGrpSpPr/>
          <p:nvPr/>
        </p:nvGrpSpPr>
        <p:grpSpPr>
          <a:xfrm>
            <a:off x="4627721" y="808936"/>
            <a:ext cx="5322094" cy="4001400"/>
            <a:chOff x="0" y="85989"/>
            <a:chExt cx="5322094" cy="4001400"/>
          </a:xfrm>
        </p:grpSpPr>
        <p:sp>
          <p:nvSpPr>
            <p:cNvPr id="50" name="Google Shape;50;p2"/>
            <p:cNvSpPr/>
            <p:nvPr/>
          </p:nvSpPr>
          <p:spPr>
            <a:xfrm>
              <a:off x="0" y="3073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1" name="Google Shape;51;p2"/>
            <p:cNvSpPr/>
            <p:nvPr/>
          </p:nvSpPr>
          <p:spPr>
            <a:xfrm>
              <a:off x="266104" y="85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2" name="Google Shape;52;p2"/>
            <p:cNvSpPr txBox="1"/>
            <p:nvPr/>
          </p:nvSpPr>
          <p:spPr>
            <a:xfrm>
              <a:off x="287720" y="107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1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深度学习简介</a:t>
              </a:r>
              <a:endParaRPr b="0" i="0" sz="1500" u="none" cap="none" strike="noStrike">
                <a:solidFill>
                  <a:schemeClr val="lt1"/>
                </a:solidFill>
                <a:latin typeface="Open Sans"/>
                <a:ea typeface="Noto Sans SC"/>
                <a:cs typeface="Open Sans"/>
                <a:sym typeface="Open Sans"/>
              </a:endParaRPr>
            </a:p>
          </p:txBody>
        </p:sp>
        <p:sp>
          <p:nvSpPr>
            <p:cNvPr id="53" name="Google Shape;53;p2"/>
            <p:cNvSpPr/>
            <p:nvPr/>
          </p:nvSpPr>
          <p:spPr>
            <a:xfrm>
              <a:off x="0" y="9877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4" name="Google Shape;54;p2"/>
            <p:cNvSpPr/>
            <p:nvPr/>
          </p:nvSpPr>
          <p:spPr>
            <a:xfrm>
              <a:off x="266104" y="7663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5" name="Google Shape;55;p2"/>
            <p:cNvSpPr txBox="1"/>
            <p:nvPr/>
          </p:nvSpPr>
          <p:spPr>
            <a:xfrm>
              <a:off x="287720" y="7880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2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神经网络是如何训练的</a:t>
              </a:r>
              <a:endParaRPr b="0" i="0" sz="1500" u="none" cap="none" strike="noStrike">
                <a:solidFill>
                  <a:schemeClr val="lt1"/>
                </a:solidFill>
                <a:latin typeface="Open Sans"/>
                <a:ea typeface="Noto Sans SC"/>
                <a:cs typeface="Open Sans"/>
                <a:sym typeface="Open Sans"/>
              </a:endParaRPr>
            </a:p>
          </p:txBody>
        </p:sp>
        <p:sp>
          <p:nvSpPr>
            <p:cNvPr id="56" name="Google Shape;56;p2"/>
            <p:cNvSpPr/>
            <p:nvPr/>
          </p:nvSpPr>
          <p:spPr>
            <a:xfrm>
              <a:off x="0" y="16681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7" name="Google Shape;57;p2"/>
            <p:cNvSpPr/>
            <p:nvPr/>
          </p:nvSpPr>
          <p:spPr>
            <a:xfrm>
              <a:off x="266104" y="14467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8" name="Google Shape;58;p2"/>
            <p:cNvSpPr txBox="1"/>
            <p:nvPr/>
          </p:nvSpPr>
          <p:spPr>
            <a:xfrm>
              <a:off x="287720" y="14684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3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卷积神经网络</a:t>
              </a:r>
              <a:endParaRPr b="0" i="0" sz="1500" u="none" cap="none" strike="noStrike">
                <a:solidFill>
                  <a:schemeClr val="lt1"/>
                </a:solidFill>
                <a:latin typeface="Open Sans"/>
                <a:ea typeface="Noto Sans SC"/>
                <a:cs typeface="Open Sans"/>
                <a:sym typeface="Open Sans"/>
              </a:endParaRPr>
            </a:p>
          </p:txBody>
        </p:sp>
        <p:sp>
          <p:nvSpPr>
            <p:cNvPr id="59" name="Google Shape;59;p2"/>
            <p:cNvSpPr/>
            <p:nvPr/>
          </p:nvSpPr>
          <p:spPr>
            <a:xfrm>
              <a:off x="0" y="23485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0" name="Google Shape;60;p2"/>
            <p:cNvSpPr/>
            <p:nvPr/>
          </p:nvSpPr>
          <p:spPr>
            <a:xfrm>
              <a:off x="266104" y="21271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1" name="Google Shape;61;p2"/>
            <p:cNvSpPr txBox="1"/>
            <p:nvPr/>
          </p:nvSpPr>
          <p:spPr>
            <a:xfrm>
              <a:off x="287720" y="21488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4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数据增强与模型部署</a:t>
              </a:r>
              <a:endParaRPr b="0" i="0" sz="1500" u="none" cap="none" strike="noStrike">
                <a:solidFill>
                  <a:schemeClr val="lt1"/>
                </a:solidFill>
                <a:latin typeface="Open Sans"/>
                <a:ea typeface="Noto Sans SC"/>
                <a:cs typeface="Open Sans"/>
                <a:sym typeface="Open Sans"/>
              </a:endParaRPr>
            </a:p>
          </p:txBody>
        </p:sp>
        <p:sp>
          <p:nvSpPr>
            <p:cNvPr id="62" name="Google Shape;62;p2"/>
            <p:cNvSpPr/>
            <p:nvPr/>
          </p:nvSpPr>
          <p:spPr>
            <a:xfrm>
              <a:off x="0" y="30289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3" name="Google Shape;63;p2"/>
            <p:cNvSpPr/>
            <p:nvPr/>
          </p:nvSpPr>
          <p:spPr>
            <a:xfrm>
              <a:off x="266104" y="28075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4" name="Google Shape;64;p2"/>
            <p:cNvSpPr txBox="1"/>
            <p:nvPr/>
          </p:nvSpPr>
          <p:spPr>
            <a:xfrm>
              <a:off x="287720" y="28292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5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预训练的模型</a:t>
              </a:r>
              <a:endParaRPr b="0" i="0" sz="1500" u="none" cap="none" strike="noStrike">
                <a:solidFill>
                  <a:schemeClr val="lt1"/>
                </a:solidFill>
                <a:latin typeface="Open Sans"/>
                <a:ea typeface="Noto Sans SC"/>
                <a:cs typeface="Open Sans"/>
                <a:sym typeface="Open Sans"/>
              </a:endParaRPr>
            </a:p>
          </p:txBody>
        </p:sp>
        <p:sp>
          <p:nvSpPr>
            <p:cNvPr id="65" name="Google Shape;65;p2"/>
            <p:cNvSpPr/>
            <p:nvPr/>
          </p:nvSpPr>
          <p:spPr>
            <a:xfrm>
              <a:off x="0" y="37093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6" name="Google Shape;66;p2"/>
            <p:cNvSpPr/>
            <p:nvPr/>
          </p:nvSpPr>
          <p:spPr>
            <a:xfrm>
              <a:off x="266104" y="3487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7" name="Google Shape;67;p2"/>
            <p:cNvSpPr txBox="1"/>
            <p:nvPr/>
          </p:nvSpPr>
          <p:spPr>
            <a:xfrm>
              <a:off x="287720" y="3509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6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更高级的模型结构</a:t>
              </a:r>
              <a:endParaRPr b="0" i="0" sz="1500" u="none" cap="none" strike="noStrike">
                <a:solidFill>
                  <a:schemeClr val="lt1"/>
                </a:solidFill>
                <a:latin typeface="Open Sans"/>
                <a:ea typeface="Noto Sans SC"/>
                <a:cs typeface="Open Sans"/>
                <a:sym typeface="Open Sans"/>
              </a:endParaRPr>
            </a:p>
          </p:txBody>
        </p:sp>
      </p:grpSp>
      <p:sp xmlns:p="http://schemas.openxmlformats.org/presentationml/2006/main" xmlns:a="http://schemas.openxmlformats.org/drawingml/2006/main">
        <p:nvSpPr>
          <p:cNvPr id="6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1" name="Shape 71"/>
        <p:cNvGrpSpPr/>
        <p:nvPr/>
      </p:nvGrpSpPr>
      <p:grpSpPr>
        <a:xfrm>
          <a:off x="0" y="0"/>
          <a:ext cx="0" cy="0"/>
          <a:chOff x="0" y="0"/>
          <a:chExt cx="0" cy="0"/>
        </a:xfrm>
      </p:grpSpPr>
      <p:sp>
        <p:nvSpPr>
          <p:cNvPr id="72" name="Google Shape;72;p3"/>
          <p:cNvSpPr txBox="1"/>
          <p:nvPr/>
        </p:nvSpPr>
        <p:spPr>
          <a:xfrm>
            <a:off x="1306421" y="1238447"/>
            <a:ext cx="8465302" cy="90269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FFF"/>
              </a:buClr>
              <a:buSzPts val="3200"/>
              <a:buFont typeface="Open Sans"/>
              <a:buNone/>
            </a:pPr>
            <a:r>
              <a:rPr b="0" i="0" lang="en-US" sz="3200" u="none" cap="none" strike="noStrike">
                <a:solidFill>
                  <a:srgbClr val="000000"/>
                </a:solidFill>
                <a:latin typeface="Noto Sans SC"/>
                <a:ea typeface="Noto Sans SC"/>
                <a:cs typeface="Open Sans"/>
                <a:sym typeface="Open Sans"/>
              </a:rPr>
              <a:t>议题</a:t>
            </a:r>
            <a:r>
              <a:rPr b="0" i="0" lang="en-US" sz="3200" u="none" cap="none" strike="noStrike">
                <a:solidFill>
                  <a:srgbClr val="000000"/>
                </a:solidFill>
                <a:latin typeface="Open Sans"/>
                <a:ea typeface="Noto Sans SC"/>
                <a:cs typeface="Open Sans"/>
                <a:sym typeface="Open Sans"/>
              </a:rPr>
              <a:t> – </a:t>
            </a:r>
            <a:r>
              <a:rPr b="0" i="0" lang="en-US" sz="3200" u="none" cap="none" strike="noStrike">
                <a:solidFill>
                  <a:srgbClr val="000000"/>
                </a:solidFill>
                <a:latin typeface="Noto Sans SC"/>
                <a:ea typeface="Noto Sans SC"/>
                <a:cs typeface="Open Sans"/>
                <a:sym typeface="Open Sans"/>
              </a:rPr>
              <a:t>第</a:t>
            </a:r>
            <a:r>
              <a:rPr b="0" i="0" lang="en-US" sz="3200" u="none" cap="none" strike="noStrike">
                <a:solidFill>
                  <a:srgbClr val="000000"/>
                </a:solidFill>
                <a:latin typeface="Open Sans"/>
                <a:ea typeface="Noto Sans SC"/>
                <a:cs typeface="Open Sans"/>
                <a:sym typeface="Open Sans"/>
              </a:rPr>
              <a:t> 2 </a:t>
            </a:r>
            <a:r>
              <a:rPr b="0" i="0" lang="en-US" sz="3200" u="none" cap="none" strike="noStrike">
                <a:solidFill>
                  <a:srgbClr val="000000"/>
                </a:solidFill>
                <a:latin typeface="Noto Sans SC"/>
                <a:ea typeface="Noto Sans SC"/>
                <a:cs typeface="Open Sans"/>
                <a:sym typeface="Open Sans"/>
              </a:rPr>
              <a:t>部分</a:t>
            </a:r>
            <a:endParaRPr b="0" i="0" sz="3200" u="none" cap="none" strike="noStrike">
              <a:solidFill>
                <a:srgbClr val="000000"/>
              </a:solidFill>
              <a:latin typeface="Open Sans"/>
              <a:ea typeface="Noto Sans SC"/>
              <a:cs typeface="Open Sans"/>
              <a:sym typeface="Open Sans"/>
            </a:endParaRPr>
          </a:p>
        </p:txBody>
      </p:sp>
      <p:sp>
        <p:nvSpPr>
          <p:cNvPr id="73" name="Google Shape;73;p3"/>
          <p:cNvSpPr txBox="1"/>
          <p:nvPr/>
        </p:nvSpPr>
        <p:spPr>
          <a:xfrm>
            <a:off x="1306421" y="2141138"/>
            <a:ext cx="8465302" cy="2163214"/>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Clr>
                <a:schemeClr val="accent1"/>
              </a:buClr>
              <a:buSzPts val="1600"/>
              <a:buFont typeface="Open Sans"/>
              <a:buChar char="•"/>
            </a:pPr>
            <a:r>
              <a:rPr b="0" i="0" lang="en-US" sz="1600" u="none" cap="none" strike="noStrike">
                <a:solidFill>
                  <a:srgbClr val="000000"/>
                </a:solidFill>
                <a:latin typeface="Noto Sans SC"/>
                <a:ea typeface="Noto Sans SC"/>
                <a:cs typeface="Open Sans"/>
                <a:sym typeface="Open Sans"/>
              </a:rPr>
              <a:t>回顾</a:t>
            </a:r>
            <a:endParaRPr/>
          </a:p>
          <a:p>
            <a:pPr indent="-228600" lvl="0" marL="457200" marR="0" rtl="0" algn="l">
              <a:lnSpc>
                <a:spcPct val="100000"/>
              </a:lnSpc>
              <a:spcBef>
                <a:spcPts val="900"/>
              </a:spcBef>
              <a:spcAft>
                <a:spcPts val="0"/>
              </a:spcAft>
              <a:buClr>
                <a:schemeClr val="accent1"/>
              </a:buClr>
              <a:buSzPts val="1600"/>
              <a:buFont typeface="Open Sans"/>
              <a:buChar char="•"/>
            </a:pPr>
            <a:r>
              <a:rPr b="0" i="0" lang="en-US" sz="1600" u="none" cap="none" strike="noStrike">
                <a:solidFill>
                  <a:srgbClr val="000000"/>
                </a:solidFill>
                <a:latin typeface="Noto Sans SC"/>
                <a:ea typeface="Noto Sans SC"/>
                <a:cs typeface="Open Sans"/>
                <a:sym typeface="Open Sans"/>
              </a:rPr>
              <a:t>一个简单的模型</a:t>
            </a:r>
            <a:endParaRPr/>
          </a:p>
          <a:p>
            <a:pPr indent="-228600" lvl="0" marL="457200" marR="0" rtl="0" algn="l">
              <a:lnSpc>
                <a:spcPct val="100000"/>
              </a:lnSpc>
              <a:spcBef>
                <a:spcPts val="900"/>
              </a:spcBef>
              <a:spcAft>
                <a:spcPts val="0"/>
              </a:spcAft>
              <a:buClr>
                <a:schemeClr val="accent1"/>
              </a:buClr>
              <a:buSzPts val="1600"/>
              <a:buFont typeface="Open Sans"/>
              <a:buChar char="•"/>
            </a:pPr>
            <a:r>
              <a:rPr b="0" i="0" lang="en-US" sz="1600" u="none" cap="none" strike="noStrike">
                <a:solidFill>
                  <a:srgbClr val="000000"/>
                </a:solidFill>
                <a:latin typeface="Noto Sans SC"/>
                <a:ea typeface="Noto Sans SC"/>
                <a:cs typeface="Open Sans"/>
                <a:sym typeface="Open Sans"/>
              </a:rPr>
              <a:t>从神经元到网络</a:t>
            </a:r>
            <a:endParaRPr/>
          </a:p>
          <a:p>
            <a:pPr indent="-228600" lvl="0" marL="457200" marR="0" rtl="0" algn="l">
              <a:lnSpc>
                <a:spcPct val="100000"/>
              </a:lnSpc>
              <a:spcBef>
                <a:spcPts val="900"/>
              </a:spcBef>
              <a:spcAft>
                <a:spcPts val="0"/>
              </a:spcAft>
              <a:buClr>
                <a:schemeClr val="accent1"/>
              </a:buClr>
              <a:buSzPts val="1600"/>
              <a:buFont typeface="Open Sans"/>
              <a:buChar char="•"/>
            </a:pPr>
            <a:r>
              <a:rPr b="0" i="0" lang="en-US" sz="1600" u="none" cap="none" strike="noStrike">
                <a:solidFill>
                  <a:srgbClr val="000000"/>
                </a:solidFill>
                <a:latin typeface="Noto Sans SC"/>
                <a:ea typeface="Noto Sans SC"/>
                <a:cs typeface="Open Sans"/>
                <a:sym typeface="Open Sans"/>
              </a:rPr>
              <a:t>激活函数</a:t>
            </a:r>
            <a:endParaRPr/>
          </a:p>
          <a:p>
            <a:pPr indent="-228600" lvl="0" marL="457200" marR="0" rtl="0" algn="l">
              <a:lnSpc>
                <a:spcPct val="100000"/>
              </a:lnSpc>
              <a:spcBef>
                <a:spcPts val="900"/>
              </a:spcBef>
              <a:spcAft>
                <a:spcPts val="0"/>
              </a:spcAft>
              <a:buClr>
                <a:schemeClr val="accent1"/>
              </a:buClr>
              <a:buSzPts val="1600"/>
              <a:buFont typeface="Open Sans"/>
              <a:buChar char="•"/>
            </a:pPr>
            <a:r>
              <a:rPr b="0" i="0" lang="en-US" sz="1600" u="none" cap="none" strike="noStrike">
                <a:solidFill>
                  <a:srgbClr val="000000"/>
                </a:solidFill>
                <a:latin typeface="Noto Sans SC"/>
                <a:ea typeface="Noto Sans SC"/>
                <a:cs typeface="Open Sans"/>
                <a:sym typeface="Open Sans"/>
              </a:rPr>
              <a:t>过拟合</a:t>
            </a:r>
            <a:endParaRPr/>
          </a:p>
          <a:p>
            <a:pPr indent="-228600" lvl="0" marL="457200" marR="0" rtl="0" algn="l">
              <a:lnSpc>
                <a:spcPct val="100000"/>
              </a:lnSpc>
              <a:spcBef>
                <a:spcPts val="900"/>
              </a:spcBef>
              <a:spcAft>
                <a:spcPts val="0"/>
              </a:spcAft>
              <a:buClr>
                <a:schemeClr val="accent1"/>
              </a:buClr>
              <a:buSzPts val="1600"/>
              <a:buFont typeface="Open Sans"/>
              <a:buChar char="•"/>
            </a:pPr>
            <a:r>
              <a:rPr b="0" i="0" lang="en-US" sz="1600" u="none" cap="none" strike="noStrike">
                <a:solidFill>
                  <a:srgbClr val="000000"/>
                </a:solidFill>
                <a:latin typeface="Noto Sans SC"/>
                <a:ea typeface="Noto Sans SC"/>
                <a:cs typeface="Open Sans"/>
                <a:sym typeface="Open Sans"/>
              </a:rPr>
              <a:t>从神经元到分类</a:t>
            </a:r>
            <a:endParaRPr/>
          </a:p>
          <a:p>
            <a:pPr indent="-127000" lvl="0" marL="457200" marR="0" rtl="0" algn="l">
              <a:lnSpc>
                <a:spcPct val="100000"/>
              </a:lnSpc>
              <a:spcBef>
                <a:spcPts val="900"/>
              </a:spcBef>
              <a:spcAft>
                <a:spcPts val="0"/>
              </a:spcAft>
              <a:buClr>
                <a:schemeClr val="accent1"/>
              </a:buClr>
              <a:buSzPts val="1600"/>
              <a:buFont typeface="Open Sans"/>
              <a:buNone/>
            </a:pPr>
            <a:r>
              <a:t/>
            </a:r>
            <a:endParaRPr b="0" i="0" sz="1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7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7" name="Shape 77"/>
        <p:cNvGrpSpPr/>
        <p:nvPr/>
      </p:nvGrpSpPr>
      <p:grpSpPr>
        <a:xfrm>
          <a:off x="0" y="0"/>
          <a:ext cx="0" cy="0"/>
          <a:chOff x="0" y="0"/>
          <a:chExt cx="0" cy="0"/>
        </a:xfrm>
      </p:grpSpPr>
      <p:sp>
        <p:nvSpPr>
          <p:cNvPr id="78" name="Google Shape;78;p4"/>
          <p:cNvSpPr txBox="1"/>
          <p:nvPr/>
        </p:nvSpPr>
        <p:spPr>
          <a:xfrm>
            <a:off x="498348" y="661226"/>
            <a:ext cx="9976104" cy="590931"/>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练习回顾</a:t>
            </a:r>
            <a:endParaRPr b="1" i="0" sz="3600" u="none" cap="none" strike="noStrike">
              <a:solidFill>
                <a:schemeClr val="dk2"/>
              </a:solidFill>
              <a:latin typeface="Open Sans"/>
              <a:ea typeface="Noto Sans SC"/>
              <a:cs typeface="Open Sans"/>
              <a:sym typeface="Open Sans"/>
            </a:endParaRPr>
          </a:p>
        </p:txBody>
      </p:sp>
      <p:sp>
        <p:nvSpPr>
          <p:cNvPr id="79" name="Google Shape;79;p4"/>
          <p:cNvSpPr txBox="1"/>
          <p:nvPr/>
        </p:nvSpPr>
        <p:spPr>
          <a:xfrm>
            <a:off x="498348" y="1183333"/>
            <a:ext cx="9976104" cy="525463"/>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Open Sans"/>
              <a:buNone/>
            </a:pPr>
            <a:r>
              <a:rPr b="0" i="0" lang="en-US" sz="2400" u="none" cap="none" strike="noStrike">
                <a:solidFill>
                  <a:schemeClr val="lt2"/>
                </a:solidFill>
                <a:latin typeface="Noto Sans SC"/>
                <a:ea typeface="Noto Sans SC"/>
                <a:cs typeface="Open Sans"/>
                <a:sym typeface="Open Sans"/>
              </a:rPr>
              <a:t>刚刚发生了什么</a:t>
            </a:r>
            <a:r>
              <a:rPr b="0" i="0" lang="en-US" sz="2400" u="none" cap="none" strike="noStrike">
                <a:solidFill>
                  <a:schemeClr val="lt2"/>
                </a:solidFill>
                <a:latin typeface="Open Sans"/>
                <a:ea typeface="Noto Sans SC"/>
                <a:cs typeface="Open Sans"/>
                <a:sym typeface="Open Sans"/>
              </a:rPr>
              <a:t>?</a:t>
            </a:r>
            <a:endParaRPr b="0" i="0" sz="2400" u="none" cap="none" strike="noStrike">
              <a:solidFill>
                <a:schemeClr val="lt2"/>
              </a:solidFill>
              <a:latin typeface="Open Sans"/>
              <a:ea typeface="Noto Sans SC"/>
              <a:cs typeface="Open Sans"/>
              <a:sym typeface="Open Sans"/>
            </a:endParaRPr>
          </a:p>
        </p:txBody>
      </p:sp>
      <p:grpSp>
        <p:nvGrpSpPr>
          <p:cNvPr id="80" name="Google Shape;80;p4"/>
          <p:cNvGrpSpPr/>
          <p:nvPr/>
        </p:nvGrpSpPr>
        <p:grpSpPr>
          <a:xfrm>
            <a:off x="525780" y="1863070"/>
            <a:ext cx="9948671" cy="3718924"/>
            <a:chOff x="0" y="0"/>
            <a:chExt cx="9948671" cy="3718924"/>
          </a:xfrm>
        </p:grpSpPr>
        <p:sp>
          <p:nvSpPr>
            <p:cNvPr id="81" name="Google Shape;81;p4"/>
            <p:cNvSpPr/>
            <p:nvPr/>
          </p:nvSpPr>
          <p:spPr>
            <a:xfrm>
              <a:off x="0" y="0"/>
              <a:ext cx="7660477" cy="669406"/>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2" name="Google Shape;82;p4"/>
            <p:cNvSpPr txBox="1"/>
            <p:nvPr/>
          </p:nvSpPr>
          <p:spPr>
            <a:xfrm>
              <a:off x="19606" y="19606"/>
              <a:ext cx="6859815" cy="63019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2"/>
                </a:buClr>
                <a:buSzPts val="2000"/>
                <a:buFont typeface="Open Sans"/>
                <a:buNone/>
              </a:pPr>
              <a:r>
                <a:rPr b="0" i="0" lang="en-US" sz="2000" u="none" cap="none" strike="noStrike">
                  <a:solidFill>
                    <a:schemeClr val="dk2"/>
                  </a:solidFill>
                  <a:latin typeface="Noto Sans SC"/>
                  <a:ea typeface="Noto Sans SC"/>
                  <a:cs typeface="Open Sans"/>
                  <a:sym typeface="Open Sans"/>
                </a:rPr>
                <a:t>加载数据并对数据进行了可视化</a:t>
              </a:r>
              <a:endParaRPr b="0" i="0" sz="2000" u="none" cap="none" strike="noStrike">
                <a:solidFill>
                  <a:schemeClr val="dk2"/>
                </a:solidFill>
                <a:latin typeface="Open Sans"/>
                <a:ea typeface="Noto Sans SC"/>
                <a:cs typeface="Open Sans"/>
                <a:sym typeface="Open Sans"/>
              </a:endParaRPr>
            </a:p>
          </p:txBody>
        </p:sp>
        <p:sp>
          <p:nvSpPr>
            <p:cNvPr id="83" name="Google Shape;83;p4"/>
            <p:cNvSpPr/>
            <p:nvPr/>
          </p:nvSpPr>
          <p:spPr>
            <a:xfrm>
              <a:off x="572048" y="762379"/>
              <a:ext cx="7660477" cy="669406"/>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4" name="Google Shape;84;p4"/>
            <p:cNvSpPr txBox="1"/>
            <p:nvPr/>
          </p:nvSpPr>
          <p:spPr>
            <a:xfrm>
              <a:off x="591654" y="781985"/>
              <a:ext cx="6614102" cy="63019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2"/>
                </a:buClr>
                <a:buSzPts val="2000"/>
                <a:buFont typeface="Open Sans"/>
                <a:buNone/>
              </a:pPr>
              <a:r>
                <a:rPr b="0" i="0" lang="en-US" sz="2000" u="none" cap="none" strike="noStrike">
                  <a:solidFill>
                    <a:schemeClr val="dk2"/>
                  </a:solidFill>
                  <a:latin typeface="Noto Sans SC"/>
                  <a:ea typeface="Noto Sans SC"/>
                  <a:cs typeface="Open Sans"/>
                  <a:sym typeface="Open Sans"/>
                </a:rPr>
                <a:t>对数据进行了编辑</a:t>
              </a:r>
              <a:r>
                <a:rPr b="0" i="0" lang="en-US" sz="2000" u="none" cap="none" strike="noStrike">
                  <a:solidFill>
                    <a:schemeClr val="dk2"/>
                  </a:solidFill>
                  <a:latin typeface="Open Sans"/>
                  <a:ea typeface="Noto Sans SC"/>
                  <a:cs typeface="Open Sans"/>
                  <a:sym typeface="Open Sans"/>
                </a:rPr>
                <a:t>（</a:t>
              </a:r>
              <a:r>
                <a:rPr b="0" i="0" lang="en-US" sz="2000" u="none" cap="none" strike="noStrike">
                  <a:solidFill>
                    <a:schemeClr val="dk2"/>
                  </a:solidFill>
                  <a:latin typeface="Noto Sans SC"/>
                  <a:ea typeface="Noto Sans SC"/>
                  <a:cs typeface="Open Sans"/>
                  <a:sym typeface="Open Sans"/>
                </a:rPr>
                <a:t>重构并进行归一化以供分类</a:t>
              </a:r>
              <a:r>
                <a:rPr b="0" i="0" lang="en-US" sz="2000" u="none" cap="none" strike="noStrike">
                  <a:solidFill>
                    <a:schemeClr val="dk2"/>
                  </a:solidFill>
                  <a:latin typeface="Open Sans"/>
                  <a:ea typeface="Noto Sans SC"/>
                  <a:cs typeface="Open Sans"/>
                  <a:sym typeface="Open Sans"/>
                </a:rPr>
                <a:t>）</a:t>
              </a:r>
              <a:endParaRPr b="0" i="0" sz="2000" u="none" cap="none" strike="noStrike">
                <a:solidFill>
                  <a:schemeClr val="dk2"/>
                </a:solidFill>
                <a:latin typeface="Open Sans"/>
                <a:ea typeface="Noto Sans SC"/>
                <a:cs typeface="Open Sans"/>
                <a:sym typeface="Open Sans"/>
              </a:endParaRPr>
            </a:p>
          </p:txBody>
        </p:sp>
        <p:sp>
          <p:nvSpPr>
            <p:cNvPr id="85" name="Google Shape;85;p4"/>
            <p:cNvSpPr/>
            <p:nvPr/>
          </p:nvSpPr>
          <p:spPr>
            <a:xfrm>
              <a:off x="1144097" y="1524759"/>
              <a:ext cx="7660477" cy="669406"/>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6" name="Google Shape;86;p4"/>
            <p:cNvSpPr txBox="1"/>
            <p:nvPr/>
          </p:nvSpPr>
          <p:spPr>
            <a:xfrm>
              <a:off x="1163703" y="1544365"/>
              <a:ext cx="6614102" cy="63019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2"/>
                </a:buClr>
                <a:buSzPts val="2000"/>
                <a:buFont typeface="Open Sans"/>
                <a:buNone/>
              </a:pPr>
              <a:r>
                <a:rPr b="0" i="0" lang="en-US" sz="2000" u="none" cap="none" strike="noStrike">
                  <a:solidFill>
                    <a:schemeClr val="dk2"/>
                  </a:solidFill>
                  <a:latin typeface="Noto Sans SC"/>
                  <a:ea typeface="Noto Sans SC"/>
                  <a:cs typeface="Open Sans"/>
                  <a:sym typeface="Open Sans"/>
                </a:rPr>
                <a:t>创建了模型</a:t>
              </a:r>
              <a:endParaRPr b="0" i="0" sz="2000" u="none" cap="none" strike="noStrike">
                <a:solidFill>
                  <a:schemeClr val="dk2"/>
                </a:solidFill>
                <a:latin typeface="Open Sans"/>
                <a:ea typeface="Noto Sans SC"/>
                <a:cs typeface="Open Sans"/>
                <a:sym typeface="Open Sans"/>
              </a:endParaRPr>
            </a:p>
          </p:txBody>
        </p:sp>
        <p:sp>
          <p:nvSpPr>
            <p:cNvPr id="87" name="Google Shape;87;p4"/>
            <p:cNvSpPr/>
            <p:nvPr/>
          </p:nvSpPr>
          <p:spPr>
            <a:xfrm>
              <a:off x="1716145" y="2287138"/>
              <a:ext cx="7660477" cy="669406"/>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8" name="Google Shape;88;p4"/>
            <p:cNvSpPr txBox="1"/>
            <p:nvPr/>
          </p:nvSpPr>
          <p:spPr>
            <a:xfrm>
              <a:off x="1735751" y="2306744"/>
              <a:ext cx="6614102" cy="63019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2"/>
                </a:buClr>
                <a:buSzPts val="2000"/>
                <a:buFont typeface="Open Sans"/>
                <a:buNone/>
              </a:pPr>
              <a:r>
                <a:rPr b="0" i="0" lang="en-US" sz="2000" u="none" cap="none" strike="noStrike">
                  <a:solidFill>
                    <a:schemeClr val="dk2"/>
                  </a:solidFill>
                  <a:latin typeface="Noto Sans SC"/>
                  <a:ea typeface="Noto Sans SC"/>
                  <a:cs typeface="Open Sans"/>
                  <a:sym typeface="Open Sans"/>
                </a:rPr>
                <a:t>编译了模型</a:t>
              </a:r>
              <a:endParaRPr b="0" i="0" sz="2000" u="none" cap="none" strike="noStrike">
                <a:solidFill>
                  <a:schemeClr val="dk2"/>
                </a:solidFill>
                <a:latin typeface="Open Sans"/>
                <a:ea typeface="Noto Sans SC"/>
                <a:cs typeface="Open Sans"/>
                <a:sym typeface="Open Sans"/>
              </a:endParaRPr>
            </a:p>
          </p:txBody>
        </p:sp>
        <p:sp>
          <p:nvSpPr>
            <p:cNvPr id="89" name="Google Shape;89;p4"/>
            <p:cNvSpPr/>
            <p:nvPr/>
          </p:nvSpPr>
          <p:spPr>
            <a:xfrm>
              <a:off x="2288194" y="3049518"/>
              <a:ext cx="7660477" cy="669406"/>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90" name="Google Shape;90;p4"/>
            <p:cNvSpPr txBox="1"/>
            <p:nvPr/>
          </p:nvSpPr>
          <p:spPr>
            <a:xfrm>
              <a:off x="2307800" y="3069124"/>
              <a:ext cx="6614102" cy="630194"/>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dk2"/>
                </a:buClr>
                <a:buSzPts val="2000"/>
                <a:buFont typeface="Open Sans"/>
                <a:buNone/>
              </a:pPr>
              <a:r>
                <a:rPr b="0" i="0" lang="en-US" sz="2000" u="none" cap="none" strike="noStrike">
                  <a:solidFill>
                    <a:schemeClr val="dk2"/>
                  </a:solidFill>
                  <a:latin typeface="Noto Sans SC"/>
                  <a:ea typeface="Noto Sans SC"/>
                  <a:cs typeface="Open Sans"/>
                  <a:sym typeface="Open Sans"/>
                </a:rPr>
                <a:t>使用数据训练了模型</a:t>
              </a:r>
              <a:endParaRPr b="0" i="0" sz="2000" u="none" cap="none" strike="noStrike">
                <a:solidFill>
                  <a:schemeClr val="dk2"/>
                </a:solidFill>
                <a:latin typeface="Open Sans"/>
                <a:ea typeface="Noto Sans SC"/>
                <a:cs typeface="Open Sans"/>
                <a:sym typeface="Open Sans"/>
              </a:endParaRPr>
            </a:p>
          </p:txBody>
        </p:sp>
        <p:sp>
          <p:nvSpPr>
            <p:cNvPr id="91" name="Google Shape;91;p4"/>
            <p:cNvSpPr/>
            <p:nvPr/>
          </p:nvSpPr>
          <p:spPr>
            <a:xfrm>
              <a:off x="7225363" y="489038"/>
              <a:ext cx="435114" cy="435114"/>
            </a:xfrm>
            <a:prstGeom prst="downArrow">
              <a:avLst>
                <a:gd fmla="val 55000" name="adj1"/>
                <a:gd fmla="val 45000" name="adj2"/>
              </a:avLst>
            </a:prstGeom>
            <a:solidFill>
              <a:srgbClr val="C9D5CE">
                <a:alpha val="89804"/>
              </a:srgbClr>
            </a:solidFill>
            <a:ln cap="flat" cmpd="sng" w="9525">
              <a:solidFill>
                <a:srgbClr val="C9D5CE">
                  <a:alpha val="89804"/>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92" name="Google Shape;92;p4"/>
            <p:cNvSpPr txBox="1"/>
            <p:nvPr/>
          </p:nvSpPr>
          <p:spPr>
            <a:xfrm>
              <a:off x="7323264" y="489038"/>
              <a:ext cx="239312" cy="327423"/>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chemeClr val="lt1"/>
                </a:buClr>
                <a:buSzPts val="2000"/>
                <a:buFont typeface="Open Sans"/>
                <a:buNone/>
              </a:pPr>
              <a:r>
                <a:t/>
              </a:r>
              <a:endParaRPr b="0" i="0" sz="2000" u="none" cap="none" strike="noStrike">
                <a:solidFill>
                  <a:schemeClr val="dk2"/>
                </a:solidFill>
                <a:latin typeface="Open Sans"/>
                <a:ea typeface="Noto Sans SC"/>
                <a:cs typeface="Open Sans"/>
                <a:sym typeface="Open Sans"/>
              </a:endParaRPr>
            </a:p>
          </p:txBody>
        </p:sp>
        <p:sp>
          <p:nvSpPr>
            <p:cNvPr id="93" name="Google Shape;93;p4"/>
            <p:cNvSpPr/>
            <p:nvPr/>
          </p:nvSpPr>
          <p:spPr>
            <a:xfrm>
              <a:off x="7797411" y="1251418"/>
              <a:ext cx="435114" cy="435114"/>
            </a:xfrm>
            <a:prstGeom prst="downArrow">
              <a:avLst>
                <a:gd fmla="val 55000" name="adj1"/>
                <a:gd fmla="val 45000" name="adj2"/>
              </a:avLst>
            </a:prstGeom>
            <a:solidFill>
              <a:srgbClr val="C9D5CE">
                <a:alpha val="89804"/>
              </a:srgbClr>
            </a:solidFill>
            <a:ln cap="flat" cmpd="sng" w="9525">
              <a:solidFill>
                <a:srgbClr val="C9D5CE">
                  <a:alpha val="89804"/>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94" name="Google Shape;94;p4"/>
            <p:cNvSpPr txBox="1"/>
            <p:nvPr/>
          </p:nvSpPr>
          <p:spPr>
            <a:xfrm>
              <a:off x="7895312" y="1251418"/>
              <a:ext cx="239312" cy="327423"/>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chemeClr val="lt1"/>
                </a:buClr>
                <a:buSzPts val="2000"/>
                <a:buFont typeface="Open Sans"/>
                <a:buNone/>
              </a:pPr>
              <a:r>
                <a:t/>
              </a:r>
              <a:endParaRPr b="0" i="0" sz="2000" u="none" cap="none" strike="noStrike">
                <a:solidFill>
                  <a:schemeClr val="dk2"/>
                </a:solidFill>
                <a:latin typeface="Open Sans"/>
                <a:ea typeface="Noto Sans SC"/>
                <a:cs typeface="Open Sans"/>
                <a:sym typeface="Open Sans"/>
              </a:endParaRPr>
            </a:p>
          </p:txBody>
        </p:sp>
        <p:sp>
          <p:nvSpPr>
            <p:cNvPr id="95" name="Google Shape;95;p4"/>
            <p:cNvSpPr/>
            <p:nvPr/>
          </p:nvSpPr>
          <p:spPr>
            <a:xfrm>
              <a:off x="8369460" y="2002641"/>
              <a:ext cx="435114" cy="435114"/>
            </a:xfrm>
            <a:prstGeom prst="downArrow">
              <a:avLst>
                <a:gd fmla="val 55000" name="adj1"/>
                <a:gd fmla="val 45000" name="adj2"/>
              </a:avLst>
            </a:prstGeom>
            <a:solidFill>
              <a:srgbClr val="C9D5CE">
                <a:alpha val="89804"/>
              </a:srgbClr>
            </a:solidFill>
            <a:ln cap="flat" cmpd="sng" w="9525">
              <a:solidFill>
                <a:srgbClr val="C9D5CE">
                  <a:alpha val="89804"/>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96" name="Google Shape;96;p4"/>
            <p:cNvSpPr txBox="1"/>
            <p:nvPr/>
          </p:nvSpPr>
          <p:spPr>
            <a:xfrm>
              <a:off x="8467361" y="2002641"/>
              <a:ext cx="239312" cy="327423"/>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chemeClr val="lt1"/>
                </a:buClr>
                <a:buSzPts val="2000"/>
                <a:buFont typeface="Open Sans"/>
                <a:buNone/>
              </a:pPr>
              <a:r>
                <a:t/>
              </a:r>
              <a:endParaRPr b="0" i="0" sz="2000" u="none" cap="none" strike="noStrike">
                <a:solidFill>
                  <a:schemeClr val="dk2"/>
                </a:solidFill>
                <a:latin typeface="Open Sans"/>
                <a:ea typeface="Noto Sans SC"/>
                <a:cs typeface="Open Sans"/>
                <a:sym typeface="Open Sans"/>
              </a:endParaRPr>
            </a:p>
          </p:txBody>
        </p:sp>
        <p:sp>
          <p:nvSpPr>
            <p:cNvPr id="97" name="Google Shape;97;p4"/>
            <p:cNvSpPr/>
            <p:nvPr/>
          </p:nvSpPr>
          <p:spPr>
            <a:xfrm>
              <a:off x="8941509" y="2772458"/>
              <a:ext cx="435114" cy="435114"/>
            </a:xfrm>
            <a:prstGeom prst="downArrow">
              <a:avLst>
                <a:gd fmla="val 55000" name="adj1"/>
                <a:gd fmla="val 45000" name="adj2"/>
              </a:avLst>
            </a:prstGeom>
            <a:solidFill>
              <a:srgbClr val="C9D5CE">
                <a:alpha val="89804"/>
              </a:srgbClr>
            </a:solidFill>
            <a:ln cap="flat" cmpd="sng" w="9525">
              <a:solidFill>
                <a:srgbClr val="C9D5CE">
                  <a:alpha val="89804"/>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98" name="Google Shape;98;p4"/>
            <p:cNvSpPr txBox="1"/>
            <p:nvPr/>
          </p:nvSpPr>
          <p:spPr>
            <a:xfrm>
              <a:off x="9039410" y="2772458"/>
              <a:ext cx="239312" cy="327423"/>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chemeClr val="lt1"/>
                </a:buClr>
                <a:buSzPts val="2000"/>
                <a:buFont typeface="Open Sans"/>
                <a:buNone/>
              </a:pPr>
              <a:r>
                <a:t/>
              </a:r>
              <a:endParaRPr b="0" i="0" sz="2000" u="none" cap="none" strike="noStrike">
                <a:solidFill>
                  <a:schemeClr val="dk2"/>
                </a:solidFill>
                <a:latin typeface="Open Sans"/>
                <a:ea typeface="Noto Sans SC"/>
                <a:cs typeface="Open Sans"/>
                <a:sym typeface="Open Sans"/>
              </a:endParaRPr>
            </a:p>
          </p:txBody>
        </p:sp>
      </p:grpSp>
      <p:sp xmlns:p="http://schemas.openxmlformats.org/presentationml/2006/main" xmlns:a="http://schemas.openxmlformats.org/drawingml/2006/main">
        <p:nvSpPr>
          <p:cNvPr id="9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02" name="Shape 102"/>
        <p:cNvGrpSpPr/>
        <p:nvPr/>
      </p:nvGrpSpPr>
      <p:grpSpPr>
        <a:xfrm>
          <a:off x="0" y="0"/>
          <a:ext cx="0" cy="0"/>
          <a:chOff x="0" y="0"/>
          <a:chExt cx="0" cy="0"/>
        </a:xfrm>
      </p:grpSpPr>
      <p:sp>
        <p:nvSpPr>
          <p:cNvPr id="103" name="Google Shape;103;p5"/>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数据准备</a:t>
            </a:r>
            <a:endParaRPr b="1" i="0" sz="3600" u="none" cap="none" strike="noStrike">
              <a:solidFill>
                <a:schemeClr val="dk2"/>
              </a:solidFill>
              <a:latin typeface="Open Sans"/>
              <a:ea typeface="Noto Sans SC"/>
              <a:cs typeface="Open Sans"/>
              <a:sym typeface="Open Sans"/>
            </a:endParaRPr>
          </a:p>
        </p:txBody>
      </p:sp>
      <p:sp>
        <p:nvSpPr>
          <p:cNvPr id="104" name="Google Shape;104;p5"/>
          <p:cNvSpPr txBox="1"/>
          <p:nvPr/>
        </p:nvSpPr>
        <p:spPr>
          <a:xfrm>
            <a:off x="498348" y="1242325"/>
            <a:ext cx="9976104" cy="52546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400"/>
              <a:buFont typeface="Open Sans"/>
              <a:buNone/>
            </a:pPr>
            <a:r>
              <a:rPr b="0" i="0" lang="en-US" sz="2400" u="none" cap="none" strike="noStrike">
                <a:solidFill>
                  <a:schemeClr val="lt2"/>
                </a:solidFill>
                <a:latin typeface="Noto Sans SC"/>
                <a:ea typeface="Noto Sans SC"/>
                <a:cs typeface="Open Sans"/>
                <a:sym typeface="Open Sans"/>
              </a:rPr>
              <a:t>以数组形式输入</a:t>
            </a:r>
            <a:endParaRPr b="0" i="0" sz="2400" u="none" cap="none" strike="noStrike">
              <a:solidFill>
                <a:schemeClr val="lt2"/>
              </a:solidFill>
              <a:latin typeface="Open Sans"/>
              <a:ea typeface="Noto Sans SC"/>
              <a:cs typeface="Open Sans"/>
              <a:sym typeface="Open Sans"/>
            </a:endParaRPr>
          </a:p>
        </p:txBody>
      </p:sp>
      <p:pic>
        <p:nvPicPr>
          <p:cNvPr descr="A picture containing drawing  Description automatically generated" id="105" name="Google Shape;105;p5"/>
          <p:cNvPicPr preferRelativeResize="0"/>
          <p:nvPr/>
        </p:nvPicPr>
        <p:blipFill rotWithShape="1">
          <a:blip r:embed="rId3">
            <a:alphaModFix/>
          </a:blip>
          <a:srcRect b="0" l="0" r="0" t="0"/>
          <a:stretch/>
        </p:blipFill>
        <p:spPr>
          <a:xfrm>
            <a:off x="1098421" y="1953278"/>
            <a:ext cx="3022600" cy="3022600"/>
          </a:xfrm>
          <a:prstGeom prst="rect">
            <a:avLst/>
          </a:prstGeom>
          <a:noFill/>
          <a:ln>
            <a:noFill/>
          </a:ln>
        </p:spPr>
      </p:pic>
      <p:cxnSp>
        <p:nvCxnSpPr>
          <p:cNvPr id="106" name="Google Shape;106;p5"/>
          <p:cNvCxnSpPr/>
          <p:nvPr/>
        </p:nvCxnSpPr>
        <p:spPr>
          <a:xfrm>
            <a:off x="4229100" y="3463615"/>
            <a:ext cx="1042987" cy="0"/>
          </a:xfrm>
          <a:prstGeom prst="straightConnector1">
            <a:avLst/>
          </a:prstGeom>
          <a:noFill/>
          <a:ln cap="flat" cmpd="sng" w="57150">
            <a:solidFill>
              <a:schemeClr val="accent4"/>
            </a:solidFill>
            <a:prstDash val="solid"/>
            <a:round/>
            <a:headEnd len="sm" w="sm" type="none"/>
            <a:tailEnd len="med" w="med" type="triangle"/>
          </a:ln>
        </p:spPr>
      </p:cxnSp>
      <p:cxnSp>
        <p:nvCxnSpPr>
          <p:cNvPr id="107" name="Google Shape;107;p5"/>
          <p:cNvCxnSpPr/>
          <p:nvPr/>
        </p:nvCxnSpPr>
        <p:spPr>
          <a:xfrm>
            <a:off x="2867026" y="5114717"/>
            <a:ext cx="1042987" cy="0"/>
          </a:xfrm>
          <a:prstGeom prst="straightConnector1">
            <a:avLst/>
          </a:prstGeom>
          <a:noFill/>
          <a:ln cap="flat" cmpd="sng" w="57150">
            <a:solidFill>
              <a:schemeClr val="accent4"/>
            </a:solidFill>
            <a:prstDash val="solid"/>
            <a:round/>
            <a:headEnd len="sm" w="sm" type="none"/>
            <a:tailEnd len="med" w="med" type="triangle"/>
          </a:ln>
        </p:spPr>
      </p:cxnSp>
      <p:cxnSp>
        <p:nvCxnSpPr>
          <p:cNvPr id="108" name="Google Shape;108;p5"/>
          <p:cNvCxnSpPr/>
          <p:nvPr/>
        </p:nvCxnSpPr>
        <p:spPr>
          <a:xfrm rot="10800000">
            <a:off x="1200150" y="5114717"/>
            <a:ext cx="962026" cy="0"/>
          </a:xfrm>
          <a:prstGeom prst="straightConnector1">
            <a:avLst/>
          </a:prstGeom>
          <a:noFill/>
          <a:ln cap="flat" cmpd="sng" w="57150">
            <a:solidFill>
              <a:schemeClr val="accent4"/>
            </a:solidFill>
            <a:prstDash val="solid"/>
            <a:round/>
            <a:headEnd len="sm" w="sm" type="none"/>
            <a:tailEnd len="med" w="med" type="triangle"/>
          </a:ln>
        </p:spPr>
      </p:cxnSp>
      <p:cxnSp>
        <p:nvCxnSpPr>
          <p:cNvPr id="109" name="Google Shape;109;p5"/>
          <p:cNvCxnSpPr/>
          <p:nvPr/>
        </p:nvCxnSpPr>
        <p:spPr>
          <a:xfrm rot="10800000">
            <a:off x="1026986" y="2128838"/>
            <a:ext cx="0" cy="957262"/>
          </a:xfrm>
          <a:prstGeom prst="straightConnector1">
            <a:avLst/>
          </a:prstGeom>
          <a:noFill/>
          <a:ln cap="flat" cmpd="sng" w="57150">
            <a:solidFill>
              <a:schemeClr val="accent4"/>
            </a:solidFill>
            <a:prstDash val="solid"/>
            <a:round/>
            <a:headEnd len="sm" w="sm" type="none"/>
            <a:tailEnd len="med" w="med" type="triangle"/>
          </a:ln>
        </p:spPr>
      </p:cxnSp>
      <p:cxnSp>
        <p:nvCxnSpPr>
          <p:cNvPr id="110" name="Google Shape;110;p5"/>
          <p:cNvCxnSpPr/>
          <p:nvPr/>
        </p:nvCxnSpPr>
        <p:spPr>
          <a:xfrm>
            <a:off x="1026986" y="3799036"/>
            <a:ext cx="0" cy="957262"/>
          </a:xfrm>
          <a:prstGeom prst="straightConnector1">
            <a:avLst/>
          </a:prstGeom>
          <a:noFill/>
          <a:ln cap="flat" cmpd="sng" w="57150">
            <a:solidFill>
              <a:schemeClr val="accent4"/>
            </a:solidFill>
            <a:prstDash val="solid"/>
            <a:round/>
            <a:headEnd len="sm" w="sm" type="none"/>
            <a:tailEnd len="med" w="med" type="triangle"/>
          </a:ln>
        </p:spPr>
      </p:cxnSp>
      <p:sp>
        <p:nvSpPr>
          <p:cNvPr id="111" name="Google Shape;111;p5"/>
          <p:cNvSpPr txBox="1"/>
          <p:nvPr/>
        </p:nvSpPr>
        <p:spPr>
          <a:xfrm>
            <a:off x="2274792" y="4916201"/>
            <a:ext cx="479619" cy="3970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28</a:t>
            </a:r>
            <a:endParaRPr b="0" i="0" sz="2200" u="none" cap="none" strike="noStrike">
              <a:solidFill>
                <a:schemeClr val="dk2"/>
              </a:solidFill>
              <a:latin typeface="Open Sans"/>
              <a:ea typeface="Noto Sans SC"/>
              <a:cs typeface="Open Sans"/>
              <a:sym typeface="Open Sans"/>
            </a:endParaRPr>
          </a:p>
        </p:txBody>
      </p:sp>
      <p:sp>
        <p:nvSpPr>
          <p:cNvPr id="112" name="Google Shape;112;p5"/>
          <p:cNvSpPr txBox="1"/>
          <p:nvPr/>
        </p:nvSpPr>
        <p:spPr>
          <a:xfrm>
            <a:off x="697723" y="3236524"/>
            <a:ext cx="479619" cy="3970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28</a:t>
            </a:r>
            <a:endParaRPr b="0" i="0" sz="2200" u="none" cap="none" strike="noStrike">
              <a:solidFill>
                <a:schemeClr val="dk2"/>
              </a:solidFill>
              <a:latin typeface="Open Sans"/>
              <a:ea typeface="Noto Sans SC"/>
              <a:cs typeface="Open Sans"/>
              <a:sym typeface="Open Sans"/>
            </a:endParaRPr>
          </a:p>
        </p:txBody>
      </p:sp>
      <p:sp>
        <p:nvSpPr>
          <p:cNvPr id="113" name="Google Shape;113;p5"/>
          <p:cNvSpPr txBox="1"/>
          <p:nvPr/>
        </p:nvSpPr>
        <p:spPr>
          <a:xfrm>
            <a:off x="5315817" y="3265119"/>
            <a:ext cx="5158635"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[0,0,0,24,75,184,185,78,32,55,0,0,0…]</a:t>
            </a:r>
            <a:endParaRPr b="0" i="0" sz="22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11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17" name="Shape 117"/>
        <p:cNvGrpSpPr/>
        <p:nvPr/>
      </p:nvGrpSpPr>
      <p:grpSpPr>
        <a:xfrm>
          <a:off x="0" y="0"/>
          <a:ext cx="0" cy="0"/>
          <a:chOff x="0" y="0"/>
          <a:chExt cx="0" cy="0"/>
        </a:xfrm>
      </p:grpSpPr>
      <p:sp>
        <p:nvSpPr>
          <p:cNvPr id="118" name="Google Shape;118;p6"/>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数据准备</a:t>
            </a:r>
            <a:endParaRPr b="1" i="0" sz="3600" u="none" cap="none" strike="noStrike">
              <a:solidFill>
                <a:schemeClr val="dk2"/>
              </a:solidFill>
              <a:latin typeface="Open Sans"/>
              <a:ea typeface="Noto Sans SC"/>
              <a:cs typeface="Open Sans"/>
              <a:sym typeface="Open Sans"/>
            </a:endParaRPr>
          </a:p>
        </p:txBody>
      </p:sp>
      <p:sp>
        <p:nvSpPr>
          <p:cNvPr id="119" name="Google Shape;119;p6"/>
          <p:cNvSpPr txBox="1"/>
          <p:nvPr/>
        </p:nvSpPr>
        <p:spPr>
          <a:xfrm>
            <a:off x="498348" y="1242325"/>
            <a:ext cx="9976104" cy="52546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400"/>
              <a:buFont typeface="Open Sans"/>
              <a:buNone/>
            </a:pPr>
            <a:r>
              <a:rPr b="0" i="0" lang="en-US" sz="2400" u="none" cap="none" strike="noStrike">
                <a:solidFill>
                  <a:schemeClr val="lt2"/>
                </a:solidFill>
                <a:latin typeface="Noto Sans SC"/>
                <a:ea typeface="Noto Sans SC"/>
                <a:cs typeface="Open Sans"/>
                <a:sym typeface="Open Sans"/>
              </a:rPr>
              <a:t>目标转换成类别</a:t>
            </a:r>
            <a:endParaRPr b="0" i="0" sz="2400" u="none" cap="none" strike="noStrike">
              <a:solidFill>
                <a:schemeClr val="lt2"/>
              </a:solidFill>
              <a:latin typeface="Open Sans"/>
              <a:ea typeface="Noto Sans SC"/>
              <a:cs typeface="Open Sans"/>
              <a:sym typeface="Open Sans"/>
            </a:endParaRPr>
          </a:p>
        </p:txBody>
      </p:sp>
      <p:sp>
        <p:nvSpPr>
          <p:cNvPr id="120" name="Google Shape;120;p6"/>
          <p:cNvSpPr txBox="1"/>
          <p:nvPr/>
        </p:nvSpPr>
        <p:spPr>
          <a:xfrm>
            <a:off x="1575541" y="1976989"/>
            <a:ext cx="824760"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0</a:t>
            </a:r>
            <a:endParaRPr b="0" i="0" sz="3000" u="none" cap="none" strike="noStrike">
              <a:solidFill>
                <a:schemeClr val="dk2"/>
              </a:solidFill>
              <a:latin typeface="Open Sans"/>
              <a:ea typeface="Noto Sans SC"/>
              <a:cs typeface="Open Sans"/>
              <a:sym typeface="Open Sans"/>
            </a:endParaRPr>
          </a:p>
        </p:txBody>
      </p:sp>
      <p:sp>
        <p:nvSpPr>
          <p:cNvPr id="121" name="Google Shape;121;p6"/>
          <p:cNvSpPr txBox="1"/>
          <p:nvPr/>
        </p:nvSpPr>
        <p:spPr>
          <a:xfrm>
            <a:off x="4795837" y="1993775"/>
            <a:ext cx="5158635"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[1,0,0,0,0,0,0,0,0,0]</a:t>
            </a:r>
            <a:endParaRPr b="0" i="0" sz="3000" u="none" cap="none" strike="noStrike">
              <a:solidFill>
                <a:schemeClr val="dk2"/>
              </a:solidFill>
              <a:latin typeface="Open Sans"/>
              <a:ea typeface="Noto Sans SC"/>
              <a:cs typeface="Open Sans"/>
              <a:sym typeface="Open Sans"/>
            </a:endParaRPr>
          </a:p>
        </p:txBody>
      </p:sp>
      <p:cxnSp>
        <p:nvCxnSpPr>
          <p:cNvPr id="122" name="Google Shape;122;p6"/>
          <p:cNvCxnSpPr>
            <a:stCxn id="120" idx="3"/>
          </p:cNvCxnSpPr>
          <p:nvPr/>
        </p:nvCxnSpPr>
        <p:spPr>
          <a:xfrm>
            <a:off x="2400301" y="2230905"/>
            <a:ext cx="2771700" cy="0"/>
          </a:xfrm>
          <a:prstGeom prst="straightConnector1">
            <a:avLst/>
          </a:prstGeom>
          <a:noFill/>
          <a:ln cap="flat" cmpd="sng" w="41275">
            <a:solidFill>
              <a:schemeClr val="accent4"/>
            </a:solidFill>
            <a:prstDash val="solid"/>
            <a:round/>
            <a:headEnd len="sm" w="sm" type="none"/>
            <a:tailEnd len="med" w="med" type="triangle"/>
          </a:ln>
        </p:spPr>
      </p:cxnSp>
      <p:sp>
        <p:nvSpPr>
          <p:cNvPr id="123" name="Google Shape;123;p6"/>
          <p:cNvSpPr txBox="1"/>
          <p:nvPr/>
        </p:nvSpPr>
        <p:spPr>
          <a:xfrm>
            <a:off x="1575541" y="2815189"/>
            <a:ext cx="824760"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1</a:t>
            </a:r>
            <a:endParaRPr b="0" i="0" sz="3000" u="none" cap="none" strike="noStrike">
              <a:solidFill>
                <a:schemeClr val="dk2"/>
              </a:solidFill>
              <a:latin typeface="Open Sans"/>
              <a:ea typeface="Noto Sans SC"/>
              <a:cs typeface="Open Sans"/>
              <a:sym typeface="Open Sans"/>
            </a:endParaRPr>
          </a:p>
        </p:txBody>
      </p:sp>
      <p:sp>
        <p:nvSpPr>
          <p:cNvPr id="124" name="Google Shape;124;p6"/>
          <p:cNvSpPr txBox="1"/>
          <p:nvPr/>
        </p:nvSpPr>
        <p:spPr>
          <a:xfrm>
            <a:off x="4795837" y="2831975"/>
            <a:ext cx="5158635"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[0,1,0,0,0,0,0,0,0,0]</a:t>
            </a:r>
            <a:endParaRPr b="0" i="0" sz="3000" u="none" cap="none" strike="noStrike">
              <a:solidFill>
                <a:schemeClr val="dk2"/>
              </a:solidFill>
              <a:latin typeface="Open Sans"/>
              <a:ea typeface="Noto Sans SC"/>
              <a:cs typeface="Open Sans"/>
              <a:sym typeface="Open Sans"/>
            </a:endParaRPr>
          </a:p>
        </p:txBody>
      </p:sp>
      <p:cxnSp>
        <p:nvCxnSpPr>
          <p:cNvPr id="125" name="Google Shape;125;p6"/>
          <p:cNvCxnSpPr>
            <a:stCxn id="123" idx="3"/>
          </p:cNvCxnSpPr>
          <p:nvPr/>
        </p:nvCxnSpPr>
        <p:spPr>
          <a:xfrm>
            <a:off x="2400301" y="3069105"/>
            <a:ext cx="2771700" cy="0"/>
          </a:xfrm>
          <a:prstGeom prst="straightConnector1">
            <a:avLst/>
          </a:prstGeom>
          <a:noFill/>
          <a:ln cap="flat" cmpd="sng" w="44450">
            <a:solidFill>
              <a:schemeClr val="accent4"/>
            </a:solidFill>
            <a:prstDash val="solid"/>
            <a:round/>
            <a:headEnd len="sm" w="sm" type="none"/>
            <a:tailEnd len="med" w="med" type="triangle"/>
          </a:ln>
        </p:spPr>
      </p:cxnSp>
      <p:sp>
        <p:nvSpPr>
          <p:cNvPr id="126" name="Google Shape;126;p6"/>
          <p:cNvSpPr txBox="1"/>
          <p:nvPr/>
        </p:nvSpPr>
        <p:spPr>
          <a:xfrm>
            <a:off x="1575541" y="3616652"/>
            <a:ext cx="824760"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2</a:t>
            </a:r>
            <a:endParaRPr b="0" i="0" sz="3000" u="none" cap="none" strike="noStrike">
              <a:solidFill>
                <a:schemeClr val="dk2"/>
              </a:solidFill>
              <a:latin typeface="Open Sans"/>
              <a:ea typeface="Noto Sans SC"/>
              <a:cs typeface="Open Sans"/>
              <a:sym typeface="Open Sans"/>
            </a:endParaRPr>
          </a:p>
        </p:txBody>
      </p:sp>
      <p:sp>
        <p:nvSpPr>
          <p:cNvPr id="127" name="Google Shape;127;p6"/>
          <p:cNvSpPr txBox="1"/>
          <p:nvPr/>
        </p:nvSpPr>
        <p:spPr>
          <a:xfrm>
            <a:off x="4795837" y="3633438"/>
            <a:ext cx="5158635"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[0,0,1,0,0,0,0,0,0,0]</a:t>
            </a:r>
            <a:endParaRPr b="0" i="0" sz="3000" u="none" cap="none" strike="noStrike">
              <a:solidFill>
                <a:schemeClr val="dk2"/>
              </a:solidFill>
              <a:latin typeface="Open Sans"/>
              <a:ea typeface="Noto Sans SC"/>
              <a:cs typeface="Open Sans"/>
              <a:sym typeface="Open Sans"/>
            </a:endParaRPr>
          </a:p>
        </p:txBody>
      </p:sp>
      <p:cxnSp>
        <p:nvCxnSpPr>
          <p:cNvPr id="128" name="Google Shape;128;p6"/>
          <p:cNvCxnSpPr>
            <a:stCxn id="126" idx="3"/>
          </p:cNvCxnSpPr>
          <p:nvPr/>
        </p:nvCxnSpPr>
        <p:spPr>
          <a:xfrm>
            <a:off x="2400301" y="3870568"/>
            <a:ext cx="2771700" cy="0"/>
          </a:xfrm>
          <a:prstGeom prst="straightConnector1">
            <a:avLst/>
          </a:prstGeom>
          <a:noFill/>
          <a:ln cap="flat" cmpd="sng" w="44450">
            <a:solidFill>
              <a:schemeClr val="accent4"/>
            </a:solidFill>
            <a:prstDash val="solid"/>
            <a:round/>
            <a:headEnd len="sm" w="sm" type="none"/>
            <a:tailEnd len="med" w="med" type="triangle"/>
          </a:ln>
        </p:spPr>
      </p:cxnSp>
      <p:sp>
        <p:nvSpPr>
          <p:cNvPr id="129" name="Google Shape;129;p6"/>
          <p:cNvSpPr txBox="1"/>
          <p:nvPr/>
        </p:nvSpPr>
        <p:spPr>
          <a:xfrm>
            <a:off x="1575541" y="4394998"/>
            <a:ext cx="824760"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3</a:t>
            </a:r>
            <a:endParaRPr b="0" i="0" sz="3000" u="none" cap="none" strike="noStrike">
              <a:solidFill>
                <a:schemeClr val="dk2"/>
              </a:solidFill>
              <a:latin typeface="Open Sans"/>
              <a:ea typeface="Noto Sans SC"/>
              <a:cs typeface="Open Sans"/>
              <a:sym typeface="Open Sans"/>
            </a:endParaRPr>
          </a:p>
        </p:txBody>
      </p:sp>
      <p:sp>
        <p:nvSpPr>
          <p:cNvPr id="130" name="Google Shape;130;p6"/>
          <p:cNvSpPr txBox="1"/>
          <p:nvPr/>
        </p:nvSpPr>
        <p:spPr>
          <a:xfrm>
            <a:off x="4795837" y="4411784"/>
            <a:ext cx="5158635" cy="5078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3000"/>
              <a:buFont typeface="Open Sans"/>
              <a:buNone/>
            </a:pPr>
            <a:r>
              <a:rPr b="0" i="0" lang="en-US" sz="3000" u="none" cap="none" strike="noStrike">
                <a:solidFill>
                  <a:schemeClr val="dk2"/>
                </a:solidFill>
                <a:latin typeface="Open Sans"/>
                <a:ea typeface="Noto Sans SC"/>
                <a:cs typeface="Open Sans"/>
                <a:sym typeface="Open Sans"/>
              </a:rPr>
              <a:t>[0,0,0,1,0,0,0,0,0,0]</a:t>
            </a:r>
            <a:endParaRPr b="0" i="0" sz="3000" u="none" cap="none" strike="noStrike">
              <a:solidFill>
                <a:schemeClr val="dk2"/>
              </a:solidFill>
              <a:latin typeface="Open Sans"/>
              <a:ea typeface="Noto Sans SC"/>
              <a:cs typeface="Open Sans"/>
              <a:sym typeface="Open Sans"/>
            </a:endParaRPr>
          </a:p>
        </p:txBody>
      </p:sp>
      <p:cxnSp>
        <p:nvCxnSpPr>
          <p:cNvPr id="131" name="Google Shape;131;p6"/>
          <p:cNvCxnSpPr>
            <a:stCxn id="129" idx="3"/>
          </p:cNvCxnSpPr>
          <p:nvPr/>
        </p:nvCxnSpPr>
        <p:spPr>
          <a:xfrm>
            <a:off x="2400301" y="4648914"/>
            <a:ext cx="2771700" cy="0"/>
          </a:xfrm>
          <a:prstGeom prst="straightConnector1">
            <a:avLst/>
          </a:prstGeom>
          <a:noFill/>
          <a:ln cap="flat" cmpd="sng" w="44450">
            <a:solidFill>
              <a:schemeClr val="accent4"/>
            </a:solidFill>
            <a:prstDash val="solid"/>
            <a:round/>
            <a:headEnd len="sm" w="sm" type="none"/>
            <a:tailEnd len="med" w="med" type="triangle"/>
          </a:ln>
        </p:spPr>
      </p:cxnSp>
      <p:sp>
        <p:nvSpPr>
          <p:cNvPr id="132" name="Google Shape;132;p6"/>
          <p:cNvSpPr txBox="1"/>
          <p:nvPr/>
        </p:nvSpPr>
        <p:spPr>
          <a:xfrm>
            <a:off x="4795837" y="4665699"/>
            <a:ext cx="824760" cy="707886"/>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Open Sans"/>
              <a:buNone/>
            </a:pPr>
            <a:r>
              <a:rPr b="0" i="0" lang="en-US" sz="4000" u="none" cap="none" strike="noStrike">
                <a:solidFill>
                  <a:schemeClr val="dk2"/>
                </a:solidFill>
                <a:latin typeface="Open Sans"/>
                <a:ea typeface="Noto Sans SC"/>
                <a:cs typeface="Open Sans"/>
                <a:sym typeface="Open Sans"/>
              </a:rPr>
              <a:t>.</a:t>
            </a:r>
            <a:endParaRPr b="0" i="0" sz="4000" u="none" cap="none" strike="noStrike">
              <a:solidFill>
                <a:schemeClr val="dk2"/>
              </a:solidFill>
              <a:latin typeface="Open Sans"/>
              <a:ea typeface="Noto Sans SC"/>
              <a:cs typeface="Open Sans"/>
              <a:sym typeface="Open Sans"/>
            </a:endParaRPr>
          </a:p>
        </p:txBody>
      </p:sp>
      <p:sp>
        <p:nvSpPr>
          <p:cNvPr id="133" name="Google Shape;133;p6"/>
          <p:cNvSpPr txBox="1"/>
          <p:nvPr/>
        </p:nvSpPr>
        <p:spPr>
          <a:xfrm>
            <a:off x="4795837" y="5000231"/>
            <a:ext cx="824760" cy="707886"/>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Open Sans"/>
              <a:buNone/>
            </a:pPr>
            <a:r>
              <a:rPr b="0" i="0" lang="en-US" sz="4000" u="none" cap="none" strike="noStrike">
                <a:solidFill>
                  <a:schemeClr val="dk2"/>
                </a:solidFill>
                <a:latin typeface="Open Sans"/>
                <a:ea typeface="Noto Sans SC"/>
                <a:cs typeface="Open Sans"/>
                <a:sym typeface="Open Sans"/>
              </a:rPr>
              <a:t>.</a:t>
            </a:r>
            <a:endParaRPr b="0" i="0" sz="4000" u="none" cap="none" strike="noStrike">
              <a:solidFill>
                <a:schemeClr val="dk2"/>
              </a:solidFill>
              <a:latin typeface="Open Sans"/>
              <a:ea typeface="Noto Sans SC"/>
              <a:cs typeface="Open Sans"/>
              <a:sym typeface="Open Sans"/>
            </a:endParaRPr>
          </a:p>
        </p:txBody>
      </p:sp>
      <p:sp>
        <p:nvSpPr>
          <p:cNvPr id="134" name="Google Shape;134;p6"/>
          <p:cNvSpPr txBox="1"/>
          <p:nvPr/>
        </p:nvSpPr>
        <p:spPr>
          <a:xfrm>
            <a:off x="4791922" y="5312030"/>
            <a:ext cx="824760" cy="707886"/>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Open Sans"/>
              <a:buNone/>
            </a:pPr>
            <a:r>
              <a:rPr b="0" i="0" lang="en-US" sz="4000" u="none" cap="none" strike="noStrike">
                <a:solidFill>
                  <a:schemeClr val="dk2"/>
                </a:solidFill>
                <a:latin typeface="Open Sans"/>
                <a:ea typeface="Noto Sans SC"/>
                <a:cs typeface="Open Sans"/>
                <a:sym typeface="Open Sans"/>
              </a:rPr>
              <a:t>.</a:t>
            </a:r>
            <a:endParaRPr b="0" i="0" sz="40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13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38" name="Shape 138"/>
        <p:cNvGrpSpPr/>
        <p:nvPr/>
      </p:nvGrpSpPr>
      <p:grpSpPr>
        <a:xfrm>
          <a:off x="0" y="0"/>
          <a:ext cx="0" cy="0"/>
          <a:chOff x="0" y="0"/>
          <a:chExt cx="0" cy="0"/>
        </a:xfrm>
      </p:grpSpPr>
      <p:sp>
        <p:nvSpPr>
          <p:cNvPr id="139" name="Google Shape;139;p7"/>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未训练的模型</a:t>
            </a:r>
            <a:endParaRPr b="1" i="0" sz="3600" u="none" cap="none" strike="noStrike">
              <a:solidFill>
                <a:schemeClr val="dk2"/>
              </a:solidFill>
              <a:latin typeface="Open Sans"/>
              <a:ea typeface="Noto Sans SC"/>
              <a:cs typeface="Open Sans"/>
              <a:sym typeface="Open Sans"/>
            </a:endParaRPr>
          </a:p>
        </p:txBody>
      </p:sp>
      <p:sp>
        <p:nvSpPr>
          <p:cNvPr id="140" name="Google Shape;140;p7"/>
          <p:cNvSpPr/>
          <p:nvPr/>
        </p:nvSpPr>
        <p:spPr>
          <a:xfrm rot="5400000">
            <a:off x="6346538" y="3234704"/>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41" name="Google Shape;141;p7"/>
          <p:cNvSpPr/>
          <p:nvPr/>
        </p:nvSpPr>
        <p:spPr>
          <a:xfrm rot="5400000">
            <a:off x="2223073" y="323000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42" name="Google Shape;142;p7"/>
          <p:cNvSpPr/>
          <p:nvPr/>
        </p:nvSpPr>
        <p:spPr>
          <a:xfrm rot="5400000">
            <a:off x="1832190" y="323000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43" name="Google Shape;143;p7"/>
          <p:cNvSpPr/>
          <p:nvPr/>
        </p:nvSpPr>
        <p:spPr>
          <a:xfrm rot="5400000">
            <a:off x="6346538" y="4049618"/>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44" name="Google Shape;144;p7"/>
          <p:cNvSpPr/>
          <p:nvPr/>
        </p:nvSpPr>
        <p:spPr>
          <a:xfrm rot="5400000">
            <a:off x="2223073" y="40449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45" name="Google Shape;145;p7"/>
          <p:cNvSpPr/>
          <p:nvPr/>
        </p:nvSpPr>
        <p:spPr>
          <a:xfrm rot="5400000">
            <a:off x="1832190" y="40449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46" name="Google Shape;146;p7"/>
          <p:cNvSpPr/>
          <p:nvPr/>
        </p:nvSpPr>
        <p:spPr>
          <a:xfrm rot="5400000">
            <a:off x="1373273" y="504852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47" name="Google Shape;147;p7"/>
          <p:cNvCxnSpPr>
            <a:stCxn id="143" idx="6"/>
            <a:endCxn id="146" idx="2"/>
          </p:cNvCxnSpPr>
          <p:nvPr/>
        </p:nvCxnSpPr>
        <p:spPr>
          <a:xfrm flipH="1">
            <a:off x="1536095" y="4374539"/>
            <a:ext cx="4973400" cy="672900"/>
          </a:xfrm>
          <a:prstGeom prst="straightConnector1">
            <a:avLst/>
          </a:prstGeom>
          <a:noFill/>
          <a:ln cap="flat" cmpd="sng" w="28575">
            <a:solidFill>
              <a:srgbClr val="7F7F7F"/>
            </a:solidFill>
            <a:prstDash val="solid"/>
            <a:round/>
            <a:headEnd len="sm" w="sm" type="none"/>
            <a:tailEnd len="sm" w="sm" type="none"/>
          </a:ln>
        </p:spPr>
      </p:cxnSp>
      <p:cxnSp>
        <p:nvCxnSpPr>
          <p:cNvPr id="148" name="Google Shape;148;p7"/>
          <p:cNvCxnSpPr>
            <a:stCxn id="144" idx="6"/>
            <a:endCxn id="146" idx="2"/>
          </p:cNvCxnSpPr>
          <p:nvPr/>
        </p:nvCxnSpPr>
        <p:spPr>
          <a:xfrm flipH="1">
            <a:off x="1536130" y="4369837"/>
            <a:ext cx="849900" cy="677700"/>
          </a:xfrm>
          <a:prstGeom prst="straightConnector1">
            <a:avLst/>
          </a:prstGeom>
          <a:noFill/>
          <a:ln cap="flat" cmpd="sng" w="28575">
            <a:solidFill>
              <a:srgbClr val="7F7F7F"/>
            </a:solidFill>
            <a:prstDash val="solid"/>
            <a:round/>
            <a:headEnd len="sm" w="sm" type="none"/>
            <a:tailEnd len="sm" w="sm" type="none"/>
          </a:ln>
        </p:spPr>
      </p:cxnSp>
      <p:cxnSp>
        <p:nvCxnSpPr>
          <p:cNvPr id="149" name="Google Shape;149;p7"/>
          <p:cNvCxnSpPr>
            <a:stCxn id="145" idx="6"/>
            <a:endCxn id="146" idx="2"/>
          </p:cNvCxnSpPr>
          <p:nvPr/>
        </p:nvCxnSpPr>
        <p:spPr>
          <a:xfrm flipH="1">
            <a:off x="1536147" y="4369837"/>
            <a:ext cx="459000" cy="677700"/>
          </a:xfrm>
          <a:prstGeom prst="straightConnector1">
            <a:avLst/>
          </a:prstGeom>
          <a:noFill/>
          <a:ln cap="flat" cmpd="sng" w="28575">
            <a:solidFill>
              <a:srgbClr val="7F7F7F"/>
            </a:solidFill>
            <a:prstDash val="solid"/>
            <a:round/>
            <a:headEnd len="sm" w="sm" type="none"/>
            <a:tailEnd len="sm" w="sm" type="none"/>
          </a:ln>
        </p:spPr>
      </p:cxnSp>
      <p:cxnSp>
        <p:nvCxnSpPr>
          <p:cNvPr id="150" name="Google Shape;150;p7"/>
          <p:cNvCxnSpPr>
            <a:stCxn id="142" idx="6"/>
            <a:endCxn id="143" idx="2"/>
          </p:cNvCxnSpPr>
          <p:nvPr/>
        </p:nvCxnSpPr>
        <p:spPr>
          <a:xfrm>
            <a:off x="1995147" y="3554923"/>
            <a:ext cx="4514400" cy="493800"/>
          </a:xfrm>
          <a:prstGeom prst="straightConnector1">
            <a:avLst/>
          </a:prstGeom>
          <a:noFill/>
          <a:ln cap="flat" cmpd="sng" w="28575">
            <a:solidFill>
              <a:srgbClr val="7F7F7F"/>
            </a:solidFill>
            <a:prstDash val="solid"/>
            <a:round/>
            <a:headEnd len="sm" w="sm" type="none"/>
            <a:tailEnd len="sm" w="sm" type="none"/>
          </a:ln>
        </p:spPr>
      </p:cxnSp>
      <p:cxnSp>
        <p:nvCxnSpPr>
          <p:cNvPr id="151" name="Google Shape;151;p7"/>
          <p:cNvCxnSpPr>
            <a:stCxn id="142" idx="6"/>
            <a:endCxn id="144" idx="2"/>
          </p:cNvCxnSpPr>
          <p:nvPr/>
        </p:nvCxnSpPr>
        <p:spPr>
          <a:xfrm>
            <a:off x="1995147" y="3554923"/>
            <a:ext cx="390900" cy="489000"/>
          </a:xfrm>
          <a:prstGeom prst="straightConnector1">
            <a:avLst/>
          </a:prstGeom>
          <a:noFill/>
          <a:ln cap="flat" cmpd="sng" w="28575">
            <a:solidFill>
              <a:srgbClr val="7F7F7F"/>
            </a:solidFill>
            <a:prstDash val="solid"/>
            <a:round/>
            <a:headEnd len="sm" w="sm" type="none"/>
            <a:tailEnd len="sm" w="sm" type="none"/>
          </a:ln>
        </p:spPr>
      </p:cxnSp>
      <p:cxnSp>
        <p:nvCxnSpPr>
          <p:cNvPr id="152" name="Google Shape;152;p7"/>
          <p:cNvCxnSpPr>
            <a:stCxn id="142" idx="6"/>
            <a:endCxn id="145" idx="2"/>
          </p:cNvCxnSpPr>
          <p:nvPr/>
        </p:nvCxnSpPr>
        <p:spPr>
          <a:xfrm>
            <a:off x="1995147" y="3554923"/>
            <a:ext cx="0" cy="489000"/>
          </a:xfrm>
          <a:prstGeom prst="straightConnector1">
            <a:avLst/>
          </a:prstGeom>
          <a:noFill/>
          <a:ln cap="flat" cmpd="sng" w="28575">
            <a:solidFill>
              <a:srgbClr val="7F7F7F"/>
            </a:solidFill>
            <a:prstDash val="solid"/>
            <a:round/>
            <a:headEnd len="sm" w="sm" type="none"/>
            <a:tailEnd len="sm" w="sm" type="none"/>
          </a:ln>
        </p:spPr>
      </p:cxnSp>
      <p:cxnSp>
        <p:nvCxnSpPr>
          <p:cNvPr id="153" name="Google Shape;153;p7"/>
          <p:cNvCxnSpPr>
            <a:stCxn id="140" idx="6"/>
            <a:endCxn id="143" idx="2"/>
          </p:cNvCxnSpPr>
          <p:nvPr/>
        </p:nvCxnSpPr>
        <p:spPr>
          <a:xfrm>
            <a:off x="6509495" y="3559625"/>
            <a:ext cx="0" cy="489000"/>
          </a:xfrm>
          <a:prstGeom prst="straightConnector1">
            <a:avLst/>
          </a:prstGeom>
          <a:noFill/>
          <a:ln cap="flat" cmpd="sng" w="28575">
            <a:solidFill>
              <a:srgbClr val="7F7F7F"/>
            </a:solidFill>
            <a:prstDash val="solid"/>
            <a:round/>
            <a:headEnd len="sm" w="sm" type="none"/>
            <a:tailEnd len="sm" w="sm" type="none"/>
          </a:ln>
        </p:spPr>
      </p:cxnSp>
      <p:cxnSp>
        <p:nvCxnSpPr>
          <p:cNvPr id="154" name="Google Shape;154;p7"/>
          <p:cNvCxnSpPr>
            <a:stCxn id="140" idx="6"/>
            <a:endCxn id="144" idx="2"/>
          </p:cNvCxnSpPr>
          <p:nvPr/>
        </p:nvCxnSpPr>
        <p:spPr>
          <a:xfrm flipH="1">
            <a:off x="2385995" y="3559625"/>
            <a:ext cx="4123500" cy="484200"/>
          </a:xfrm>
          <a:prstGeom prst="straightConnector1">
            <a:avLst/>
          </a:prstGeom>
          <a:noFill/>
          <a:ln cap="flat" cmpd="sng" w="28575">
            <a:solidFill>
              <a:srgbClr val="7F7F7F"/>
            </a:solidFill>
            <a:prstDash val="solid"/>
            <a:round/>
            <a:headEnd len="sm" w="sm" type="none"/>
            <a:tailEnd len="sm" w="sm" type="none"/>
          </a:ln>
        </p:spPr>
      </p:cxnSp>
      <p:cxnSp>
        <p:nvCxnSpPr>
          <p:cNvPr id="155" name="Google Shape;155;p7"/>
          <p:cNvCxnSpPr>
            <a:stCxn id="140" idx="6"/>
            <a:endCxn id="145" idx="2"/>
          </p:cNvCxnSpPr>
          <p:nvPr/>
        </p:nvCxnSpPr>
        <p:spPr>
          <a:xfrm flipH="1">
            <a:off x="1995095" y="3559625"/>
            <a:ext cx="4514400" cy="484200"/>
          </a:xfrm>
          <a:prstGeom prst="straightConnector1">
            <a:avLst/>
          </a:prstGeom>
          <a:noFill/>
          <a:ln cap="flat" cmpd="sng" w="28575">
            <a:solidFill>
              <a:srgbClr val="7F7F7F"/>
            </a:solidFill>
            <a:prstDash val="solid"/>
            <a:round/>
            <a:headEnd len="sm" w="sm" type="none"/>
            <a:tailEnd len="sm" w="sm" type="none"/>
          </a:ln>
        </p:spPr>
      </p:cxnSp>
      <p:cxnSp>
        <p:nvCxnSpPr>
          <p:cNvPr id="156" name="Google Shape;156;p7"/>
          <p:cNvCxnSpPr>
            <a:stCxn id="141" idx="6"/>
            <a:endCxn id="143" idx="2"/>
          </p:cNvCxnSpPr>
          <p:nvPr/>
        </p:nvCxnSpPr>
        <p:spPr>
          <a:xfrm>
            <a:off x="2386030" y="3554923"/>
            <a:ext cx="4123500" cy="493800"/>
          </a:xfrm>
          <a:prstGeom prst="straightConnector1">
            <a:avLst/>
          </a:prstGeom>
          <a:noFill/>
          <a:ln cap="flat" cmpd="sng" w="28575">
            <a:solidFill>
              <a:srgbClr val="7F7F7F"/>
            </a:solidFill>
            <a:prstDash val="solid"/>
            <a:round/>
            <a:headEnd len="sm" w="sm" type="none"/>
            <a:tailEnd len="sm" w="sm" type="none"/>
          </a:ln>
        </p:spPr>
      </p:cxnSp>
      <p:cxnSp>
        <p:nvCxnSpPr>
          <p:cNvPr id="157" name="Google Shape;157;p7"/>
          <p:cNvCxnSpPr>
            <a:stCxn id="141" idx="6"/>
            <a:endCxn id="144" idx="2"/>
          </p:cNvCxnSpPr>
          <p:nvPr/>
        </p:nvCxnSpPr>
        <p:spPr>
          <a:xfrm>
            <a:off x="2386030" y="3554923"/>
            <a:ext cx="0" cy="489000"/>
          </a:xfrm>
          <a:prstGeom prst="straightConnector1">
            <a:avLst/>
          </a:prstGeom>
          <a:noFill/>
          <a:ln cap="flat" cmpd="sng" w="28575">
            <a:solidFill>
              <a:srgbClr val="7F7F7F"/>
            </a:solidFill>
            <a:prstDash val="solid"/>
            <a:round/>
            <a:headEnd len="sm" w="sm" type="none"/>
            <a:tailEnd len="sm" w="sm" type="none"/>
          </a:ln>
        </p:spPr>
      </p:cxnSp>
      <p:cxnSp>
        <p:nvCxnSpPr>
          <p:cNvPr id="158" name="Google Shape;158;p7"/>
          <p:cNvCxnSpPr>
            <a:stCxn id="141" idx="6"/>
            <a:endCxn id="145" idx="2"/>
          </p:cNvCxnSpPr>
          <p:nvPr/>
        </p:nvCxnSpPr>
        <p:spPr>
          <a:xfrm flipH="1">
            <a:off x="1995130" y="3554923"/>
            <a:ext cx="390900" cy="489000"/>
          </a:xfrm>
          <a:prstGeom prst="straightConnector1">
            <a:avLst/>
          </a:prstGeom>
          <a:noFill/>
          <a:ln cap="flat" cmpd="sng" w="28575">
            <a:solidFill>
              <a:srgbClr val="7F7F7F"/>
            </a:solidFill>
            <a:prstDash val="solid"/>
            <a:round/>
            <a:headEnd len="sm" w="sm" type="none"/>
            <a:tailEnd len="sm" w="sm" type="none"/>
          </a:ln>
        </p:spPr>
      </p:cxnSp>
      <p:sp>
        <p:nvSpPr>
          <p:cNvPr id="159" name="Google Shape;159;p7"/>
          <p:cNvSpPr/>
          <p:nvPr/>
        </p:nvSpPr>
        <p:spPr>
          <a:xfrm rot="5400000">
            <a:off x="1996189" y="504389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0" name="Google Shape;160;p7"/>
          <p:cNvSpPr/>
          <p:nvPr/>
        </p:nvSpPr>
        <p:spPr>
          <a:xfrm rot="5400000">
            <a:off x="2621408" y="504852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1" name="Google Shape;161;p7"/>
          <p:cNvSpPr/>
          <p:nvPr/>
        </p:nvSpPr>
        <p:spPr>
          <a:xfrm rot="5400000">
            <a:off x="3244324" y="504389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2" name="Google Shape;162;p7"/>
          <p:cNvSpPr/>
          <p:nvPr/>
        </p:nvSpPr>
        <p:spPr>
          <a:xfrm rot="5400000">
            <a:off x="3895491" y="504852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3" name="Google Shape;163;p7"/>
          <p:cNvSpPr/>
          <p:nvPr/>
        </p:nvSpPr>
        <p:spPr>
          <a:xfrm rot="5400000">
            <a:off x="4518407" y="504389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4" name="Google Shape;164;p7"/>
          <p:cNvSpPr/>
          <p:nvPr/>
        </p:nvSpPr>
        <p:spPr>
          <a:xfrm rot="5400000">
            <a:off x="5140311" y="505703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5" name="Google Shape;165;p7"/>
          <p:cNvSpPr/>
          <p:nvPr/>
        </p:nvSpPr>
        <p:spPr>
          <a:xfrm rot="5400000">
            <a:off x="5763227" y="5052405"/>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6" name="Google Shape;166;p7"/>
          <p:cNvSpPr/>
          <p:nvPr/>
        </p:nvSpPr>
        <p:spPr>
          <a:xfrm rot="5400000">
            <a:off x="6385131" y="504852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7" name="Google Shape;167;p7"/>
          <p:cNvSpPr/>
          <p:nvPr/>
        </p:nvSpPr>
        <p:spPr>
          <a:xfrm rot="5400000">
            <a:off x="7008047" y="504389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68" name="Google Shape;168;p7"/>
          <p:cNvCxnSpPr>
            <a:stCxn id="145" idx="6"/>
            <a:endCxn id="159" idx="2"/>
          </p:cNvCxnSpPr>
          <p:nvPr/>
        </p:nvCxnSpPr>
        <p:spPr>
          <a:xfrm>
            <a:off x="1995147" y="4369837"/>
            <a:ext cx="164100" cy="673200"/>
          </a:xfrm>
          <a:prstGeom prst="straightConnector1">
            <a:avLst/>
          </a:prstGeom>
          <a:noFill/>
          <a:ln cap="flat" cmpd="sng" w="28575">
            <a:solidFill>
              <a:srgbClr val="7F7F7F"/>
            </a:solidFill>
            <a:prstDash val="solid"/>
            <a:round/>
            <a:headEnd len="sm" w="sm" type="none"/>
            <a:tailEnd len="sm" w="sm" type="none"/>
          </a:ln>
        </p:spPr>
      </p:cxnSp>
      <p:cxnSp>
        <p:nvCxnSpPr>
          <p:cNvPr id="169" name="Google Shape;169;p7"/>
          <p:cNvCxnSpPr>
            <a:stCxn id="144" idx="6"/>
            <a:endCxn id="159" idx="2"/>
          </p:cNvCxnSpPr>
          <p:nvPr/>
        </p:nvCxnSpPr>
        <p:spPr>
          <a:xfrm flipH="1">
            <a:off x="2159230" y="4369837"/>
            <a:ext cx="226800" cy="673200"/>
          </a:xfrm>
          <a:prstGeom prst="straightConnector1">
            <a:avLst/>
          </a:prstGeom>
          <a:noFill/>
          <a:ln cap="flat" cmpd="sng" w="28575">
            <a:solidFill>
              <a:srgbClr val="7F7F7F"/>
            </a:solidFill>
            <a:prstDash val="solid"/>
            <a:round/>
            <a:headEnd len="sm" w="sm" type="none"/>
            <a:tailEnd len="sm" w="sm" type="none"/>
          </a:ln>
        </p:spPr>
      </p:cxnSp>
      <p:cxnSp>
        <p:nvCxnSpPr>
          <p:cNvPr id="170" name="Google Shape;170;p7"/>
          <p:cNvCxnSpPr>
            <a:stCxn id="143" idx="6"/>
            <a:endCxn id="159" idx="2"/>
          </p:cNvCxnSpPr>
          <p:nvPr/>
        </p:nvCxnSpPr>
        <p:spPr>
          <a:xfrm flipH="1">
            <a:off x="2159195" y="4374539"/>
            <a:ext cx="4350300" cy="668400"/>
          </a:xfrm>
          <a:prstGeom prst="straightConnector1">
            <a:avLst/>
          </a:prstGeom>
          <a:noFill/>
          <a:ln cap="flat" cmpd="sng" w="28575">
            <a:solidFill>
              <a:srgbClr val="7F7F7F"/>
            </a:solidFill>
            <a:prstDash val="solid"/>
            <a:round/>
            <a:headEnd len="sm" w="sm" type="none"/>
            <a:tailEnd len="sm" w="sm" type="none"/>
          </a:ln>
        </p:spPr>
      </p:cxnSp>
      <p:cxnSp>
        <p:nvCxnSpPr>
          <p:cNvPr id="171" name="Google Shape;171;p7"/>
          <p:cNvCxnSpPr>
            <a:stCxn id="144" idx="6"/>
            <a:endCxn id="160" idx="2"/>
          </p:cNvCxnSpPr>
          <p:nvPr/>
        </p:nvCxnSpPr>
        <p:spPr>
          <a:xfrm>
            <a:off x="2386030" y="4369837"/>
            <a:ext cx="398400" cy="677700"/>
          </a:xfrm>
          <a:prstGeom prst="straightConnector1">
            <a:avLst/>
          </a:prstGeom>
          <a:noFill/>
          <a:ln cap="flat" cmpd="sng" w="28575">
            <a:solidFill>
              <a:srgbClr val="7F7F7F"/>
            </a:solidFill>
            <a:prstDash val="solid"/>
            <a:round/>
            <a:headEnd len="sm" w="sm" type="none"/>
            <a:tailEnd len="sm" w="sm" type="none"/>
          </a:ln>
        </p:spPr>
      </p:cxnSp>
      <p:cxnSp>
        <p:nvCxnSpPr>
          <p:cNvPr id="172" name="Google Shape;172;p7"/>
          <p:cNvCxnSpPr>
            <a:stCxn id="145" idx="6"/>
            <a:endCxn id="160" idx="2"/>
          </p:cNvCxnSpPr>
          <p:nvPr/>
        </p:nvCxnSpPr>
        <p:spPr>
          <a:xfrm>
            <a:off x="1995147" y="4369837"/>
            <a:ext cx="789300" cy="677700"/>
          </a:xfrm>
          <a:prstGeom prst="straightConnector1">
            <a:avLst/>
          </a:prstGeom>
          <a:noFill/>
          <a:ln cap="flat" cmpd="sng" w="28575">
            <a:solidFill>
              <a:srgbClr val="7F7F7F"/>
            </a:solidFill>
            <a:prstDash val="solid"/>
            <a:round/>
            <a:headEnd len="sm" w="sm" type="none"/>
            <a:tailEnd len="sm" w="sm" type="none"/>
          </a:ln>
        </p:spPr>
      </p:cxnSp>
      <p:cxnSp>
        <p:nvCxnSpPr>
          <p:cNvPr id="173" name="Google Shape;173;p7"/>
          <p:cNvCxnSpPr>
            <a:stCxn id="143" idx="6"/>
            <a:endCxn id="160" idx="2"/>
          </p:cNvCxnSpPr>
          <p:nvPr/>
        </p:nvCxnSpPr>
        <p:spPr>
          <a:xfrm flipH="1">
            <a:off x="2784395" y="4374539"/>
            <a:ext cx="3725100" cy="672900"/>
          </a:xfrm>
          <a:prstGeom prst="straightConnector1">
            <a:avLst/>
          </a:prstGeom>
          <a:noFill/>
          <a:ln cap="flat" cmpd="sng" w="28575">
            <a:solidFill>
              <a:srgbClr val="7F7F7F"/>
            </a:solidFill>
            <a:prstDash val="solid"/>
            <a:round/>
            <a:headEnd len="sm" w="sm" type="none"/>
            <a:tailEnd len="sm" w="sm" type="none"/>
          </a:ln>
        </p:spPr>
      </p:cxnSp>
      <p:cxnSp>
        <p:nvCxnSpPr>
          <p:cNvPr id="174" name="Google Shape;174;p7"/>
          <p:cNvCxnSpPr>
            <a:stCxn id="145" idx="6"/>
            <a:endCxn id="161" idx="2"/>
          </p:cNvCxnSpPr>
          <p:nvPr/>
        </p:nvCxnSpPr>
        <p:spPr>
          <a:xfrm>
            <a:off x="1995147" y="4369837"/>
            <a:ext cx="1412100" cy="673200"/>
          </a:xfrm>
          <a:prstGeom prst="straightConnector1">
            <a:avLst/>
          </a:prstGeom>
          <a:noFill/>
          <a:ln cap="flat" cmpd="sng" w="28575">
            <a:solidFill>
              <a:srgbClr val="7F7F7F"/>
            </a:solidFill>
            <a:prstDash val="solid"/>
            <a:round/>
            <a:headEnd len="sm" w="sm" type="none"/>
            <a:tailEnd len="sm" w="sm" type="none"/>
          </a:ln>
        </p:spPr>
      </p:cxnSp>
      <p:cxnSp>
        <p:nvCxnSpPr>
          <p:cNvPr id="175" name="Google Shape;175;p7"/>
          <p:cNvCxnSpPr>
            <a:stCxn id="144" idx="6"/>
            <a:endCxn id="161" idx="2"/>
          </p:cNvCxnSpPr>
          <p:nvPr/>
        </p:nvCxnSpPr>
        <p:spPr>
          <a:xfrm>
            <a:off x="2386030" y="4369837"/>
            <a:ext cx="1021200" cy="673200"/>
          </a:xfrm>
          <a:prstGeom prst="straightConnector1">
            <a:avLst/>
          </a:prstGeom>
          <a:noFill/>
          <a:ln cap="flat" cmpd="sng" w="28575">
            <a:solidFill>
              <a:srgbClr val="7F7F7F"/>
            </a:solidFill>
            <a:prstDash val="solid"/>
            <a:round/>
            <a:headEnd len="sm" w="sm" type="none"/>
            <a:tailEnd len="sm" w="sm" type="none"/>
          </a:ln>
        </p:spPr>
      </p:cxnSp>
      <p:cxnSp>
        <p:nvCxnSpPr>
          <p:cNvPr id="176" name="Google Shape;176;p7"/>
          <p:cNvCxnSpPr>
            <a:stCxn id="143" idx="6"/>
            <a:endCxn id="161" idx="2"/>
          </p:cNvCxnSpPr>
          <p:nvPr/>
        </p:nvCxnSpPr>
        <p:spPr>
          <a:xfrm flipH="1">
            <a:off x="3407195" y="4374539"/>
            <a:ext cx="3102300" cy="668400"/>
          </a:xfrm>
          <a:prstGeom prst="straightConnector1">
            <a:avLst/>
          </a:prstGeom>
          <a:noFill/>
          <a:ln cap="flat" cmpd="sng" w="28575">
            <a:solidFill>
              <a:srgbClr val="7F7F7F"/>
            </a:solidFill>
            <a:prstDash val="solid"/>
            <a:round/>
            <a:headEnd len="sm" w="sm" type="none"/>
            <a:tailEnd len="sm" w="sm" type="none"/>
          </a:ln>
        </p:spPr>
      </p:cxnSp>
      <p:cxnSp>
        <p:nvCxnSpPr>
          <p:cNvPr id="177" name="Google Shape;177;p7"/>
          <p:cNvCxnSpPr>
            <a:stCxn id="145" idx="6"/>
            <a:endCxn id="162" idx="2"/>
          </p:cNvCxnSpPr>
          <p:nvPr/>
        </p:nvCxnSpPr>
        <p:spPr>
          <a:xfrm>
            <a:off x="1995147" y="4369837"/>
            <a:ext cx="2063400" cy="677700"/>
          </a:xfrm>
          <a:prstGeom prst="straightConnector1">
            <a:avLst/>
          </a:prstGeom>
          <a:noFill/>
          <a:ln cap="flat" cmpd="sng" w="28575">
            <a:solidFill>
              <a:srgbClr val="7F7F7F"/>
            </a:solidFill>
            <a:prstDash val="solid"/>
            <a:round/>
            <a:headEnd len="sm" w="sm" type="none"/>
            <a:tailEnd len="sm" w="sm" type="none"/>
          </a:ln>
        </p:spPr>
      </p:cxnSp>
      <p:cxnSp>
        <p:nvCxnSpPr>
          <p:cNvPr id="178" name="Google Shape;178;p7"/>
          <p:cNvCxnSpPr>
            <a:stCxn id="144" idx="6"/>
            <a:endCxn id="162" idx="2"/>
          </p:cNvCxnSpPr>
          <p:nvPr/>
        </p:nvCxnSpPr>
        <p:spPr>
          <a:xfrm>
            <a:off x="2386030" y="4369837"/>
            <a:ext cx="1672500" cy="677700"/>
          </a:xfrm>
          <a:prstGeom prst="straightConnector1">
            <a:avLst/>
          </a:prstGeom>
          <a:noFill/>
          <a:ln cap="flat" cmpd="sng" w="28575">
            <a:solidFill>
              <a:srgbClr val="7F7F7F"/>
            </a:solidFill>
            <a:prstDash val="solid"/>
            <a:round/>
            <a:headEnd len="sm" w="sm" type="none"/>
            <a:tailEnd len="sm" w="sm" type="none"/>
          </a:ln>
        </p:spPr>
      </p:cxnSp>
      <p:cxnSp>
        <p:nvCxnSpPr>
          <p:cNvPr id="179" name="Google Shape;179;p7"/>
          <p:cNvCxnSpPr>
            <a:stCxn id="143" idx="6"/>
            <a:endCxn id="162" idx="2"/>
          </p:cNvCxnSpPr>
          <p:nvPr/>
        </p:nvCxnSpPr>
        <p:spPr>
          <a:xfrm flipH="1">
            <a:off x="4058495" y="4374539"/>
            <a:ext cx="2451000" cy="672900"/>
          </a:xfrm>
          <a:prstGeom prst="straightConnector1">
            <a:avLst/>
          </a:prstGeom>
          <a:noFill/>
          <a:ln cap="flat" cmpd="sng" w="28575">
            <a:solidFill>
              <a:srgbClr val="7F7F7F"/>
            </a:solidFill>
            <a:prstDash val="solid"/>
            <a:round/>
            <a:headEnd len="sm" w="sm" type="none"/>
            <a:tailEnd len="sm" w="sm" type="none"/>
          </a:ln>
        </p:spPr>
      </p:cxnSp>
      <p:cxnSp>
        <p:nvCxnSpPr>
          <p:cNvPr id="180" name="Google Shape;180;p7"/>
          <p:cNvCxnSpPr>
            <a:stCxn id="144" idx="6"/>
            <a:endCxn id="163" idx="2"/>
          </p:cNvCxnSpPr>
          <p:nvPr/>
        </p:nvCxnSpPr>
        <p:spPr>
          <a:xfrm>
            <a:off x="2386030" y="4369837"/>
            <a:ext cx="2295300" cy="673200"/>
          </a:xfrm>
          <a:prstGeom prst="straightConnector1">
            <a:avLst/>
          </a:prstGeom>
          <a:noFill/>
          <a:ln cap="flat" cmpd="sng" w="28575">
            <a:solidFill>
              <a:srgbClr val="7F7F7F"/>
            </a:solidFill>
            <a:prstDash val="solid"/>
            <a:round/>
            <a:headEnd len="sm" w="sm" type="none"/>
            <a:tailEnd len="sm" w="sm" type="none"/>
          </a:ln>
        </p:spPr>
      </p:cxnSp>
      <p:cxnSp>
        <p:nvCxnSpPr>
          <p:cNvPr id="181" name="Google Shape;181;p7"/>
          <p:cNvCxnSpPr>
            <a:stCxn id="145" idx="6"/>
            <a:endCxn id="163" idx="2"/>
          </p:cNvCxnSpPr>
          <p:nvPr/>
        </p:nvCxnSpPr>
        <p:spPr>
          <a:xfrm>
            <a:off x="1995147" y="4369837"/>
            <a:ext cx="2686200" cy="673200"/>
          </a:xfrm>
          <a:prstGeom prst="straightConnector1">
            <a:avLst/>
          </a:prstGeom>
          <a:noFill/>
          <a:ln cap="flat" cmpd="sng" w="28575">
            <a:solidFill>
              <a:srgbClr val="7F7F7F"/>
            </a:solidFill>
            <a:prstDash val="solid"/>
            <a:round/>
            <a:headEnd len="sm" w="sm" type="none"/>
            <a:tailEnd len="sm" w="sm" type="none"/>
          </a:ln>
        </p:spPr>
      </p:cxnSp>
      <p:cxnSp>
        <p:nvCxnSpPr>
          <p:cNvPr id="182" name="Google Shape;182;p7"/>
          <p:cNvCxnSpPr>
            <a:stCxn id="143" idx="6"/>
            <a:endCxn id="163" idx="2"/>
          </p:cNvCxnSpPr>
          <p:nvPr/>
        </p:nvCxnSpPr>
        <p:spPr>
          <a:xfrm flipH="1">
            <a:off x="4681295" y="4374539"/>
            <a:ext cx="1828200" cy="668400"/>
          </a:xfrm>
          <a:prstGeom prst="straightConnector1">
            <a:avLst/>
          </a:prstGeom>
          <a:noFill/>
          <a:ln cap="flat" cmpd="sng" w="28575">
            <a:solidFill>
              <a:srgbClr val="7F7F7F"/>
            </a:solidFill>
            <a:prstDash val="solid"/>
            <a:round/>
            <a:headEnd len="sm" w="sm" type="none"/>
            <a:tailEnd len="sm" w="sm" type="none"/>
          </a:ln>
        </p:spPr>
      </p:cxnSp>
      <p:cxnSp>
        <p:nvCxnSpPr>
          <p:cNvPr id="183" name="Google Shape;183;p7"/>
          <p:cNvCxnSpPr>
            <a:stCxn id="145" idx="6"/>
            <a:endCxn id="164" idx="2"/>
          </p:cNvCxnSpPr>
          <p:nvPr/>
        </p:nvCxnSpPr>
        <p:spPr>
          <a:xfrm>
            <a:off x="1995147" y="4369837"/>
            <a:ext cx="3308100" cy="686100"/>
          </a:xfrm>
          <a:prstGeom prst="straightConnector1">
            <a:avLst/>
          </a:prstGeom>
          <a:noFill/>
          <a:ln cap="flat" cmpd="sng" w="28575">
            <a:solidFill>
              <a:srgbClr val="7F7F7F"/>
            </a:solidFill>
            <a:prstDash val="solid"/>
            <a:round/>
            <a:headEnd len="sm" w="sm" type="none"/>
            <a:tailEnd len="sm" w="sm" type="none"/>
          </a:ln>
        </p:spPr>
      </p:cxnSp>
      <p:cxnSp>
        <p:nvCxnSpPr>
          <p:cNvPr id="184" name="Google Shape;184;p7"/>
          <p:cNvCxnSpPr>
            <a:stCxn id="144" idx="6"/>
            <a:endCxn id="164" idx="2"/>
          </p:cNvCxnSpPr>
          <p:nvPr/>
        </p:nvCxnSpPr>
        <p:spPr>
          <a:xfrm>
            <a:off x="2386030" y="4369837"/>
            <a:ext cx="2917200" cy="686100"/>
          </a:xfrm>
          <a:prstGeom prst="straightConnector1">
            <a:avLst/>
          </a:prstGeom>
          <a:noFill/>
          <a:ln cap="flat" cmpd="sng" w="28575">
            <a:solidFill>
              <a:srgbClr val="7F7F7F"/>
            </a:solidFill>
            <a:prstDash val="solid"/>
            <a:round/>
            <a:headEnd len="sm" w="sm" type="none"/>
            <a:tailEnd len="sm" w="sm" type="none"/>
          </a:ln>
        </p:spPr>
      </p:cxnSp>
      <p:cxnSp>
        <p:nvCxnSpPr>
          <p:cNvPr id="185" name="Google Shape;185;p7"/>
          <p:cNvCxnSpPr>
            <a:stCxn id="143" idx="6"/>
            <a:endCxn id="164" idx="2"/>
          </p:cNvCxnSpPr>
          <p:nvPr/>
        </p:nvCxnSpPr>
        <p:spPr>
          <a:xfrm flipH="1">
            <a:off x="5303195" y="4374539"/>
            <a:ext cx="1206300" cy="681600"/>
          </a:xfrm>
          <a:prstGeom prst="straightConnector1">
            <a:avLst/>
          </a:prstGeom>
          <a:noFill/>
          <a:ln cap="flat" cmpd="sng" w="28575">
            <a:solidFill>
              <a:srgbClr val="7F7F7F"/>
            </a:solidFill>
            <a:prstDash val="solid"/>
            <a:round/>
            <a:headEnd len="sm" w="sm" type="none"/>
            <a:tailEnd len="sm" w="sm" type="none"/>
          </a:ln>
        </p:spPr>
      </p:cxnSp>
      <p:cxnSp>
        <p:nvCxnSpPr>
          <p:cNvPr id="186" name="Google Shape;186;p7"/>
          <p:cNvCxnSpPr>
            <a:stCxn id="145" idx="6"/>
            <a:endCxn id="165" idx="2"/>
          </p:cNvCxnSpPr>
          <p:nvPr/>
        </p:nvCxnSpPr>
        <p:spPr>
          <a:xfrm>
            <a:off x="1995147" y="4369837"/>
            <a:ext cx="3930900" cy="681600"/>
          </a:xfrm>
          <a:prstGeom prst="straightConnector1">
            <a:avLst/>
          </a:prstGeom>
          <a:noFill/>
          <a:ln cap="flat" cmpd="sng" w="28575">
            <a:solidFill>
              <a:srgbClr val="7F7F7F"/>
            </a:solidFill>
            <a:prstDash val="solid"/>
            <a:round/>
            <a:headEnd len="sm" w="sm" type="none"/>
            <a:tailEnd len="sm" w="sm" type="none"/>
          </a:ln>
        </p:spPr>
      </p:cxnSp>
      <p:cxnSp>
        <p:nvCxnSpPr>
          <p:cNvPr id="187" name="Google Shape;187;p7"/>
          <p:cNvCxnSpPr>
            <a:stCxn id="144" idx="6"/>
            <a:endCxn id="165" idx="2"/>
          </p:cNvCxnSpPr>
          <p:nvPr/>
        </p:nvCxnSpPr>
        <p:spPr>
          <a:xfrm>
            <a:off x="2386030" y="4369837"/>
            <a:ext cx="3540300" cy="681600"/>
          </a:xfrm>
          <a:prstGeom prst="straightConnector1">
            <a:avLst/>
          </a:prstGeom>
          <a:noFill/>
          <a:ln cap="flat" cmpd="sng" w="28575">
            <a:solidFill>
              <a:srgbClr val="7F7F7F"/>
            </a:solidFill>
            <a:prstDash val="solid"/>
            <a:round/>
            <a:headEnd len="sm" w="sm" type="none"/>
            <a:tailEnd len="sm" w="sm" type="none"/>
          </a:ln>
        </p:spPr>
      </p:cxnSp>
      <p:cxnSp>
        <p:nvCxnSpPr>
          <p:cNvPr id="188" name="Google Shape;188;p7"/>
          <p:cNvCxnSpPr>
            <a:stCxn id="143" idx="6"/>
            <a:endCxn id="165" idx="2"/>
          </p:cNvCxnSpPr>
          <p:nvPr/>
        </p:nvCxnSpPr>
        <p:spPr>
          <a:xfrm flipH="1">
            <a:off x="5926295" y="4374539"/>
            <a:ext cx="583200" cy="676800"/>
          </a:xfrm>
          <a:prstGeom prst="straightConnector1">
            <a:avLst/>
          </a:prstGeom>
          <a:noFill/>
          <a:ln cap="flat" cmpd="sng" w="28575">
            <a:solidFill>
              <a:srgbClr val="7F7F7F"/>
            </a:solidFill>
            <a:prstDash val="solid"/>
            <a:round/>
            <a:headEnd len="sm" w="sm" type="none"/>
            <a:tailEnd len="sm" w="sm" type="none"/>
          </a:ln>
        </p:spPr>
      </p:cxnSp>
      <p:cxnSp>
        <p:nvCxnSpPr>
          <p:cNvPr id="189" name="Google Shape;189;p7"/>
          <p:cNvCxnSpPr>
            <a:stCxn id="145" idx="6"/>
            <a:endCxn id="166" idx="2"/>
          </p:cNvCxnSpPr>
          <p:nvPr/>
        </p:nvCxnSpPr>
        <p:spPr>
          <a:xfrm>
            <a:off x="1995147" y="4369837"/>
            <a:ext cx="4552800" cy="677700"/>
          </a:xfrm>
          <a:prstGeom prst="straightConnector1">
            <a:avLst/>
          </a:prstGeom>
          <a:noFill/>
          <a:ln cap="flat" cmpd="sng" w="28575">
            <a:solidFill>
              <a:srgbClr val="7F7F7F"/>
            </a:solidFill>
            <a:prstDash val="solid"/>
            <a:round/>
            <a:headEnd len="sm" w="sm" type="none"/>
            <a:tailEnd len="sm" w="sm" type="none"/>
          </a:ln>
        </p:spPr>
      </p:cxnSp>
      <p:cxnSp>
        <p:nvCxnSpPr>
          <p:cNvPr id="190" name="Google Shape;190;p7"/>
          <p:cNvCxnSpPr>
            <a:stCxn id="144" idx="6"/>
            <a:endCxn id="166" idx="2"/>
          </p:cNvCxnSpPr>
          <p:nvPr/>
        </p:nvCxnSpPr>
        <p:spPr>
          <a:xfrm>
            <a:off x="2386030" y="4369837"/>
            <a:ext cx="4162200" cy="677700"/>
          </a:xfrm>
          <a:prstGeom prst="straightConnector1">
            <a:avLst/>
          </a:prstGeom>
          <a:noFill/>
          <a:ln cap="flat" cmpd="sng" w="28575">
            <a:solidFill>
              <a:srgbClr val="7F7F7F"/>
            </a:solidFill>
            <a:prstDash val="solid"/>
            <a:round/>
            <a:headEnd len="sm" w="sm" type="none"/>
            <a:tailEnd len="sm" w="sm" type="none"/>
          </a:ln>
        </p:spPr>
      </p:cxnSp>
      <p:cxnSp>
        <p:nvCxnSpPr>
          <p:cNvPr id="191" name="Google Shape;191;p7"/>
          <p:cNvCxnSpPr>
            <a:stCxn id="143" idx="6"/>
            <a:endCxn id="166" idx="2"/>
          </p:cNvCxnSpPr>
          <p:nvPr/>
        </p:nvCxnSpPr>
        <p:spPr>
          <a:xfrm>
            <a:off x="6509495" y="4374539"/>
            <a:ext cx="38700" cy="672900"/>
          </a:xfrm>
          <a:prstGeom prst="straightConnector1">
            <a:avLst/>
          </a:prstGeom>
          <a:noFill/>
          <a:ln cap="flat" cmpd="sng" w="28575">
            <a:solidFill>
              <a:srgbClr val="7F7F7F"/>
            </a:solidFill>
            <a:prstDash val="solid"/>
            <a:round/>
            <a:headEnd len="sm" w="sm" type="none"/>
            <a:tailEnd len="sm" w="sm" type="none"/>
          </a:ln>
        </p:spPr>
      </p:cxnSp>
      <p:cxnSp>
        <p:nvCxnSpPr>
          <p:cNvPr id="192" name="Google Shape;192;p7"/>
          <p:cNvCxnSpPr>
            <a:stCxn id="145" idx="6"/>
            <a:endCxn id="167" idx="2"/>
          </p:cNvCxnSpPr>
          <p:nvPr/>
        </p:nvCxnSpPr>
        <p:spPr>
          <a:xfrm>
            <a:off x="1995147" y="4369837"/>
            <a:ext cx="5175900" cy="673200"/>
          </a:xfrm>
          <a:prstGeom prst="straightConnector1">
            <a:avLst/>
          </a:prstGeom>
          <a:noFill/>
          <a:ln cap="flat" cmpd="sng" w="28575">
            <a:solidFill>
              <a:srgbClr val="7F7F7F"/>
            </a:solidFill>
            <a:prstDash val="solid"/>
            <a:round/>
            <a:headEnd len="sm" w="sm" type="none"/>
            <a:tailEnd len="sm" w="sm" type="none"/>
          </a:ln>
        </p:spPr>
      </p:cxnSp>
      <p:cxnSp>
        <p:nvCxnSpPr>
          <p:cNvPr id="193" name="Google Shape;193;p7"/>
          <p:cNvCxnSpPr>
            <a:stCxn id="144" idx="6"/>
            <a:endCxn id="167" idx="2"/>
          </p:cNvCxnSpPr>
          <p:nvPr/>
        </p:nvCxnSpPr>
        <p:spPr>
          <a:xfrm>
            <a:off x="2386030" y="4369837"/>
            <a:ext cx="4785000" cy="673200"/>
          </a:xfrm>
          <a:prstGeom prst="straightConnector1">
            <a:avLst/>
          </a:prstGeom>
          <a:noFill/>
          <a:ln cap="flat" cmpd="sng" w="28575">
            <a:solidFill>
              <a:srgbClr val="7F7F7F"/>
            </a:solidFill>
            <a:prstDash val="solid"/>
            <a:round/>
            <a:headEnd len="sm" w="sm" type="none"/>
            <a:tailEnd len="sm" w="sm" type="none"/>
          </a:ln>
        </p:spPr>
      </p:cxnSp>
      <p:cxnSp>
        <p:nvCxnSpPr>
          <p:cNvPr id="194" name="Google Shape;194;p7"/>
          <p:cNvCxnSpPr>
            <a:stCxn id="143" idx="6"/>
            <a:endCxn id="167" idx="2"/>
          </p:cNvCxnSpPr>
          <p:nvPr/>
        </p:nvCxnSpPr>
        <p:spPr>
          <a:xfrm>
            <a:off x="6509495" y="4374539"/>
            <a:ext cx="661500" cy="668400"/>
          </a:xfrm>
          <a:prstGeom prst="straightConnector1">
            <a:avLst/>
          </a:prstGeom>
          <a:noFill/>
          <a:ln cap="flat" cmpd="sng" w="28575">
            <a:solidFill>
              <a:srgbClr val="7F7F7F"/>
            </a:solidFill>
            <a:prstDash val="solid"/>
            <a:round/>
            <a:headEnd len="sm" w="sm" type="none"/>
            <a:tailEnd len="sm" w="sm" type="none"/>
          </a:ln>
        </p:spPr>
      </p:cxnSp>
      <p:pic>
        <p:nvPicPr>
          <p:cNvPr descr="A picture containing drawing  Description automatically generated" id="195" name="Google Shape;195;p7"/>
          <p:cNvPicPr preferRelativeResize="0"/>
          <p:nvPr/>
        </p:nvPicPr>
        <p:blipFill rotWithShape="1">
          <a:blip r:embed="rId3">
            <a:alphaModFix/>
          </a:blip>
          <a:srcRect b="0" l="0" r="0" t="0"/>
          <a:stretch/>
        </p:blipFill>
        <p:spPr>
          <a:xfrm>
            <a:off x="2167099" y="1741080"/>
            <a:ext cx="786731" cy="786731"/>
          </a:xfrm>
          <a:prstGeom prst="rect">
            <a:avLst/>
          </a:prstGeom>
          <a:noFill/>
          <a:ln>
            <a:noFill/>
          </a:ln>
        </p:spPr>
      </p:pic>
      <p:cxnSp>
        <p:nvCxnSpPr>
          <p:cNvPr id="196" name="Google Shape;196;p7"/>
          <p:cNvCxnSpPr/>
          <p:nvPr/>
        </p:nvCxnSpPr>
        <p:spPr>
          <a:xfrm>
            <a:off x="3034812" y="2157241"/>
            <a:ext cx="534433" cy="0"/>
          </a:xfrm>
          <a:prstGeom prst="straightConnector1">
            <a:avLst/>
          </a:prstGeom>
          <a:noFill/>
          <a:ln cap="flat" cmpd="sng" w="57150">
            <a:solidFill>
              <a:schemeClr val="accent4"/>
            </a:solidFill>
            <a:prstDash val="solid"/>
            <a:round/>
            <a:headEnd len="sm" w="sm" type="none"/>
            <a:tailEnd len="med" w="med" type="triangle"/>
          </a:ln>
        </p:spPr>
      </p:cxnSp>
      <p:sp>
        <p:nvSpPr>
          <p:cNvPr id="197" name="Google Shape;197;p7"/>
          <p:cNvSpPr txBox="1"/>
          <p:nvPr/>
        </p:nvSpPr>
        <p:spPr>
          <a:xfrm>
            <a:off x="3507819" y="1975197"/>
            <a:ext cx="1795449"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[ 0, 0, …, 0]</a:t>
            </a:r>
            <a:endParaRPr b="0" i="0" sz="2200" u="none" cap="none" strike="noStrike">
              <a:solidFill>
                <a:schemeClr val="dk2"/>
              </a:solidFill>
              <a:latin typeface="Open Sans"/>
              <a:ea typeface="Noto Sans SC"/>
              <a:cs typeface="Open Sans"/>
              <a:sym typeface="Open Sans"/>
            </a:endParaRPr>
          </a:p>
        </p:txBody>
      </p:sp>
      <p:cxnSp>
        <p:nvCxnSpPr>
          <p:cNvPr id="198" name="Google Shape;198;p7"/>
          <p:cNvCxnSpPr>
            <a:endCxn id="142" idx="2"/>
          </p:cNvCxnSpPr>
          <p:nvPr/>
        </p:nvCxnSpPr>
        <p:spPr>
          <a:xfrm flipH="1">
            <a:off x="1995147" y="2402809"/>
            <a:ext cx="1901400" cy="826200"/>
          </a:xfrm>
          <a:prstGeom prst="straightConnector1">
            <a:avLst/>
          </a:prstGeom>
          <a:noFill/>
          <a:ln cap="flat" cmpd="sng" w="28575">
            <a:solidFill>
              <a:srgbClr val="7F7F7F"/>
            </a:solidFill>
            <a:prstDash val="solid"/>
            <a:round/>
            <a:headEnd len="sm" w="sm" type="none"/>
            <a:tailEnd len="sm" w="sm" type="none"/>
          </a:ln>
        </p:spPr>
      </p:cxnSp>
      <p:cxnSp>
        <p:nvCxnSpPr>
          <p:cNvPr id="199" name="Google Shape;199;p7"/>
          <p:cNvCxnSpPr>
            <a:endCxn id="141" idx="2"/>
          </p:cNvCxnSpPr>
          <p:nvPr/>
        </p:nvCxnSpPr>
        <p:spPr>
          <a:xfrm flipH="1">
            <a:off x="2386030" y="2402809"/>
            <a:ext cx="1510500" cy="826200"/>
          </a:xfrm>
          <a:prstGeom prst="straightConnector1">
            <a:avLst/>
          </a:prstGeom>
          <a:noFill/>
          <a:ln cap="flat" cmpd="sng" w="28575">
            <a:solidFill>
              <a:srgbClr val="7F7F7F"/>
            </a:solidFill>
            <a:prstDash val="solid"/>
            <a:round/>
            <a:headEnd len="sm" w="sm" type="none"/>
            <a:tailEnd len="sm" w="sm" type="none"/>
          </a:ln>
        </p:spPr>
      </p:cxnSp>
      <p:cxnSp>
        <p:nvCxnSpPr>
          <p:cNvPr id="200" name="Google Shape;200;p7"/>
          <p:cNvCxnSpPr>
            <a:endCxn id="140" idx="2"/>
          </p:cNvCxnSpPr>
          <p:nvPr/>
        </p:nvCxnSpPr>
        <p:spPr>
          <a:xfrm>
            <a:off x="3896495" y="2402711"/>
            <a:ext cx="2613000" cy="831000"/>
          </a:xfrm>
          <a:prstGeom prst="straightConnector1">
            <a:avLst/>
          </a:prstGeom>
          <a:noFill/>
          <a:ln cap="flat" cmpd="sng" w="28575">
            <a:solidFill>
              <a:srgbClr val="7F7F7F"/>
            </a:solidFill>
            <a:prstDash val="solid"/>
            <a:round/>
            <a:headEnd len="sm" w="sm" type="none"/>
            <a:tailEnd len="sm" w="sm" type="none"/>
          </a:ln>
        </p:spPr>
      </p:cxnSp>
      <p:sp>
        <p:nvSpPr>
          <p:cNvPr id="201" name="Google Shape;201;p7"/>
          <p:cNvSpPr txBox="1"/>
          <p:nvPr/>
        </p:nvSpPr>
        <p:spPr>
          <a:xfrm>
            <a:off x="2539225" y="3970406"/>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sp>
        <p:nvSpPr>
          <p:cNvPr id="202" name="Google Shape;202;p7"/>
          <p:cNvSpPr txBox="1"/>
          <p:nvPr/>
        </p:nvSpPr>
        <p:spPr>
          <a:xfrm>
            <a:off x="2539225" y="3126577"/>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cxnSp>
        <p:nvCxnSpPr>
          <p:cNvPr id="203" name="Google Shape;203;p7"/>
          <p:cNvCxnSpPr>
            <a:endCxn id="142" idx="2"/>
          </p:cNvCxnSpPr>
          <p:nvPr/>
        </p:nvCxnSpPr>
        <p:spPr>
          <a:xfrm flipH="1">
            <a:off x="1995147" y="2410909"/>
            <a:ext cx="2216400" cy="818100"/>
          </a:xfrm>
          <a:prstGeom prst="straightConnector1">
            <a:avLst/>
          </a:prstGeom>
          <a:noFill/>
          <a:ln cap="flat" cmpd="sng" w="28575">
            <a:solidFill>
              <a:srgbClr val="7F7F7F"/>
            </a:solidFill>
            <a:prstDash val="solid"/>
            <a:round/>
            <a:headEnd len="sm" w="sm" type="none"/>
            <a:tailEnd len="sm" w="sm" type="none"/>
          </a:ln>
        </p:spPr>
      </p:cxnSp>
      <p:cxnSp>
        <p:nvCxnSpPr>
          <p:cNvPr id="204" name="Google Shape;204;p7"/>
          <p:cNvCxnSpPr>
            <a:endCxn id="141" idx="2"/>
          </p:cNvCxnSpPr>
          <p:nvPr/>
        </p:nvCxnSpPr>
        <p:spPr>
          <a:xfrm flipH="1">
            <a:off x="2386030" y="2410909"/>
            <a:ext cx="1834500" cy="818100"/>
          </a:xfrm>
          <a:prstGeom prst="straightConnector1">
            <a:avLst/>
          </a:prstGeom>
          <a:noFill/>
          <a:ln cap="flat" cmpd="sng" w="28575">
            <a:solidFill>
              <a:srgbClr val="7F7F7F"/>
            </a:solidFill>
            <a:prstDash val="solid"/>
            <a:round/>
            <a:headEnd len="sm" w="sm" type="none"/>
            <a:tailEnd len="sm" w="sm" type="none"/>
          </a:ln>
        </p:spPr>
      </p:cxnSp>
      <p:cxnSp>
        <p:nvCxnSpPr>
          <p:cNvPr id="205" name="Google Shape;205;p7"/>
          <p:cNvCxnSpPr>
            <a:endCxn id="140" idx="2"/>
          </p:cNvCxnSpPr>
          <p:nvPr/>
        </p:nvCxnSpPr>
        <p:spPr>
          <a:xfrm>
            <a:off x="4211495" y="2410811"/>
            <a:ext cx="2298000" cy="822900"/>
          </a:xfrm>
          <a:prstGeom prst="straightConnector1">
            <a:avLst/>
          </a:prstGeom>
          <a:noFill/>
          <a:ln cap="flat" cmpd="sng" w="28575">
            <a:solidFill>
              <a:srgbClr val="7F7F7F"/>
            </a:solidFill>
            <a:prstDash val="solid"/>
            <a:round/>
            <a:headEnd len="sm" w="sm" type="none"/>
            <a:tailEnd len="sm" w="sm" type="none"/>
          </a:ln>
        </p:spPr>
      </p:cxnSp>
      <p:cxnSp>
        <p:nvCxnSpPr>
          <p:cNvPr id="206" name="Google Shape;206;p7"/>
          <p:cNvCxnSpPr>
            <a:endCxn id="142" idx="2"/>
          </p:cNvCxnSpPr>
          <p:nvPr/>
        </p:nvCxnSpPr>
        <p:spPr>
          <a:xfrm flipH="1">
            <a:off x="1995147" y="2410909"/>
            <a:ext cx="2979300" cy="818100"/>
          </a:xfrm>
          <a:prstGeom prst="straightConnector1">
            <a:avLst/>
          </a:prstGeom>
          <a:noFill/>
          <a:ln cap="flat" cmpd="sng" w="28575">
            <a:solidFill>
              <a:srgbClr val="7F7F7F"/>
            </a:solidFill>
            <a:prstDash val="solid"/>
            <a:round/>
            <a:headEnd len="sm" w="sm" type="none"/>
            <a:tailEnd len="sm" w="sm" type="none"/>
          </a:ln>
        </p:spPr>
      </p:cxnSp>
      <p:cxnSp>
        <p:nvCxnSpPr>
          <p:cNvPr id="207" name="Google Shape;207;p7"/>
          <p:cNvCxnSpPr>
            <a:endCxn id="141" idx="2"/>
          </p:cNvCxnSpPr>
          <p:nvPr/>
        </p:nvCxnSpPr>
        <p:spPr>
          <a:xfrm flipH="1">
            <a:off x="2386030" y="2410909"/>
            <a:ext cx="2588400" cy="818100"/>
          </a:xfrm>
          <a:prstGeom prst="straightConnector1">
            <a:avLst/>
          </a:prstGeom>
          <a:noFill/>
          <a:ln cap="flat" cmpd="sng" w="28575">
            <a:solidFill>
              <a:srgbClr val="7F7F7F"/>
            </a:solidFill>
            <a:prstDash val="solid"/>
            <a:round/>
            <a:headEnd len="sm" w="sm" type="none"/>
            <a:tailEnd len="sm" w="sm" type="none"/>
          </a:ln>
        </p:spPr>
      </p:cxnSp>
      <p:cxnSp>
        <p:nvCxnSpPr>
          <p:cNvPr id="208" name="Google Shape;208;p7"/>
          <p:cNvCxnSpPr>
            <a:endCxn id="140" idx="2"/>
          </p:cNvCxnSpPr>
          <p:nvPr/>
        </p:nvCxnSpPr>
        <p:spPr>
          <a:xfrm>
            <a:off x="4974395" y="2410811"/>
            <a:ext cx="1535100" cy="822900"/>
          </a:xfrm>
          <a:prstGeom prst="straightConnector1">
            <a:avLst/>
          </a:prstGeom>
          <a:noFill/>
          <a:ln cap="flat" cmpd="sng" w="28575">
            <a:solidFill>
              <a:srgbClr val="7F7F7F"/>
            </a:solidFill>
            <a:prstDash val="solid"/>
            <a:round/>
            <a:headEnd len="sm" w="sm" type="none"/>
            <a:tailEnd len="sm" w="sm" type="none"/>
          </a:ln>
        </p:spPr>
      </p:cxnSp>
      <p:sp>
        <p:nvSpPr>
          <p:cNvPr id="209" name="Google Shape;209;p7"/>
          <p:cNvSpPr txBox="1"/>
          <p:nvPr/>
        </p:nvSpPr>
        <p:spPr>
          <a:xfrm>
            <a:off x="8083756" y="1986425"/>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(784,)</a:t>
            </a:r>
            <a:endParaRPr b="0" i="0" sz="1800" u="none" cap="none" strike="noStrike">
              <a:solidFill>
                <a:schemeClr val="dk2"/>
              </a:solidFill>
              <a:latin typeface="Open Sans"/>
              <a:ea typeface="Noto Sans SC"/>
              <a:cs typeface="Open Sans"/>
              <a:sym typeface="Open Sans"/>
            </a:endParaRPr>
          </a:p>
        </p:txBody>
      </p:sp>
      <p:sp>
        <p:nvSpPr>
          <p:cNvPr id="210" name="Google Shape;210;p7"/>
          <p:cNvSpPr txBox="1"/>
          <p:nvPr/>
        </p:nvSpPr>
        <p:spPr>
          <a:xfrm>
            <a:off x="8083756" y="3154257"/>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211" name="Google Shape;211;p7"/>
          <p:cNvSpPr txBox="1"/>
          <p:nvPr/>
        </p:nvSpPr>
        <p:spPr>
          <a:xfrm>
            <a:off x="8083756" y="4054293"/>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212" name="Google Shape;212;p7"/>
          <p:cNvSpPr txBox="1"/>
          <p:nvPr/>
        </p:nvSpPr>
        <p:spPr>
          <a:xfrm>
            <a:off x="8083756" y="5027186"/>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(10,)</a:t>
            </a:r>
            <a:endParaRPr b="0" i="0" sz="1800" u="none" cap="none" strike="noStrike">
              <a:solidFill>
                <a:schemeClr val="dk2"/>
              </a:solidFill>
              <a:latin typeface="Open Sans"/>
              <a:ea typeface="Noto Sans SC"/>
              <a:cs typeface="Open Sans"/>
              <a:sym typeface="Open Sans"/>
            </a:endParaRPr>
          </a:p>
        </p:txBody>
      </p:sp>
      <p:sp>
        <p:nvSpPr>
          <p:cNvPr id="213" name="Google Shape;213;p7"/>
          <p:cNvSpPr/>
          <p:nvPr/>
        </p:nvSpPr>
        <p:spPr>
          <a:xfrm>
            <a:off x="9066548" y="2157241"/>
            <a:ext cx="150690" cy="3052934"/>
          </a:xfrm>
          <a:prstGeom prst="rightBrace">
            <a:avLst>
              <a:gd fmla="val 8333" name="adj1"/>
              <a:gd fmla="val 50000" name="adj2"/>
            </a:avLst>
          </a:pr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214" name="Google Shape;214;p7"/>
          <p:cNvSpPr txBox="1"/>
          <p:nvPr/>
        </p:nvSpPr>
        <p:spPr>
          <a:xfrm>
            <a:off x="9373721" y="3264894"/>
            <a:ext cx="942886" cy="830997"/>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层</a:t>
            </a:r>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大小</a:t>
            </a:r>
            <a:endParaRPr b="0" i="0" sz="24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21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18" name="Shape 218"/>
        <p:cNvGrpSpPr/>
        <p:nvPr/>
      </p:nvGrpSpPr>
      <p:grpSpPr>
        <a:xfrm>
          <a:off x="0" y="0"/>
          <a:ext cx="0" cy="0"/>
          <a:chOff x="0" y="0"/>
          <a:chExt cx="0" cy="0"/>
        </a:xfrm>
      </p:grpSpPr>
      <p:sp>
        <p:nvSpPr>
          <p:cNvPr id="219" name="Google Shape;219;p8"/>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更简单的模型</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22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23" name="Shape 223"/>
        <p:cNvGrpSpPr/>
        <p:nvPr/>
      </p:nvGrpSpPr>
      <p:grpSpPr>
        <a:xfrm>
          <a:off x="0" y="0"/>
          <a:ext cx="0" cy="0"/>
          <a:chOff x="0" y="0"/>
          <a:chExt cx="0" cy="0"/>
        </a:xfrm>
      </p:grpSpPr>
      <p:graphicFrame>
        <p:nvGraphicFramePr>
          <p:cNvPr id="224" name="Google Shape;224;p113"/>
          <p:cNvGraphicFramePr/>
          <p:nvPr/>
        </p:nvGraphicFramePr>
        <p:xfrm>
          <a:off x="893616" y="2938484"/>
          <a:ext cx="3000000" cy="3000000"/>
        </p:xfrm>
        <a:graphic>
          <a:graphicData uri="http://schemas.openxmlformats.org/drawingml/2006/table">
            <a:tbl>
              <a:tblPr bandRow="1" firstRow="1">
                <a:noFill/>
                <a:tableStyleId>{C92F0C3F-1D8F-44BD-A9BE-D08BDC8DFB2E}</a:tableStyleId>
              </a:tblPr>
              <a:tblGrid>
                <a:gridCol w="1183150"/>
                <a:gridCol w="1183150"/>
              </a:tblGrid>
              <a:tr h="534925">
                <a:tc>
                  <a:txBody>
                    <a:bodyPr/>
                    <a:lstStyle/>
                    <a:p>
                      <a:pPr indent="0" lvl="0" marL="0" marR="0" rtl="0" algn="ctr">
                        <a:spcBef>
                          <a:spcPts val="0"/>
                        </a:spcBef>
                        <a:spcAft>
                          <a:spcPts val="0"/>
                        </a:spcAft>
                        <a:buNone/>
                      </a:pPr>
                      <a:r>
                        <a:rPr lang="en-US" sz="1800" u="none" cap="none" strike="noStrike">
                          <a:latin typeface="Open Sans"/>
                          <a:ea typeface="Noto Sans SC"/>
                          <a:cs typeface="Open Sans"/>
                          <a:sym typeface="Open Sans"/>
                        </a:rPr>
                        <a:t>x</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ctr">
                        <a:spcBef>
                          <a:spcPts val="0"/>
                        </a:spcBef>
                        <a:spcAft>
                          <a:spcPts val="0"/>
                        </a:spcAft>
                        <a:buNone/>
                      </a:pPr>
                      <a:r>
                        <a:rPr lang="en-US" sz="1800" u="none" cap="none" strike="noStrike">
                          <a:latin typeface="Open Sans"/>
                          <a:ea typeface="Noto Sans SC"/>
                          <a:cs typeface="Open Sans"/>
                          <a:sym typeface="Open Sans"/>
                        </a:rPr>
                        <a:t>y</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r>
              <a:tr h="534925">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3</a:t>
                      </a:r>
                      <a:endParaRPr sz="1800" u="none" cap="none" strike="noStrike">
                        <a:solidFill>
                          <a:schemeClr val="dk2"/>
                        </a:solidFill>
                        <a:latin typeface="Open Sans"/>
                        <a:ea typeface="Noto Sans SC"/>
                        <a:cs typeface="Open Sans"/>
                        <a:sym typeface="Open Sans"/>
                      </a:endParaRPr>
                    </a:p>
                  </a:txBody>
                  <a:tcPr marT="45725" marB="45725" marR="91450" marL="91450" anchor="ctr"/>
                </a:tc>
              </a:tr>
              <a:tr h="534925">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2</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5</a:t>
                      </a:r>
                      <a:endParaRPr sz="1800" u="none" cap="none" strike="noStrike">
                        <a:solidFill>
                          <a:schemeClr val="dk2"/>
                        </a:solidFill>
                        <a:latin typeface="Open Sans"/>
                        <a:ea typeface="Noto Sans SC"/>
                        <a:cs typeface="Open Sans"/>
                        <a:sym typeface="Open Sans"/>
                      </a:endParaRPr>
                    </a:p>
                  </a:txBody>
                  <a:tcPr marT="45725" marB="45725" marR="91450" marL="91450" anchor="ctr"/>
                </a:tc>
              </a:tr>
            </a:tbl>
          </a:graphicData>
        </a:graphic>
      </p:graphicFrame>
      <p:graphicFrame>
        <p:nvGraphicFramePr>
          <p:cNvPr id="225" name="Google Shape;225;p113"/>
          <p:cNvGraphicFramePr/>
          <p:nvPr/>
        </p:nvGraphicFramePr>
        <p:xfrm>
          <a:off x="4015479" y="2421301"/>
          <a:ext cx="2838443" cy="2723985"/>
        </p:xfrm>
        <a:graphic>
          <a:graphicData uri="http://schemas.openxmlformats.org/drawingml/2006/chart">
            <c:chart r:id="rId3"/>
          </a:graphicData>
        </a:graphic>
      </p:graphicFrame>
      <p:sp>
        <p:nvSpPr>
          <p:cNvPr id="226" name="Google Shape;226;p113"/>
          <p:cNvSpPr txBox="1"/>
          <p:nvPr/>
        </p:nvSpPr>
        <p:spPr>
          <a:xfrm>
            <a:off x="4118878" y="1252157"/>
            <a:ext cx="2735044" cy="55399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27" name="Google Shape;227;p113"/>
          <p:cNvSpPr txBox="1"/>
          <p:nvPr/>
        </p:nvSpPr>
        <p:spPr>
          <a:xfrm>
            <a:off x="9062547" y="2587502"/>
            <a:ext cx="1303114" cy="498598"/>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28" name="Google Shape;228;p113"/>
          <p:cNvSpPr txBox="1"/>
          <p:nvPr/>
        </p:nvSpPr>
        <p:spPr>
          <a:xfrm>
            <a:off x="9131100" y="3757305"/>
            <a:ext cx="1162178" cy="498598"/>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grpSp>
        <p:nvGrpSpPr>
          <p:cNvPr id="229" name="Google Shape;229;p113"/>
          <p:cNvGrpSpPr/>
          <p:nvPr/>
        </p:nvGrpSpPr>
        <p:grpSpPr>
          <a:xfrm>
            <a:off x="7548712" y="2543110"/>
            <a:ext cx="1089324" cy="2190731"/>
            <a:chOff x="1833182" y="2685985"/>
            <a:chExt cx="1089324" cy="2190731"/>
          </a:xfrm>
        </p:grpSpPr>
        <p:cxnSp>
          <p:nvCxnSpPr>
            <p:cNvPr id="230" name="Google Shape;230;p113"/>
            <p:cNvCxnSpPr>
              <a:endCxn id="231" idx="2"/>
            </p:cNvCxnSpPr>
            <p:nvPr/>
          </p:nvCxnSpPr>
          <p:spPr>
            <a:xfrm>
              <a:off x="2071785" y="2685985"/>
              <a:ext cx="0" cy="913500"/>
            </a:xfrm>
            <a:prstGeom prst="straightConnector1">
              <a:avLst/>
            </a:prstGeom>
            <a:noFill/>
            <a:ln cap="flat" cmpd="sng" w="76200">
              <a:solidFill>
                <a:schemeClr val="accent4"/>
              </a:solidFill>
              <a:prstDash val="solid"/>
              <a:round/>
              <a:headEnd len="sm" w="sm" type="none"/>
              <a:tailEnd len="med" w="med" type="triangle"/>
            </a:ln>
          </p:spPr>
        </p:cxnSp>
        <p:cxnSp>
          <p:nvCxnSpPr>
            <p:cNvPr id="232" name="Google Shape;232;p113"/>
            <p:cNvCxnSpPr>
              <a:stCxn id="231" idx="6"/>
            </p:cNvCxnSpPr>
            <p:nvPr/>
          </p:nvCxnSpPr>
          <p:spPr>
            <a:xfrm>
              <a:off x="2071785" y="4079616"/>
              <a:ext cx="0" cy="797100"/>
            </a:xfrm>
            <a:prstGeom prst="straightConnector1">
              <a:avLst/>
            </a:prstGeom>
            <a:noFill/>
            <a:ln cap="flat" cmpd="sng" w="76200">
              <a:solidFill>
                <a:schemeClr val="accent4"/>
              </a:solidFill>
              <a:prstDash val="solid"/>
              <a:round/>
              <a:headEnd len="sm" w="sm" type="none"/>
              <a:tailEnd len="med" w="med" type="triangle"/>
            </a:ln>
          </p:spPr>
        </p:cxnSp>
        <p:sp>
          <p:nvSpPr>
            <p:cNvPr id="233" name="Google Shape;233;p113"/>
            <p:cNvSpPr txBox="1"/>
            <p:nvPr/>
          </p:nvSpPr>
          <p:spPr>
            <a:xfrm>
              <a:off x="2228728" y="4079616"/>
              <a:ext cx="469744" cy="480131"/>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34" name="Google Shape;234;p113"/>
            <p:cNvSpPr txBox="1"/>
            <p:nvPr/>
          </p:nvSpPr>
          <p:spPr>
            <a:xfrm>
              <a:off x="2072593" y="2739610"/>
              <a:ext cx="849913"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m•x</a:t>
              </a:r>
              <a:endParaRPr b="0" i="0" sz="2800" u="none" cap="none" strike="noStrike">
                <a:solidFill>
                  <a:srgbClr val="000000"/>
                </a:solidFill>
                <a:latin typeface="Open Sans"/>
                <a:ea typeface="Noto Sans SC"/>
                <a:cs typeface="Open Sans"/>
                <a:sym typeface="Open Sans"/>
              </a:endParaRPr>
            </a:p>
          </p:txBody>
        </p:sp>
        <p:sp>
          <p:nvSpPr>
            <p:cNvPr id="231" name="Google Shape;231;p113"/>
            <p:cNvSpPr/>
            <p:nvPr/>
          </p:nvSpPr>
          <p:spPr>
            <a:xfrm rot="5400000">
              <a:off x="1831719" y="3600948"/>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sp>
        <p:nvSpPr>
          <p:cNvPr id="236"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更简单的模型</a:t>
            </a:r>
          </a:p>
        </p:txBody>
      </p:sp>
      <p:sp xmlns:p="http://schemas.openxmlformats.org/presentationml/2006/main" xmlns:a="http://schemas.openxmlformats.org/drawingml/2006/main">
        <p:nvSpPr>
          <p:cNvPr id="23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38" name="Shape 238"/>
        <p:cNvGrpSpPr/>
        <p:nvPr/>
      </p:nvGrpSpPr>
      <p:grpSpPr>
        <a:xfrm>
          <a:off x="0" y="0"/>
          <a:ext cx="0" cy="0"/>
          <a:chOff x="0" y="0"/>
          <a:chExt cx="0" cy="0"/>
        </a:xfrm>
      </p:grpSpPr>
      <p:sp>
        <p:nvSpPr>
          <p:cNvPr id="239" name="Google Shape;239;p114"/>
          <p:cNvSpPr txBox="1"/>
          <p:nvPr/>
        </p:nvSpPr>
        <p:spPr>
          <a:xfrm>
            <a:off x="4118878" y="1252157"/>
            <a:ext cx="273504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graphicFrame>
        <p:nvGraphicFramePr>
          <p:cNvPr id="240" name="Google Shape;240;p114"/>
          <p:cNvGraphicFramePr/>
          <p:nvPr/>
        </p:nvGraphicFramePr>
        <p:xfrm>
          <a:off x="893616" y="2938484"/>
          <a:ext cx="3000000" cy="3000000"/>
        </p:xfrm>
        <a:graphic>
          <a:graphicData uri="http://schemas.openxmlformats.org/drawingml/2006/table">
            <a:tbl>
              <a:tblPr bandRow="1" firstRow="1">
                <a:noFill/>
                <a:tableStyleId>{C92F0C3F-1D8F-44BD-A9BE-D08BDC8DFB2E}</a:tableStyleId>
              </a:tblPr>
              <a:tblGrid>
                <a:gridCol w="1183150"/>
                <a:gridCol w="1183150"/>
              </a:tblGrid>
              <a:tr h="534925">
                <a:tc>
                  <a:txBody>
                    <a:bodyPr/>
                    <a:lstStyle/>
                    <a:p>
                      <a:pPr indent="0" lvl="0" marL="0" marR="0" rtl="0" algn="ctr">
                        <a:spcBef>
                          <a:spcPts val="0"/>
                        </a:spcBef>
                        <a:spcAft>
                          <a:spcPts val="0"/>
                        </a:spcAft>
                        <a:buNone/>
                      </a:pPr>
                      <a:r>
                        <a:rPr lang="en-US" sz="1800" u="none" cap="none" strike="noStrike">
                          <a:latin typeface="Open Sans"/>
                          <a:ea typeface="Noto Sans SC"/>
                          <a:cs typeface="Open Sans"/>
                          <a:sym typeface="Open Sans"/>
                        </a:rPr>
                        <a:t>x</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ctr">
                        <a:spcBef>
                          <a:spcPts val="0"/>
                        </a:spcBef>
                        <a:spcAft>
                          <a:spcPts val="0"/>
                        </a:spcAft>
                        <a:buNone/>
                      </a:pPr>
                      <a:r>
                        <a:rPr lang="en-US" sz="1800" u="none" cap="none" strike="noStrike">
                          <a:latin typeface="Open Sans"/>
                          <a:ea typeface="Noto Sans SC"/>
                          <a:cs typeface="Open Sans"/>
                          <a:sym typeface="Open Sans"/>
                        </a:rPr>
                        <a:t>y</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r>
              <a:tr h="534925">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3</a:t>
                      </a:r>
                      <a:endParaRPr sz="1800" u="none" cap="none" strike="noStrike">
                        <a:solidFill>
                          <a:schemeClr val="dk2"/>
                        </a:solidFill>
                        <a:latin typeface="Open Sans"/>
                        <a:ea typeface="Noto Sans SC"/>
                        <a:cs typeface="Open Sans"/>
                        <a:sym typeface="Open Sans"/>
                      </a:endParaRPr>
                    </a:p>
                  </a:txBody>
                  <a:tcPr marT="45725" marB="45725" marR="91450" marL="91450" anchor="ctr"/>
                </a:tc>
              </a:tr>
              <a:tr h="534925">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2</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solidFill>
                            <a:schemeClr val="dk2"/>
                          </a:solidFill>
                          <a:latin typeface="Open Sans"/>
                          <a:ea typeface="Noto Sans SC"/>
                          <a:cs typeface="Open Sans"/>
                          <a:sym typeface="Open Sans"/>
                        </a:rPr>
                        <a:t>5</a:t>
                      </a:r>
                      <a:endParaRPr sz="1800" u="none" cap="none" strike="noStrike">
                        <a:solidFill>
                          <a:schemeClr val="dk2"/>
                        </a:solidFill>
                        <a:latin typeface="Open Sans"/>
                        <a:ea typeface="Noto Sans SC"/>
                        <a:cs typeface="Open Sans"/>
                        <a:sym typeface="Open Sans"/>
                      </a:endParaRPr>
                    </a:p>
                  </a:txBody>
                  <a:tcPr marT="45725" marB="45725" marR="91450" marL="91450" anchor="ctr"/>
                </a:tc>
              </a:tr>
            </a:tbl>
          </a:graphicData>
        </a:graphic>
      </p:graphicFrame>
      <p:graphicFrame>
        <p:nvGraphicFramePr>
          <p:cNvPr id="241" name="Google Shape;241;p114"/>
          <p:cNvGraphicFramePr/>
          <p:nvPr/>
        </p:nvGraphicFramePr>
        <p:xfrm>
          <a:off x="4015479" y="2421301"/>
          <a:ext cx="2838443" cy="2723985"/>
        </p:xfrm>
        <a:graphic>
          <a:graphicData uri="http://schemas.openxmlformats.org/drawingml/2006/chart">
            <c:chart r:id="rId4"/>
          </a:graphicData>
        </a:graphic>
      </p:graphicFrame>
      <p:sp>
        <p:nvSpPr>
          <p:cNvPr id="242" name="Google Shape;242;p114"/>
          <p:cNvSpPr txBox="1"/>
          <p:nvPr/>
        </p:nvSpPr>
        <p:spPr>
          <a:xfrm>
            <a:off x="9062547" y="2587502"/>
            <a:ext cx="1303114" cy="498598"/>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43" name="Google Shape;243;p114"/>
          <p:cNvSpPr txBox="1"/>
          <p:nvPr/>
        </p:nvSpPr>
        <p:spPr>
          <a:xfrm>
            <a:off x="9131100" y="3757305"/>
            <a:ext cx="1162178" cy="498598"/>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grpSp>
        <p:nvGrpSpPr>
          <p:cNvPr id="244" name="Google Shape;244;p114"/>
          <p:cNvGrpSpPr/>
          <p:nvPr/>
        </p:nvGrpSpPr>
        <p:grpSpPr>
          <a:xfrm>
            <a:off x="7548712" y="2543110"/>
            <a:ext cx="865290" cy="2190731"/>
            <a:chOff x="1833182" y="2685985"/>
            <a:chExt cx="865290" cy="2190731"/>
          </a:xfrm>
        </p:grpSpPr>
        <p:cxnSp>
          <p:nvCxnSpPr>
            <p:cNvPr id="245" name="Google Shape;245;p114"/>
            <p:cNvCxnSpPr>
              <a:endCxn id="246" idx="2"/>
            </p:cNvCxnSpPr>
            <p:nvPr/>
          </p:nvCxnSpPr>
          <p:spPr>
            <a:xfrm>
              <a:off x="2071785" y="2685985"/>
              <a:ext cx="0" cy="913500"/>
            </a:xfrm>
            <a:prstGeom prst="straightConnector1">
              <a:avLst/>
            </a:prstGeom>
            <a:noFill/>
            <a:ln cap="flat" cmpd="sng" w="76200">
              <a:solidFill>
                <a:schemeClr val="accent4"/>
              </a:solidFill>
              <a:prstDash val="solid"/>
              <a:round/>
              <a:headEnd len="sm" w="sm" type="none"/>
              <a:tailEnd len="med" w="med" type="triangle"/>
            </a:ln>
          </p:spPr>
        </p:cxnSp>
        <p:cxnSp>
          <p:nvCxnSpPr>
            <p:cNvPr id="247" name="Google Shape;247;p114"/>
            <p:cNvCxnSpPr>
              <a:stCxn id="246" idx="6"/>
            </p:cNvCxnSpPr>
            <p:nvPr/>
          </p:nvCxnSpPr>
          <p:spPr>
            <a:xfrm>
              <a:off x="2071785" y="4079616"/>
              <a:ext cx="0" cy="797100"/>
            </a:xfrm>
            <a:prstGeom prst="straightConnector1">
              <a:avLst/>
            </a:prstGeom>
            <a:noFill/>
            <a:ln cap="flat" cmpd="sng" w="76200">
              <a:solidFill>
                <a:schemeClr val="accent4"/>
              </a:solidFill>
              <a:prstDash val="solid"/>
              <a:round/>
              <a:headEnd len="sm" w="sm" type="none"/>
              <a:tailEnd len="med" w="med" type="triangle"/>
            </a:ln>
          </p:spPr>
        </p:cxnSp>
        <p:sp>
          <p:nvSpPr>
            <p:cNvPr id="248" name="Google Shape;248;p114"/>
            <p:cNvSpPr txBox="1"/>
            <p:nvPr/>
          </p:nvSpPr>
          <p:spPr>
            <a:xfrm>
              <a:off x="2228728" y="4079616"/>
              <a:ext cx="469744" cy="480131"/>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46" name="Google Shape;246;p114"/>
            <p:cNvSpPr/>
            <p:nvPr/>
          </p:nvSpPr>
          <p:spPr>
            <a:xfrm rot="5400000">
              <a:off x="1831719" y="3600948"/>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cxnSp>
        <p:nvCxnSpPr>
          <p:cNvPr id="249" name="Google Shape;249;p114"/>
          <p:cNvCxnSpPr/>
          <p:nvPr/>
        </p:nvCxnSpPr>
        <p:spPr>
          <a:xfrm flipH="1" rot="10800000">
            <a:off x="4810991" y="2709002"/>
            <a:ext cx="1101436" cy="1227740"/>
          </a:xfrm>
          <a:prstGeom prst="straightConnector1">
            <a:avLst/>
          </a:prstGeom>
          <a:noFill/>
          <a:ln cap="flat" cmpd="sng" w="38100">
            <a:solidFill>
              <a:schemeClr val="dk2"/>
            </a:solidFill>
            <a:prstDash val="dash"/>
            <a:round/>
            <a:headEnd len="sm" w="sm" type="none"/>
            <a:tailEnd len="sm" w="sm" type="none"/>
          </a:ln>
        </p:spPr>
      </p:cxnSp>
      <p:sp>
        <p:nvSpPr>
          <p:cNvPr id="250" name="Google Shape;250;p114"/>
          <p:cNvSpPr txBox="1"/>
          <p:nvPr/>
        </p:nvSpPr>
        <p:spPr>
          <a:xfrm>
            <a:off x="7788123" y="2596735"/>
            <a:ext cx="849913"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m•x</a:t>
            </a:r>
            <a:endParaRPr b="0" i="0" sz="2800" u="none" cap="none" strike="noStrike">
              <a:solidFill>
                <a:srgbClr val="000000"/>
              </a:solidFill>
              <a:latin typeface="Open Sans"/>
              <a:ea typeface="Noto Sans SC"/>
              <a:cs typeface="Open Sans"/>
              <a:sym typeface="Open Sans"/>
            </a:endParaRPr>
          </a:p>
        </p:txBody>
      </p:sp>
      <p:sp>
        <p:nvSpPr>
          <p:cNvPr id="252"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更简单的模型</a:t>
            </a:r>
          </a:p>
        </p:txBody>
      </p:sp>
      <p:sp xmlns:p="http://schemas.openxmlformats.org/presentationml/2006/main" xmlns:a="http://schemas.openxmlformats.org/drawingml/2006/main">
        <p:nvSpPr>
          <p:cNvPr id="25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54" name="Shape 254"/>
        <p:cNvGrpSpPr/>
        <p:nvPr/>
      </p:nvGrpSpPr>
      <p:grpSpPr>
        <a:xfrm>
          <a:off x="0" y="0"/>
          <a:ext cx="0" cy="0"/>
          <a:chOff x="0" y="0"/>
          <a:chExt cx="0" cy="0"/>
        </a:xfrm>
      </p:grpSpPr>
      <p:sp>
        <p:nvSpPr>
          <p:cNvPr id="255" name="Google Shape;255;p115"/>
          <p:cNvSpPr txBox="1"/>
          <p:nvPr/>
        </p:nvSpPr>
        <p:spPr>
          <a:xfrm>
            <a:off x="8909898" y="2636745"/>
            <a:ext cx="1902371" cy="400110"/>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Open Sans"/>
              <a:buNone/>
            </a:pPr>
            <a:r>
              <a:rPr b="0" i="0" lang="en-US" sz="2000" u="none" cap="none" strike="noStrike">
                <a:solidFill>
                  <a:srgbClr val="FFFFFF"/>
                </a:solidFill>
                <a:latin typeface="Noto Sans SC"/>
                <a:ea typeface="Noto Sans SC"/>
                <a:cs typeface="Open Sans"/>
                <a:sym typeface="Open Sans"/>
              </a:rPr>
              <a:t>从随机值开始</a:t>
            </a:r>
            <a:endParaRPr/>
          </a:p>
        </p:txBody>
      </p:sp>
      <p:grpSp>
        <p:nvGrpSpPr>
          <p:cNvPr id="256" name="Google Shape;256;p115"/>
          <p:cNvGrpSpPr/>
          <p:nvPr/>
        </p:nvGrpSpPr>
        <p:grpSpPr>
          <a:xfrm>
            <a:off x="7548712" y="2543110"/>
            <a:ext cx="865290" cy="2190731"/>
            <a:chOff x="1833182" y="2685985"/>
            <a:chExt cx="865290" cy="2190731"/>
          </a:xfrm>
        </p:grpSpPr>
        <p:cxnSp>
          <p:nvCxnSpPr>
            <p:cNvPr id="257" name="Google Shape;257;p115"/>
            <p:cNvCxnSpPr>
              <a:endCxn id="258" idx="2"/>
            </p:cNvCxnSpPr>
            <p:nvPr/>
          </p:nvCxnSpPr>
          <p:spPr>
            <a:xfrm>
              <a:off x="2071785" y="2685985"/>
              <a:ext cx="0" cy="913500"/>
            </a:xfrm>
            <a:prstGeom prst="straightConnector1">
              <a:avLst/>
            </a:prstGeom>
            <a:noFill/>
            <a:ln cap="flat" cmpd="sng" w="76200">
              <a:solidFill>
                <a:schemeClr val="accent4"/>
              </a:solidFill>
              <a:prstDash val="solid"/>
              <a:round/>
              <a:headEnd len="sm" w="sm" type="none"/>
              <a:tailEnd len="med" w="med" type="triangle"/>
            </a:ln>
          </p:spPr>
        </p:cxnSp>
        <p:cxnSp>
          <p:nvCxnSpPr>
            <p:cNvPr id="259" name="Google Shape;259;p115"/>
            <p:cNvCxnSpPr>
              <a:stCxn id="258" idx="6"/>
            </p:cNvCxnSpPr>
            <p:nvPr/>
          </p:nvCxnSpPr>
          <p:spPr>
            <a:xfrm>
              <a:off x="2071785" y="4079616"/>
              <a:ext cx="0" cy="797100"/>
            </a:xfrm>
            <a:prstGeom prst="straightConnector1">
              <a:avLst/>
            </a:prstGeom>
            <a:noFill/>
            <a:ln cap="flat" cmpd="sng" w="76200">
              <a:solidFill>
                <a:schemeClr val="accent4"/>
              </a:solidFill>
              <a:prstDash val="solid"/>
              <a:round/>
              <a:headEnd len="sm" w="sm" type="none"/>
              <a:tailEnd len="med" w="med" type="triangle"/>
            </a:ln>
          </p:spPr>
        </p:cxnSp>
        <p:sp>
          <p:nvSpPr>
            <p:cNvPr id="260" name="Google Shape;260;p115"/>
            <p:cNvSpPr txBox="1"/>
            <p:nvPr/>
          </p:nvSpPr>
          <p:spPr>
            <a:xfrm>
              <a:off x="2228728" y="4079616"/>
              <a:ext cx="469744" cy="48013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58" name="Google Shape;258;p115"/>
            <p:cNvSpPr/>
            <p:nvPr/>
          </p:nvSpPr>
          <p:spPr>
            <a:xfrm rot="5400000">
              <a:off x="1831719" y="3600948"/>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graphicFrame>
        <p:nvGraphicFramePr>
          <p:cNvPr id="261" name="Google Shape;261;p115"/>
          <p:cNvGraphicFramePr/>
          <p:nvPr/>
        </p:nvGraphicFramePr>
        <p:xfrm>
          <a:off x="889064" y="2941576"/>
          <a:ext cx="3000000" cy="3000000"/>
        </p:xfrm>
        <a:graphic>
          <a:graphicData uri="http://schemas.openxmlformats.org/drawingml/2006/table">
            <a:tbl>
              <a:tblPr bandRow="1" firstRow="1">
                <a:noFill/>
                <a:tableStyleId>{C92F0C3F-1D8F-44BD-A9BE-D08BDC8DFB2E}</a:tableStyleId>
              </a:tblPr>
              <a:tblGrid>
                <a:gridCol w="788750"/>
                <a:gridCol w="788750"/>
                <a:gridCol w="788750"/>
              </a:tblGrid>
              <a:tr h="534925">
                <a:tc>
                  <a:txBody>
                    <a:bodyPr/>
                    <a:lstStyle/>
                    <a:p>
                      <a:pPr indent="0" lvl="0" marL="0" marR="0" rtl="0" algn="ctr">
                        <a:spcBef>
                          <a:spcPts val="0"/>
                        </a:spcBef>
                        <a:spcAft>
                          <a:spcPts val="0"/>
                        </a:spcAft>
                        <a:buNone/>
                      </a:pPr>
                      <a:r>
                        <a:rPr lang="en-US" sz="1800" u="none" cap="none" strike="noStrike">
                          <a:latin typeface="Open Sans"/>
                          <a:ea typeface="Noto Sans SC"/>
                          <a:cs typeface="Open Sans"/>
                          <a:sym typeface="Open Sans"/>
                        </a:rPr>
                        <a:t>x</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ctr">
                        <a:spcBef>
                          <a:spcPts val="0"/>
                        </a:spcBef>
                        <a:spcAft>
                          <a:spcPts val="0"/>
                        </a:spcAft>
                        <a:buNone/>
                      </a:pPr>
                      <a:r>
                        <a:rPr lang="en-US" sz="1800" u="none" cap="none" strike="noStrike">
                          <a:latin typeface="Open Sans"/>
                          <a:ea typeface="Noto Sans SC"/>
                          <a:cs typeface="Open Sans"/>
                          <a:sym typeface="Open Sans"/>
                        </a:rPr>
                        <a:t>y</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l">
                        <a:spcBef>
                          <a:spcPts val="0"/>
                        </a:spcBef>
                        <a:spcAft>
                          <a:spcPts val="0"/>
                        </a:spcAft>
                        <a:buNone/>
                      </a:pPr>
                      <a:r>
                        <a:t/>
                      </a:r>
                      <a:endParaRPr sz="1800"/>
                    </a:p>
                  </a:txBody>
                  <a:tcPr marT="45725" marB="45725" marR="91450" marL="91450" anchor="ctr"/>
                </a:tc>
              </a:tr>
              <a:tr h="534925">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1</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3</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4</a:t>
                      </a:r>
                      <a:endParaRPr sz="1800">
                        <a:solidFill>
                          <a:schemeClr val="dk2"/>
                        </a:solidFill>
                        <a:latin typeface="Open Sans"/>
                        <a:ea typeface="Noto Sans SC"/>
                        <a:cs typeface="Open Sans"/>
                        <a:sym typeface="Open Sans"/>
                      </a:endParaRPr>
                    </a:p>
                  </a:txBody>
                  <a:tcPr marT="45725" marB="45725" marR="91450" marL="91450" anchor="ctr">
                    <a:solidFill>
                      <a:srgbClr val="EFAA87"/>
                    </a:solidFill>
                  </a:tcPr>
                </a:tc>
              </a:tr>
              <a:tr h="534925">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2</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5</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3</a:t>
                      </a:r>
                      <a:endParaRPr sz="1800">
                        <a:solidFill>
                          <a:schemeClr val="dk2"/>
                        </a:solidFill>
                        <a:latin typeface="Open Sans"/>
                        <a:ea typeface="Noto Sans SC"/>
                        <a:cs typeface="Open Sans"/>
                        <a:sym typeface="Open Sans"/>
                      </a:endParaRPr>
                    </a:p>
                  </a:txBody>
                  <a:tcPr marT="45725" marB="45725" marR="91450" marL="91450" anchor="ctr">
                    <a:solidFill>
                      <a:srgbClr val="F7D5C3"/>
                    </a:solidFill>
                  </a:tcPr>
                </a:tc>
              </a:tr>
            </a:tbl>
          </a:graphicData>
        </a:graphic>
      </p:graphicFrame>
      <p:graphicFrame>
        <p:nvGraphicFramePr>
          <p:cNvPr id="262" name="Google Shape;262;p115"/>
          <p:cNvGraphicFramePr/>
          <p:nvPr/>
        </p:nvGraphicFramePr>
        <p:xfrm>
          <a:off x="4015479" y="2424890"/>
          <a:ext cx="2838443" cy="2723985"/>
        </p:xfrm>
        <a:graphic>
          <a:graphicData uri="http://schemas.openxmlformats.org/drawingml/2006/chart">
            <c:chart r:id="rId4"/>
          </a:graphicData>
        </a:graphic>
      </p:graphicFrame>
      <p:sp>
        <p:nvSpPr>
          <p:cNvPr id="263" name="Google Shape;263;p115"/>
          <p:cNvSpPr txBox="1"/>
          <p:nvPr/>
        </p:nvSpPr>
        <p:spPr>
          <a:xfrm>
            <a:off x="9062547" y="3086100"/>
            <a:ext cx="1734321" cy="498598"/>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64" name="Google Shape;264;p115"/>
          <p:cNvSpPr txBox="1"/>
          <p:nvPr/>
        </p:nvSpPr>
        <p:spPr>
          <a:xfrm>
            <a:off x="9087820" y="3757305"/>
            <a:ext cx="1248740" cy="498598"/>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cxnSp>
        <p:nvCxnSpPr>
          <p:cNvPr id="265" name="Google Shape;265;p115"/>
          <p:cNvCxnSpPr/>
          <p:nvPr/>
        </p:nvCxnSpPr>
        <p:spPr>
          <a:xfrm>
            <a:off x="4800600" y="2901140"/>
            <a:ext cx="1824038" cy="1088766"/>
          </a:xfrm>
          <a:prstGeom prst="straightConnector1">
            <a:avLst/>
          </a:prstGeom>
          <a:noFill/>
          <a:ln cap="flat" cmpd="sng" w="38100">
            <a:solidFill>
              <a:srgbClr val="7030A0"/>
            </a:solidFill>
            <a:prstDash val="solid"/>
            <a:round/>
            <a:headEnd len="sm" w="sm" type="none"/>
            <a:tailEnd len="sm" w="sm" type="none"/>
          </a:ln>
        </p:spPr>
      </p:cxnSp>
      <p:sp>
        <p:nvSpPr>
          <p:cNvPr id="266" name="Google Shape;266;p115"/>
          <p:cNvSpPr txBox="1"/>
          <p:nvPr/>
        </p:nvSpPr>
        <p:spPr>
          <a:xfrm>
            <a:off x="7788123" y="2596735"/>
            <a:ext cx="849913"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m•x</a:t>
            </a:r>
            <a:endParaRPr b="0" i="0" sz="2800" u="none" cap="none" strike="noStrike">
              <a:solidFill>
                <a:srgbClr val="000000"/>
              </a:solidFill>
              <a:latin typeface="Open Sans"/>
              <a:ea typeface="Noto Sans SC"/>
              <a:cs typeface="Open Sans"/>
              <a:sym typeface="Open Sans"/>
            </a:endParaRPr>
          </a:p>
        </p:txBody>
      </p:sp>
      <p:sp>
        <p:nvSpPr>
          <p:cNvPr id="267" name="Google Shape;267;p115"/>
          <p:cNvSpPr txBox="1"/>
          <p:nvPr/>
        </p:nvSpPr>
        <p:spPr>
          <a:xfrm>
            <a:off x="4118878" y="1252157"/>
            <a:ext cx="2735044" cy="553998"/>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69"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更简单的模型</a:t>
            </a:r>
          </a:p>
        </p:txBody>
      </p:sp>
      <p:sp xmlns:p="http://schemas.openxmlformats.org/presentationml/2006/main" xmlns:a="http://schemas.openxmlformats.org/drawingml/2006/main">
        <p:nvSpPr>
          <p:cNvPr id="26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71" name="Shape 271"/>
        <p:cNvGrpSpPr/>
        <p:nvPr/>
      </p:nvGrpSpPr>
      <p:grpSpPr>
        <a:xfrm>
          <a:off x="0" y="0"/>
          <a:ext cx="0" cy="0"/>
          <a:chOff x="0" y="0"/>
          <a:chExt cx="0" cy="0"/>
        </a:xfrm>
      </p:grpSpPr>
      <p:sp>
        <p:nvSpPr>
          <p:cNvPr id="272" name="Google Shape;272;p116"/>
          <p:cNvSpPr txBox="1"/>
          <p:nvPr/>
        </p:nvSpPr>
        <p:spPr>
          <a:xfrm>
            <a:off x="4118878" y="1252157"/>
            <a:ext cx="273504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73" name="Google Shape;273;p116"/>
          <p:cNvSpPr txBox="1"/>
          <p:nvPr/>
        </p:nvSpPr>
        <p:spPr>
          <a:xfrm>
            <a:off x="7327789" y="2656547"/>
            <a:ext cx="3055773" cy="4843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graphicFrame>
        <p:nvGraphicFramePr>
          <p:cNvPr id="274" name="Google Shape;274;p116"/>
          <p:cNvGraphicFramePr/>
          <p:nvPr/>
        </p:nvGraphicFramePr>
        <p:xfrm>
          <a:off x="400050" y="2243137"/>
          <a:ext cx="3000000" cy="3000000"/>
        </p:xfrm>
        <a:graphic>
          <a:graphicData uri="http://schemas.openxmlformats.org/drawingml/2006/table">
            <a:tbl>
              <a:tblPr bandRow="1" firstRow="1">
                <a:noFill/>
                <a:tableStyleId>{C92F0C3F-1D8F-44BD-A9BE-D08BDC8DFB2E}</a:tableStyleId>
              </a:tblPr>
              <a:tblGrid>
                <a:gridCol w="750100"/>
                <a:gridCol w="750100"/>
                <a:gridCol w="750100"/>
                <a:gridCol w="750100"/>
              </a:tblGrid>
              <a:tr h="620075">
                <a:tc>
                  <a:txBody>
                    <a:bodyPr/>
                    <a:lstStyle/>
                    <a:p>
                      <a:pPr indent="0" lvl="0" marL="0" marR="0" rtl="0" algn="ctr">
                        <a:spcBef>
                          <a:spcPts val="0"/>
                        </a:spcBef>
                        <a:spcAft>
                          <a:spcPts val="0"/>
                        </a:spcAft>
                        <a:buNone/>
                      </a:pPr>
                      <a:r>
                        <a:rPr lang="en-US" sz="1800">
                          <a:latin typeface="Open Sans"/>
                          <a:ea typeface="Noto Sans SC"/>
                          <a:cs typeface="Open Sans"/>
                          <a:sym typeface="Open Sans"/>
                        </a:rPr>
                        <a:t>x</a:t>
                      </a:r>
                      <a:endParaRPr sz="1800">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ctr">
                        <a:spcBef>
                          <a:spcPts val="0"/>
                        </a:spcBef>
                        <a:spcAft>
                          <a:spcPts val="0"/>
                        </a:spcAft>
                        <a:buNone/>
                      </a:pPr>
                      <a:r>
                        <a:rPr lang="en-US" sz="1800">
                          <a:latin typeface="Open Sans"/>
                          <a:ea typeface="Noto Sans SC"/>
                          <a:cs typeface="Open Sans"/>
                          <a:sym typeface="Open Sans"/>
                        </a:rPr>
                        <a:t>y</a:t>
                      </a:r>
                      <a:endParaRPr sz="1800">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l">
                        <a:spcBef>
                          <a:spcPts val="0"/>
                        </a:spcBef>
                        <a:spcAft>
                          <a:spcPts val="0"/>
                        </a:spcAft>
                        <a:buNone/>
                      </a:pPr>
                      <a:r>
                        <a:t/>
                      </a:r>
                      <a:endParaRPr sz="1800"/>
                    </a:p>
                  </a:txBody>
                  <a:tcPr marT="45725" marB="45725" marR="91450" marL="91450" anchor="ctr"/>
                </a:tc>
                <a:tc>
                  <a:txBody>
                    <a:bodyPr/>
                    <a:lstStyle/>
                    <a:p>
                      <a:pPr indent="0" lvl="0" marL="0" marR="0" rtl="0" algn="l">
                        <a:spcBef>
                          <a:spcPts val="0"/>
                        </a:spcBef>
                        <a:spcAft>
                          <a:spcPts val="0"/>
                        </a:spcAft>
                        <a:buNone/>
                      </a:pPr>
                      <a:r>
                        <a:t/>
                      </a:r>
                      <a:endParaRPr sz="1800"/>
                    </a:p>
                  </a:txBody>
                  <a:tcPr marT="45725" marB="45725" marR="91450" marL="91450" anchor="ctr"/>
                </a:tc>
              </a:tr>
              <a:tr h="620075">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1</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3</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4</a:t>
                      </a:r>
                      <a:endParaRPr sz="1800">
                        <a:solidFill>
                          <a:schemeClr val="dk2"/>
                        </a:solidFill>
                        <a:latin typeface="Open Sans"/>
                        <a:ea typeface="Noto Sans SC"/>
                        <a:cs typeface="Open Sans"/>
                        <a:sym typeface="Open Sans"/>
                      </a:endParaRPr>
                    </a:p>
                  </a:txBody>
                  <a:tcPr marT="45725" marB="45725" marR="91450" marL="91450" anchor="ctr">
                    <a:solidFill>
                      <a:srgbClr val="EFAA87"/>
                    </a:solidFill>
                  </a:tcP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1</a:t>
                      </a:r>
                      <a:endParaRPr sz="1800">
                        <a:solidFill>
                          <a:schemeClr val="dk2"/>
                        </a:solidFill>
                        <a:latin typeface="Open Sans"/>
                        <a:ea typeface="Noto Sans SC"/>
                        <a:cs typeface="Open Sans"/>
                        <a:sym typeface="Open Sans"/>
                      </a:endParaRPr>
                    </a:p>
                  </a:txBody>
                  <a:tcPr marT="45725" marB="45725" marR="91450" marL="91450" anchor="ctr">
                    <a:solidFill>
                      <a:srgbClr val="EFAA87"/>
                    </a:solidFill>
                  </a:tcPr>
                </a:tc>
              </a:tr>
              <a:tr h="620075">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2</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5</a:t>
                      </a:r>
                      <a:endParaRPr sz="1800">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3</a:t>
                      </a:r>
                      <a:endParaRPr sz="1800">
                        <a:solidFill>
                          <a:schemeClr val="dk2"/>
                        </a:solidFill>
                        <a:latin typeface="Open Sans"/>
                        <a:ea typeface="Noto Sans SC"/>
                        <a:cs typeface="Open Sans"/>
                        <a:sym typeface="Open Sans"/>
                      </a:endParaRPr>
                    </a:p>
                  </a:txBody>
                  <a:tcPr marT="45725" marB="45725" marR="91450" marL="91450" anchor="ctr">
                    <a:solidFill>
                      <a:srgbClr val="F7D5C3"/>
                    </a:solidFill>
                  </a:tcPr>
                </a:tc>
                <a:tc>
                  <a:txBody>
                    <a:bodyPr/>
                    <a:lstStyle/>
                    <a:p>
                      <a:pPr indent="0" lvl="0" marL="0" marR="0" rtl="0" algn="ctr">
                        <a:spcBef>
                          <a:spcPts val="0"/>
                        </a:spcBef>
                        <a:spcAft>
                          <a:spcPts val="0"/>
                        </a:spcAft>
                        <a:buNone/>
                      </a:pPr>
                      <a:r>
                        <a:rPr lang="en-US" sz="1800">
                          <a:solidFill>
                            <a:schemeClr val="dk2"/>
                          </a:solidFill>
                          <a:latin typeface="Open Sans"/>
                          <a:ea typeface="Noto Sans SC"/>
                          <a:cs typeface="Open Sans"/>
                          <a:sym typeface="Open Sans"/>
                        </a:rPr>
                        <a:t>4</a:t>
                      </a:r>
                      <a:endParaRPr sz="1800">
                        <a:solidFill>
                          <a:schemeClr val="dk2"/>
                        </a:solidFill>
                        <a:latin typeface="Open Sans"/>
                        <a:ea typeface="Noto Sans SC"/>
                        <a:cs typeface="Open Sans"/>
                        <a:sym typeface="Open Sans"/>
                      </a:endParaRPr>
                    </a:p>
                  </a:txBody>
                  <a:tcPr marT="45725" marB="45725" marR="91450" marL="91450" anchor="ctr">
                    <a:solidFill>
                      <a:srgbClr val="F7D5C3"/>
                    </a:solidFill>
                  </a:tcPr>
                </a:tc>
              </a:tr>
              <a:tr h="620075">
                <a:tc gridSpan="3">
                  <a:txBody>
                    <a:bodyPr/>
                    <a:lstStyle/>
                    <a:p>
                      <a:pPr indent="0" lvl="0" marL="0" marR="0" rtl="0" algn="r">
                        <a:spcBef>
                          <a:spcPts val="0"/>
                        </a:spcBef>
                        <a:spcAft>
                          <a:spcPts val="0"/>
                        </a:spcAft>
                        <a:buNone/>
                      </a:pPr>
                      <a:r>
                        <a:rPr lang="en-US" sz="1800">
                          <a:solidFill>
                            <a:schemeClr val="dk2"/>
                          </a:solidFill>
                          <a:latin typeface="Open Sans"/>
                          <a:ea typeface="Noto Sans SC"/>
                          <a:cs typeface="Open Sans"/>
                          <a:sym typeface="Open Sans"/>
                        </a:rPr>
                        <a:t>MSE =</a:t>
                      </a:r>
                      <a:endParaRPr sz="1800">
                        <a:solidFill>
                          <a:schemeClr val="dk2"/>
                        </a:solidFill>
                        <a:latin typeface="Open Sans"/>
                        <a:ea typeface="Noto Sans SC"/>
                        <a:cs typeface="Open Sans"/>
                        <a:sym typeface="Open Sans"/>
                      </a:endParaRPr>
                    </a:p>
                  </a:txBody>
                  <a:tcPr marT="45725" marB="45725" marR="91450" marL="91450" anchor="ctr"/>
                </a:tc>
                <a:tc hMerge="1">
                  <a:txBody>
                    <a:bodyPr/>
                    <a:p/>
                  </a:txBody>
                </a:tc>
                <a:tc hMerge="1">
                  <a:txBody>
                    <a:bodyPr/>
                    <a:p/>
                  </a:txBody>
                </a:tc>
                <a:tc>
                  <a:txBody>
                    <a:bodyPr/>
                    <a:lstStyle/>
                    <a:p>
                      <a:pPr indent="0" lvl="0" marL="0" marR="0" rtl="0" algn="ctr">
                        <a:spcBef>
                          <a:spcPts val="0"/>
                        </a:spcBef>
                        <a:spcAft>
                          <a:spcPts val="0"/>
                        </a:spcAft>
                        <a:buNone/>
                      </a:pPr>
                      <a:r>
                        <a:rPr lang="en-US" sz="1800">
                          <a:solidFill>
                            <a:schemeClr val="lt1"/>
                          </a:solidFill>
                          <a:latin typeface="Open Sans"/>
                          <a:ea typeface="Noto Sans SC"/>
                          <a:cs typeface="Open Sans"/>
                          <a:sym typeface="Open Sans"/>
                        </a:rPr>
                        <a:t>2.5</a:t>
                      </a:r>
                      <a:endParaRPr sz="1800">
                        <a:solidFill>
                          <a:schemeClr val="lt1"/>
                        </a:solidFill>
                        <a:latin typeface="Open Sans"/>
                        <a:ea typeface="Noto Sans SC"/>
                        <a:cs typeface="Open Sans"/>
                        <a:sym typeface="Open Sans"/>
                      </a:endParaRPr>
                    </a:p>
                  </a:txBody>
                  <a:tcPr marT="45725" marB="45725" marR="91450" marL="91450" anchor="ctr">
                    <a:solidFill>
                      <a:srgbClr val="7030A0"/>
                    </a:solidFill>
                  </a:tcPr>
                </a:tc>
              </a:tr>
              <a:tr h="620075">
                <a:tc gridSpan="3">
                  <a:txBody>
                    <a:bodyPr/>
                    <a:lstStyle/>
                    <a:p>
                      <a:pPr indent="0" lvl="0" marL="0" marR="0" rtl="0" algn="r">
                        <a:spcBef>
                          <a:spcPts val="0"/>
                        </a:spcBef>
                        <a:spcAft>
                          <a:spcPts val="0"/>
                        </a:spcAft>
                        <a:buNone/>
                      </a:pPr>
                      <a:r>
                        <a:rPr lang="en-US" sz="1800">
                          <a:solidFill>
                            <a:schemeClr val="dk2"/>
                          </a:solidFill>
                          <a:latin typeface="Open Sans"/>
                          <a:ea typeface="Noto Sans SC"/>
                          <a:cs typeface="Open Sans"/>
                          <a:sym typeface="Open Sans"/>
                        </a:rPr>
                        <a:t>RMSE = </a:t>
                      </a:r>
                      <a:endParaRPr sz="1800">
                        <a:solidFill>
                          <a:schemeClr val="dk2"/>
                        </a:solidFill>
                        <a:latin typeface="Open Sans"/>
                        <a:ea typeface="Noto Sans SC"/>
                        <a:cs typeface="Open Sans"/>
                        <a:sym typeface="Open Sans"/>
                      </a:endParaRPr>
                    </a:p>
                  </a:txBody>
                  <a:tcPr marT="45725" marB="45725" marR="91450" marL="91450" anchor="ctr"/>
                </a:tc>
                <a:tc hMerge="1">
                  <a:txBody>
                    <a:bodyPr/>
                    <a:p/>
                  </a:txBody>
                </a:tc>
                <a:tc hMerge="1">
                  <a:txBody>
                    <a:bodyPr/>
                    <a:p/>
                  </a:txBody>
                </a:tc>
                <a:tc>
                  <a:txBody>
                    <a:bodyPr/>
                    <a:lstStyle/>
                    <a:p>
                      <a:pPr indent="0" lvl="0" marL="0" marR="0" rtl="0" algn="ctr">
                        <a:spcBef>
                          <a:spcPts val="0"/>
                        </a:spcBef>
                        <a:spcAft>
                          <a:spcPts val="0"/>
                        </a:spcAft>
                        <a:buNone/>
                      </a:pPr>
                      <a:r>
                        <a:rPr lang="en-US" sz="1800">
                          <a:solidFill>
                            <a:schemeClr val="lt1"/>
                          </a:solidFill>
                          <a:latin typeface="Open Sans"/>
                          <a:ea typeface="Noto Sans SC"/>
                          <a:cs typeface="Open Sans"/>
                          <a:sym typeface="Open Sans"/>
                        </a:rPr>
                        <a:t>1.6</a:t>
                      </a:r>
                      <a:endParaRPr sz="1800">
                        <a:solidFill>
                          <a:schemeClr val="lt1"/>
                        </a:solidFill>
                        <a:latin typeface="Open Sans"/>
                        <a:ea typeface="Noto Sans SC"/>
                        <a:cs typeface="Open Sans"/>
                        <a:sym typeface="Open Sans"/>
                      </a:endParaRPr>
                    </a:p>
                  </a:txBody>
                  <a:tcPr marT="45725" marB="45725" marR="91450" marL="91450" anchor="ctr">
                    <a:solidFill>
                      <a:srgbClr val="7030A0"/>
                    </a:solidFill>
                  </a:tcPr>
                </a:tc>
              </a:tr>
            </a:tbl>
          </a:graphicData>
        </a:graphic>
      </p:graphicFrame>
      <p:graphicFrame>
        <p:nvGraphicFramePr>
          <p:cNvPr id="275" name="Google Shape;275;p116"/>
          <p:cNvGraphicFramePr/>
          <p:nvPr/>
        </p:nvGraphicFramePr>
        <p:xfrm>
          <a:off x="3844029" y="2243854"/>
          <a:ext cx="3002750" cy="3109746"/>
        </p:xfrm>
        <a:graphic>
          <a:graphicData uri="http://schemas.openxmlformats.org/drawingml/2006/chart">
            <c:chart r:id="rId5"/>
          </a:graphicData>
        </a:graphic>
      </p:graphicFrame>
      <p:cxnSp>
        <p:nvCxnSpPr>
          <p:cNvPr id="276" name="Google Shape;276;p116"/>
          <p:cNvCxnSpPr/>
          <p:nvPr/>
        </p:nvCxnSpPr>
        <p:spPr>
          <a:xfrm>
            <a:off x="4800600" y="2898697"/>
            <a:ext cx="1824038" cy="1088766"/>
          </a:xfrm>
          <a:prstGeom prst="straightConnector1">
            <a:avLst/>
          </a:prstGeom>
          <a:noFill/>
          <a:ln cap="flat" cmpd="sng" w="38100">
            <a:solidFill>
              <a:srgbClr val="7030A0"/>
            </a:solidFill>
            <a:prstDash val="solid"/>
            <a:round/>
            <a:headEnd len="sm" w="sm" type="none"/>
            <a:tailEnd len="sm" w="sm" type="none"/>
          </a:ln>
        </p:spPr>
      </p:cxnSp>
      <p:cxnSp>
        <p:nvCxnSpPr>
          <p:cNvPr id="277" name="Google Shape;277;p116"/>
          <p:cNvCxnSpPr/>
          <p:nvPr/>
        </p:nvCxnSpPr>
        <p:spPr>
          <a:xfrm>
            <a:off x="5124450" y="3121820"/>
            <a:ext cx="0" cy="300037"/>
          </a:xfrm>
          <a:prstGeom prst="straightConnector1">
            <a:avLst/>
          </a:prstGeom>
          <a:noFill/>
          <a:ln cap="flat" cmpd="sng" w="38100">
            <a:solidFill>
              <a:schemeClr val="dk2"/>
            </a:solidFill>
            <a:prstDash val="dot"/>
            <a:round/>
            <a:headEnd len="sm" w="sm" type="none"/>
            <a:tailEnd len="sm" w="sm" type="none"/>
          </a:ln>
        </p:spPr>
      </p:cxnSp>
      <p:cxnSp>
        <p:nvCxnSpPr>
          <p:cNvPr id="278" name="Google Shape;278;p116"/>
          <p:cNvCxnSpPr/>
          <p:nvPr/>
        </p:nvCxnSpPr>
        <p:spPr>
          <a:xfrm>
            <a:off x="5636419" y="2852738"/>
            <a:ext cx="0" cy="569119"/>
          </a:xfrm>
          <a:prstGeom prst="straightConnector1">
            <a:avLst/>
          </a:prstGeom>
          <a:noFill/>
          <a:ln cap="flat" cmpd="sng" w="38100">
            <a:solidFill>
              <a:schemeClr val="dk2"/>
            </a:solidFill>
            <a:prstDash val="dot"/>
            <a:round/>
            <a:headEnd len="sm" w="sm" type="none"/>
            <a:tailEnd len="sm" w="sm" type="none"/>
          </a:ln>
        </p:spPr>
      </p:cxnSp>
      <p:sp>
        <p:nvSpPr>
          <p:cNvPr id="279" name="Google Shape;279;p116"/>
          <p:cNvSpPr txBox="1"/>
          <p:nvPr/>
        </p:nvSpPr>
        <p:spPr>
          <a:xfrm>
            <a:off x="7042615" y="3784439"/>
            <a:ext cx="3482620" cy="1293175"/>
          </a:xfrm>
          <a:prstGeom prst="rect">
            <a:avLst/>
          </a:prstGeom>
          <a:blipFill rotWithShape="1">
            <a:blip r:embed="rId6">
              <a:alphaModFix/>
            </a:blip>
            <a:stretch>
              <a:fillRect b="-2830" l="0" r="0" t="-283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81"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更简单的模型</a:t>
            </a:r>
          </a:p>
        </p:txBody>
      </p:sp>
      <p:sp xmlns:p="http://schemas.openxmlformats.org/presentationml/2006/main" xmlns:a="http://schemas.openxmlformats.org/drawingml/2006/main">
        <p:nvSpPr>
          <p:cNvPr id="28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83" name="Shape 283"/>
        <p:cNvGrpSpPr/>
        <p:nvPr/>
      </p:nvGrpSpPr>
      <p:grpSpPr>
        <a:xfrm>
          <a:off x="0" y="0"/>
          <a:ext cx="0" cy="0"/>
          <a:chOff x="0" y="0"/>
          <a:chExt cx="0" cy="0"/>
        </a:xfrm>
      </p:grpSpPr>
      <p:sp>
        <p:nvSpPr>
          <p:cNvPr id="284" name="Google Shape;284;p13"/>
          <p:cNvSpPr txBox="1"/>
          <p:nvPr/>
        </p:nvSpPr>
        <p:spPr>
          <a:xfrm>
            <a:off x="498348" y="67203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更简单的模型</a:t>
            </a:r>
            <a:endParaRPr b="1" i="0" sz="3600" u="none" cap="none" strike="noStrike">
              <a:solidFill>
                <a:schemeClr val="dk2"/>
              </a:solidFill>
              <a:latin typeface="Open Sans"/>
              <a:ea typeface="Noto Sans SC"/>
              <a:cs typeface="Open Sans"/>
              <a:sym typeface="Open Sans"/>
            </a:endParaRPr>
          </a:p>
        </p:txBody>
      </p:sp>
      <p:graphicFrame>
        <p:nvGraphicFramePr>
          <p:cNvPr id="285" name="Google Shape;285;p13"/>
          <p:cNvGraphicFramePr/>
          <p:nvPr/>
        </p:nvGraphicFramePr>
        <p:xfrm>
          <a:off x="3844029" y="2243854"/>
          <a:ext cx="3002750" cy="3109746"/>
        </p:xfrm>
        <a:graphic>
          <a:graphicData uri="http://schemas.openxmlformats.org/drawingml/2006/chart">
            <c:chart r:id="rId3"/>
          </a:graphicData>
        </a:graphic>
      </p:graphicFrame>
      <p:cxnSp>
        <p:nvCxnSpPr>
          <p:cNvPr id="286" name="Google Shape;286;p13"/>
          <p:cNvCxnSpPr/>
          <p:nvPr/>
        </p:nvCxnSpPr>
        <p:spPr>
          <a:xfrm>
            <a:off x="4800600" y="2898697"/>
            <a:ext cx="1824038" cy="1088766"/>
          </a:xfrm>
          <a:prstGeom prst="straightConnector1">
            <a:avLst/>
          </a:prstGeom>
          <a:noFill/>
          <a:ln cap="flat" cmpd="sng" w="38100">
            <a:solidFill>
              <a:srgbClr val="7030A0"/>
            </a:solidFill>
            <a:prstDash val="solid"/>
            <a:round/>
            <a:headEnd len="sm" w="sm" type="none"/>
            <a:tailEnd len="sm" w="sm" type="none"/>
          </a:ln>
        </p:spPr>
      </p:cxnSp>
      <p:cxnSp>
        <p:nvCxnSpPr>
          <p:cNvPr id="287" name="Google Shape;287;p13"/>
          <p:cNvCxnSpPr/>
          <p:nvPr/>
        </p:nvCxnSpPr>
        <p:spPr>
          <a:xfrm>
            <a:off x="5124450" y="3121820"/>
            <a:ext cx="0" cy="300037"/>
          </a:xfrm>
          <a:prstGeom prst="straightConnector1">
            <a:avLst/>
          </a:prstGeom>
          <a:noFill/>
          <a:ln cap="flat" cmpd="sng" w="38100">
            <a:solidFill>
              <a:schemeClr val="dk2"/>
            </a:solidFill>
            <a:prstDash val="dot"/>
            <a:round/>
            <a:headEnd len="sm" w="sm" type="none"/>
            <a:tailEnd len="sm" w="sm" type="none"/>
          </a:ln>
        </p:spPr>
      </p:cxnSp>
      <p:cxnSp>
        <p:nvCxnSpPr>
          <p:cNvPr id="288" name="Google Shape;288;p13"/>
          <p:cNvCxnSpPr/>
          <p:nvPr/>
        </p:nvCxnSpPr>
        <p:spPr>
          <a:xfrm>
            <a:off x="5636419" y="2852738"/>
            <a:ext cx="0" cy="569119"/>
          </a:xfrm>
          <a:prstGeom prst="straightConnector1">
            <a:avLst/>
          </a:prstGeom>
          <a:noFill/>
          <a:ln cap="flat" cmpd="sng" w="38100">
            <a:solidFill>
              <a:schemeClr val="dk2"/>
            </a:solidFill>
            <a:prstDash val="dot"/>
            <a:round/>
            <a:headEnd len="sm" w="sm" type="none"/>
            <a:tailEnd len="sm" w="sm" type="none"/>
          </a:ln>
        </p:spPr>
      </p:cxnSp>
      <p:graphicFrame>
        <p:nvGraphicFramePr>
          <p:cNvPr id="289" name="Google Shape;289;p13"/>
          <p:cNvGraphicFramePr/>
          <p:nvPr/>
        </p:nvGraphicFramePr>
        <p:xfrm>
          <a:off x="400050" y="2243137"/>
          <a:ext cx="3000000" cy="3000000"/>
        </p:xfrm>
        <a:graphic>
          <a:graphicData uri="http://schemas.openxmlformats.org/drawingml/2006/table">
            <a:tbl>
              <a:tblPr bandRow="1" firstRow="1">
                <a:noFill/>
                <a:tableStyleId>{C92F0C3F-1D8F-44BD-A9BE-D08BDC8DFB2E}</a:tableStyleId>
              </a:tblPr>
              <a:tblGrid>
                <a:gridCol w="750100"/>
                <a:gridCol w="750100"/>
                <a:gridCol w="750100"/>
                <a:gridCol w="750100"/>
              </a:tblGrid>
              <a:tr h="620075">
                <a:tc>
                  <a:txBody>
                    <a:bodyPr/>
                    <a:lstStyle/>
                    <a:p>
                      <a:pPr indent="0" lvl="0" marL="0" marR="0" rtl="0" algn="ctr">
                        <a:lnSpc>
                          <a:spcPct val="100000"/>
                        </a:lnSpc>
                        <a:spcBef>
                          <a:spcPts val="0"/>
                        </a:spcBef>
                        <a:spcAft>
                          <a:spcPts val="0"/>
                        </a:spcAft>
                        <a:buNone/>
                      </a:pPr>
                      <a:r>
                        <a:rPr lang="en-US" sz="1800" u="none" cap="none" strike="noStrike">
                          <a:latin typeface="Open Sans"/>
                          <a:ea typeface="Noto Sans SC"/>
                          <a:cs typeface="Open Sans"/>
                          <a:sym typeface="Open Sans"/>
                        </a:rPr>
                        <a:t>x</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ctr">
                        <a:lnSpc>
                          <a:spcPct val="100000"/>
                        </a:lnSpc>
                        <a:spcBef>
                          <a:spcPts val="0"/>
                        </a:spcBef>
                        <a:spcAft>
                          <a:spcPts val="0"/>
                        </a:spcAft>
                        <a:buNone/>
                      </a:pPr>
                      <a:r>
                        <a:rPr lang="en-US" sz="1800" u="none" cap="none" strike="noStrike">
                          <a:latin typeface="Open Sans"/>
                          <a:ea typeface="Noto Sans SC"/>
                          <a:cs typeface="Open Sans"/>
                          <a:sym typeface="Open Sans"/>
                        </a:rPr>
                        <a:t>y</a:t>
                      </a:r>
                      <a:endParaRPr sz="1800" u="none" cap="none" strike="noStrike">
                        <a:latin typeface="Open Sans"/>
                        <a:ea typeface="Noto Sans SC"/>
                        <a:cs typeface="Open Sans"/>
                        <a:sym typeface="Open Sans"/>
                      </a:endParaRPr>
                    </a:p>
                  </a:txBody>
                  <a:tcPr marT="45725" marB="45725" marR="91450" marL="91450" anchor="ctr">
                    <a:solidFill>
                      <a:srgbClr val="588A00"/>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tc>
              </a:tr>
              <a:tr h="620075">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3</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4</a:t>
                      </a:r>
                      <a:endParaRPr sz="1800" u="none" cap="none" strike="noStrike">
                        <a:solidFill>
                          <a:schemeClr val="dk2"/>
                        </a:solidFill>
                        <a:latin typeface="Open Sans"/>
                        <a:ea typeface="Noto Sans SC"/>
                        <a:cs typeface="Open Sans"/>
                        <a:sym typeface="Open Sans"/>
                      </a:endParaRPr>
                    </a:p>
                  </a:txBody>
                  <a:tcPr marT="45725" marB="45725" marR="91450" marL="91450" anchor="ctr">
                    <a:solidFill>
                      <a:srgbClr val="EFAA87"/>
                    </a:solidFill>
                  </a:tcPr>
                </a:tc>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solidFill>
                      <a:srgbClr val="EFAA87"/>
                    </a:solidFill>
                  </a:tcPr>
                </a:tc>
              </a:tr>
              <a:tr h="620075">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2</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5</a:t>
                      </a:r>
                      <a:endParaRPr sz="1800" u="none" cap="none" strike="noStrike">
                        <a:solidFill>
                          <a:schemeClr val="dk2"/>
                        </a:solidFill>
                        <a:latin typeface="Open Sans"/>
                        <a:ea typeface="Noto Sans SC"/>
                        <a:cs typeface="Open Sans"/>
                        <a:sym typeface="Open Sans"/>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3</a:t>
                      </a:r>
                      <a:endParaRPr sz="1800" u="none" cap="none" strike="noStrike">
                        <a:solidFill>
                          <a:schemeClr val="dk2"/>
                        </a:solidFill>
                        <a:latin typeface="Open Sans"/>
                        <a:ea typeface="Noto Sans SC"/>
                        <a:cs typeface="Open Sans"/>
                        <a:sym typeface="Open Sans"/>
                      </a:endParaRPr>
                    </a:p>
                  </a:txBody>
                  <a:tcPr marT="45725" marB="45725" marR="91450" marL="91450" anchor="ctr">
                    <a:solidFill>
                      <a:srgbClr val="F7D5C3"/>
                    </a:solidFill>
                  </a:tcPr>
                </a:tc>
                <a:tc>
                  <a:txBody>
                    <a:bodyPr/>
                    <a:lstStyle/>
                    <a:p>
                      <a:pPr indent="0" lvl="0" marL="0" marR="0" rtl="0" algn="ct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4</a:t>
                      </a:r>
                      <a:endParaRPr sz="1800" u="none" cap="none" strike="noStrike">
                        <a:solidFill>
                          <a:schemeClr val="dk2"/>
                        </a:solidFill>
                        <a:latin typeface="Open Sans"/>
                        <a:ea typeface="Noto Sans SC"/>
                        <a:cs typeface="Open Sans"/>
                        <a:sym typeface="Open Sans"/>
                      </a:endParaRPr>
                    </a:p>
                  </a:txBody>
                  <a:tcPr marT="45725" marB="45725" marR="91450" marL="91450" anchor="ctr">
                    <a:solidFill>
                      <a:srgbClr val="F7D5C3"/>
                    </a:solidFill>
                  </a:tcPr>
                </a:tc>
              </a:tr>
              <a:tr h="620075">
                <a:tc gridSpan="3">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MSE =</a:t>
                      </a:r>
                      <a:endParaRPr sz="1800" u="none" cap="none" strike="noStrike">
                        <a:solidFill>
                          <a:schemeClr val="dk2"/>
                        </a:solidFill>
                        <a:latin typeface="Open Sans"/>
                        <a:ea typeface="Noto Sans SC"/>
                        <a:cs typeface="Open Sans"/>
                        <a:sym typeface="Open Sans"/>
                      </a:endParaRPr>
                    </a:p>
                  </a:txBody>
                  <a:tcPr marT="45725" marB="45725" marR="91450" marL="91450" anchor="ctr"/>
                </a:tc>
                <a:tc hMerge="1">
                  <a:txBody>
                    <a:bodyPr/>
                    <a:p/>
                  </a:txBody>
                </a:tc>
                <a:tc hMerge="1">
                  <a:txBody>
                    <a:bodyPr/>
                    <a:p/>
                  </a:txBody>
                </a:tc>
                <a:tc>
                  <a:txBody>
                    <a:bodyPr/>
                    <a:lstStyle/>
                    <a:p>
                      <a:pPr indent="0" lvl="0" marL="0" marR="0" rtl="0" algn="ctr">
                        <a:lnSpc>
                          <a:spcPct val="100000"/>
                        </a:lnSpc>
                        <a:spcBef>
                          <a:spcPts val="0"/>
                        </a:spcBef>
                        <a:spcAft>
                          <a:spcPts val="0"/>
                        </a:spcAft>
                        <a:buNone/>
                      </a:pPr>
                      <a:r>
                        <a:rPr lang="en-US" sz="1800" u="none" cap="none" strike="noStrike">
                          <a:solidFill>
                            <a:schemeClr val="lt1"/>
                          </a:solidFill>
                          <a:latin typeface="Open Sans"/>
                          <a:ea typeface="Noto Sans SC"/>
                          <a:cs typeface="Open Sans"/>
                          <a:sym typeface="Open Sans"/>
                        </a:rPr>
                        <a:t>2.5</a:t>
                      </a:r>
                      <a:endParaRPr sz="1800" u="none" cap="none" strike="noStrike">
                        <a:solidFill>
                          <a:schemeClr val="lt1"/>
                        </a:solidFill>
                        <a:latin typeface="Open Sans"/>
                        <a:ea typeface="Noto Sans SC"/>
                        <a:cs typeface="Open Sans"/>
                        <a:sym typeface="Open Sans"/>
                      </a:endParaRPr>
                    </a:p>
                  </a:txBody>
                  <a:tcPr marT="45725" marB="45725" marR="91450" marL="91450" anchor="ctr">
                    <a:solidFill>
                      <a:srgbClr val="7030A0"/>
                    </a:solidFill>
                  </a:tcPr>
                </a:tc>
              </a:tr>
              <a:tr h="620075">
                <a:tc gridSpan="3">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ea typeface="Noto Sans SC"/>
                          <a:cs typeface="Open Sans"/>
                          <a:sym typeface="Open Sans"/>
                        </a:rPr>
                        <a:t>RMSE = </a:t>
                      </a:r>
                      <a:endParaRPr sz="1800" u="none" cap="none" strike="noStrike">
                        <a:solidFill>
                          <a:schemeClr val="dk2"/>
                        </a:solidFill>
                        <a:latin typeface="Open Sans"/>
                        <a:ea typeface="Noto Sans SC"/>
                        <a:cs typeface="Open Sans"/>
                        <a:sym typeface="Open Sans"/>
                      </a:endParaRPr>
                    </a:p>
                  </a:txBody>
                  <a:tcPr marT="45725" marB="45725" marR="91450" marL="91450" anchor="ctr"/>
                </a:tc>
                <a:tc hMerge="1">
                  <a:txBody>
                    <a:bodyPr/>
                    <a:p/>
                  </a:txBody>
                </a:tc>
                <a:tc hMerge="1">
                  <a:txBody>
                    <a:bodyPr/>
                    <a:p/>
                  </a:txBody>
                </a:tc>
                <a:tc>
                  <a:txBody>
                    <a:bodyPr/>
                    <a:lstStyle/>
                    <a:p>
                      <a:pPr indent="0" lvl="0" marL="0" marR="0" rtl="0" algn="ctr">
                        <a:lnSpc>
                          <a:spcPct val="100000"/>
                        </a:lnSpc>
                        <a:spcBef>
                          <a:spcPts val="0"/>
                        </a:spcBef>
                        <a:spcAft>
                          <a:spcPts val="0"/>
                        </a:spcAft>
                        <a:buNone/>
                      </a:pPr>
                      <a:r>
                        <a:rPr lang="en-US" sz="1800" u="none" cap="none" strike="noStrike">
                          <a:solidFill>
                            <a:schemeClr val="lt1"/>
                          </a:solidFill>
                          <a:latin typeface="Open Sans"/>
                          <a:ea typeface="Noto Sans SC"/>
                          <a:cs typeface="Open Sans"/>
                          <a:sym typeface="Open Sans"/>
                        </a:rPr>
                        <a:t>1.6</a:t>
                      </a:r>
                      <a:endParaRPr sz="1800" u="none" cap="none" strike="noStrike">
                        <a:solidFill>
                          <a:schemeClr val="lt1"/>
                        </a:solidFill>
                        <a:latin typeface="Open Sans"/>
                        <a:ea typeface="Noto Sans SC"/>
                        <a:cs typeface="Open Sans"/>
                        <a:sym typeface="Open Sans"/>
                      </a:endParaRPr>
                    </a:p>
                  </a:txBody>
                  <a:tcPr marT="45725" marB="45725" marR="91450" marL="91450" anchor="ctr">
                    <a:solidFill>
                      <a:srgbClr val="7030A0"/>
                    </a:solidFill>
                  </a:tcPr>
                </a:tc>
              </a:tr>
            </a:tbl>
          </a:graphicData>
        </a:graphic>
      </p:graphicFrame>
      <p:sp>
        <p:nvSpPr>
          <p:cNvPr id="290" name="Google Shape;290;p13"/>
          <p:cNvSpPr txBox="1"/>
          <p:nvPr/>
        </p:nvSpPr>
        <p:spPr>
          <a:xfrm>
            <a:off x="4118878" y="1252157"/>
            <a:ext cx="2735044" cy="55399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pic>
        <p:nvPicPr>
          <p:cNvPr id="291" name="Google Shape;291;p13"/>
          <p:cNvPicPr preferRelativeResize="0"/>
          <p:nvPr/>
        </p:nvPicPr>
        <p:blipFill rotWithShape="1">
          <a:blip r:embed="rId5">
            <a:alphaModFix/>
          </a:blip>
          <a:srcRect b="0" l="0" r="0" t="0"/>
          <a:stretch/>
        </p:blipFill>
        <p:spPr>
          <a:xfrm>
            <a:off x="7097012" y="1894841"/>
            <a:ext cx="3576067" cy="3521144"/>
          </a:xfrm>
          <a:prstGeom prst="rect">
            <a:avLst/>
          </a:prstGeom>
          <a:noFill/>
          <a:ln>
            <a:noFill/>
          </a:ln>
        </p:spPr>
      </p:pic>
      <p:sp xmlns:p="http://schemas.openxmlformats.org/presentationml/2006/main" xmlns:a="http://schemas.openxmlformats.org/drawingml/2006/main">
        <p:nvSpPr>
          <p:cNvPr id="29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95" name="Shape 295"/>
        <p:cNvGrpSpPr/>
        <p:nvPr/>
      </p:nvGrpSpPr>
      <p:grpSpPr>
        <a:xfrm>
          <a:off x="0" y="0"/>
          <a:ext cx="0" cy="0"/>
          <a:chOff x="0" y="0"/>
          <a:chExt cx="0" cy="0"/>
        </a:xfrm>
      </p:grpSpPr>
      <p:sp>
        <p:nvSpPr>
          <p:cNvPr id="296" name="Google Shape;296;p14"/>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损失曲线</a:t>
            </a:r>
            <a:endParaRPr b="1" i="0" sz="3600" u="none" cap="none" strike="noStrike">
              <a:solidFill>
                <a:schemeClr val="dk2"/>
              </a:solidFill>
              <a:latin typeface="Open Sans"/>
              <a:ea typeface="Noto Sans SC"/>
              <a:cs typeface="Open Sans"/>
              <a:sym typeface="Open Sans"/>
            </a:endParaRPr>
          </a:p>
        </p:txBody>
      </p:sp>
      <p:pic>
        <p:nvPicPr>
          <p:cNvPr id="297" name="Google Shape;297;p14"/>
          <p:cNvPicPr preferRelativeResize="0"/>
          <p:nvPr/>
        </p:nvPicPr>
        <p:blipFill rotWithShape="1">
          <a:blip r:embed="rId3">
            <a:alphaModFix/>
          </a:blip>
          <a:srcRect b="24073" l="47658" r="28299" t="38117"/>
          <a:stretch/>
        </p:blipFill>
        <p:spPr>
          <a:xfrm>
            <a:off x="685799" y="1583150"/>
            <a:ext cx="4216596" cy="3729799"/>
          </a:xfrm>
          <a:prstGeom prst="rect">
            <a:avLst/>
          </a:prstGeom>
          <a:noFill/>
          <a:ln>
            <a:noFill/>
          </a:ln>
        </p:spPr>
      </p:pic>
      <p:pic>
        <p:nvPicPr>
          <p:cNvPr id="298" name="Google Shape;298;p14"/>
          <p:cNvPicPr preferRelativeResize="0"/>
          <p:nvPr/>
        </p:nvPicPr>
        <p:blipFill rotWithShape="1">
          <a:blip r:embed="rId4">
            <a:alphaModFix/>
          </a:blip>
          <a:srcRect b="22222" l="47830" r="22135" t="39570"/>
          <a:stretch/>
        </p:blipFill>
        <p:spPr>
          <a:xfrm>
            <a:off x="4902395" y="1583150"/>
            <a:ext cx="5212498" cy="3729799"/>
          </a:xfrm>
          <a:prstGeom prst="rect">
            <a:avLst/>
          </a:prstGeom>
          <a:noFill/>
          <a:ln>
            <a:noFill/>
          </a:ln>
        </p:spPr>
      </p:pic>
      <p:sp>
        <p:nvSpPr>
          <p:cNvPr id="299" name="Google Shape;299;p14"/>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16</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t/>
            </a:r>
            <a:endParaRPr b="0" i="0" sz="1400" u="none" cap="none" strike="noStrike">
              <a:solidFill>
                <a:schemeClr val="dk2"/>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0</a:t>
            </a:r>
            <a:endParaRPr b="0" i="0" sz="1400" u="none" cap="none" strike="noStrike">
              <a:solidFill>
                <a:schemeClr val="dk2"/>
              </a:solidFill>
              <a:latin typeface="Open Sans"/>
              <a:ea typeface="Noto Sans SC"/>
              <a:cs typeface="Open Sans"/>
              <a:sym typeface="Open Sans"/>
            </a:endParaRPr>
          </a:p>
        </p:txBody>
      </p:sp>
      <p:sp>
        <p:nvSpPr>
          <p:cNvPr id="300" name="Google Shape;300;p14"/>
          <p:cNvSpPr txBox="1"/>
          <p:nvPr/>
        </p:nvSpPr>
        <p:spPr>
          <a:xfrm>
            <a:off x="4107058" y="2390711"/>
            <a:ext cx="49404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MSE</a:t>
            </a:r>
            <a:endParaRPr b="0" i="0" sz="1800" u="none" cap="none" strike="noStrike">
              <a:solidFill>
                <a:schemeClr val="dk2"/>
              </a:solidFill>
              <a:latin typeface="Open Sans"/>
              <a:ea typeface="Noto Sans SC"/>
              <a:cs typeface="Open Sans"/>
              <a:sym typeface="Open Sans"/>
            </a:endParaRPr>
          </a:p>
        </p:txBody>
      </p:sp>
      <p:sp>
        <p:nvSpPr>
          <p:cNvPr id="301" name="Google Shape;301;p14"/>
          <p:cNvSpPr txBox="1"/>
          <p:nvPr/>
        </p:nvSpPr>
        <p:spPr>
          <a:xfrm>
            <a:off x="9716386" y="3133484"/>
            <a:ext cx="49404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MSE</a:t>
            </a:r>
            <a:endParaRPr b="0" i="0" sz="18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30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05" name="Shape 305"/>
        <p:cNvGrpSpPr/>
        <p:nvPr/>
      </p:nvGrpSpPr>
      <p:grpSpPr>
        <a:xfrm>
          <a:off x="0" y="0"/>
          <a:ext cx="0" cy="0"/>
          <a:chOff x="0" y="0"/>
          <a:chExt cx="0" cy="0"/>
        </a:xfrm>
      </p:grpSpPr>
      <p:pic>
        <p:nvPicPr>
          <p:cNvPr id="306" name="Google Shape;306;p117"/>
          <p:cNvPicPr preferRelativeResize="0"/>
          <p:nvPr/>
        </p:nvPicPr>
        <p:blipFill rotWithShape="1">
          <a:blip r:embed="rId3">
            <a:alphaModFix/>
          </a:blip>
          <a:srcRect b="22222" l="47830" r="22135" t="39571"/>
          <a:stretch/>
        </p:blipFill>
        <p:spPr>
          <a:xfrm>
            <a:off x="4902395" y="1583150"/>
            <a:ext cx="5212498" cy="3729799"/>
          </a:xfrm>
          <a:prstGeom prst="rect">
            <a:avLst/>
          </a:prstGeom>
          <a:noFill/>
          <a:ln>
            <a:noFill/>
          </a:ln>
        </p:spPr>
      </p:pic>
      <p:sp>
        <p:nvSpPr>
          <p:cNvPr id="307" name="Google Shape;307;p117"/>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08" name="Google Shape;308;p117"/>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09" name="Google Shape;309;p117"/>
          <p:cNvSpPr txBox="1"/>
          <p:nvPr/>
        </p:nvSpPr>
        <p:spPr>
          <a:xfrm>
            <a:off x="6147876" y="2526265"/>
            <a:ext cx="90281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当前位置</a:t>
            </a:r>
            <a:endParaRPr/>
          </a:p>
        </p:txBody>
      </p:sp>
      <p:sp>
        <p:nvSpPr>
          <p:cNvPr id="310" name="Google Shape;310;p117"/>
          <p:cNvSpPr txBox="1"/>
          <p:nvPr/>
        </p:nvSpPr>
        <p:spPr>
          <a:xfrm>
            <a:off x="8289562" y="3702603"/>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a:p>
        </p:txBody>
      </p:sp>
      <p:sp>
        <p:nvSpPr>
          <p:cNvPr id="311" name="Google Shape;311;p117"/>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sp>
        <p:nvSpPr>
          <p:cNvPr id="312" name="Google Shape;312;p117"/>
          <p:cNvSpPr txBox="1"/>
          <p:nvPr/>
        </p:nvSpPr>
        <p:spPr>
          <a:xfrm>
            <a:off x="9716386" y="3133484"/>
            <a:ext cx="49404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MSE</a:t>
            </a:r>
            <a:endParaRPr b="0" i="0" sz="1800" u="none" cap="none" strike="noStrike">
              <a:solidFill>
                <a:srgbClr val="000000"/>
              </a:solidFill>
              <a:latin typeface="Open Sans"/>
              <a:ea typeface="Noto Sans SC"/>
              <a:cs typeface="Open Sans"/>
              <a:sym typeface="Open Sans"/>
            </a:endParaRPr>
          </a:p>
        </p:txBody>
      </p:sp>
      <p:graphicFrame>
        <p:nvGraphicFramePr>
          <p:cNvPr id="313" name="Google Shape;313;p117"/>
          <p:cNvGraphicFramePr/>
          <p:nvPr/>
        </p:nvGraphicFramePr>
        <p:xfrm>
          <a:off x="1897867" y="1579063"/>
          <a:ext cx="2838443" cy="2723985"/>
        </p:xfrm>
        <a:graphic>
          <a:graphicData uri="http://schemas.openxmlformats.org/drawingml/2006/chart">
            <c:chart r:id="rId4"/>
          </a:graphicData>
        </a:graphic>
      </p:graphicFrame>
      <p:cxnSp>
        <p:nvCxnSpPr>
          <p:cNvPr id="314" name="Google Shape;314;p117"/>
          <p:cNvCxnSpPr/>
          <p:nvPr/>
        </p:nvCxnSpPr>
        <p:spPr>
          <a:xfrm>
            <a:off x="2682988" y="2055313"/>
            <a:ext cx="1824038" cy="1088766"/>
          </a:xfrm>
          <a:prstGeom prst="straightConnector1">
            <a:avLst/>
          </a:prstGeom>
          <a:noFill/>
          <a:ln cap="flat" cmpd="sng" w="38100">
            <a:solidFill>
              <a:srgbClr val="7030A0"/>
            </a:solidFill>
            <a:prstDash val="solid"/>
            <a:round/>
            <a:headEnd len="sm" w="sm" type="none"/>
            <a:tailEnd len="sm" w="sm" type="none"/>
          </a:ln>
        </p:spPr>
      </p:cxnSp>
      <p:cxnSp>
        <p:nvCxnSpPr>
          <p:cNvPr id="315" name="Google Shape;315;p117"/>
          <p:cNvCxnSpPr/>
          <p:nvPr/>
        </p:nvCxnSpPr>
        <p:spPr>
          <a:xfrm>
            <a:off x="3135426" y="2340348"/>
            <a:ext cx="0" cy="197643"/>
          </a:xfrm>
          <a:prstGeom prst="straightConnector1">
            <a:avLst/>
          </a:prstGeom>
          <a:noFill/>
          <a:ln cap="flat" cmpd="sng" w="38100">
            <a:solidFill>
              <a:schemeClr val="dk2"/>
            </a:solidFill>
            <a:prstDash val="dot"/>
            <a:round/>
            <a:headEnd len="sm" w="sm" type="none"/>
            <a:tailEnd len="sm" w="sm" type="none"/>
          </a:ln>
        </p:spPr>
      </p:cxnSp>
      <p:cxnSp>
        <p:nvCxnSpPr>
          <p:cNvPr id="316" name="Google Shape;316;p117"/>
          <p:cNvCxnSpPr/>
          <p:nvPr/>
        </p:nvCxnSpPr>
        <p:spPr>
          <a:xfrm>
            <a:off x="3609294" y="2104604"/>
            <a:ext cx="0" cy="504825"/>
          </a:xfrm>
          <a:prstGeom prst="straightConnector1">
            <a:avLst/>
          </a:prstGeom>
          <a:noFill/>
          <a:ln cap="flat" cmpd="sng" w="38100">
            <a:solidFill>
              <a:schemeClr val="dk2"/>
            </a:solidFill>
            <a:prstDash val="dot"/>
            <a:round/>
            <a:headEnd len="sm" w="sm" type="none"/>
            <a:tailEnd len="sm" w="sm" type="none"/>
          </a:ln>
        </p:spPr>
      </p:cxnSp>
      <p:sp>
        <p:nvSpPr>
          <p:cNvPr id="317" name="Google Shape;317;p117"/>
          <p:cNvSpPr/>
          <p:nvPr/>
        </p:nvSpPr>
        <p:spPr>
          <a:xfrm>
            <a:off x="788866" y="3890963"/>
            <a:ext cx="1407886" cy="1224706"/>
          </a:xfrm>
          <a:prstGeom prst="rect">
            <a:avLst/>
          </a:prstGeom>
          <a:solidFill>
            <a:schemeClr val="lt1"/>
          </a:solidFill>
          <a:ln cap="flat" cmpd="sng" w="1270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18" name="Google Shape;318;p117"/>
          <p:cNvSpPr txBox="1"/>
          <p:nvPr/>
        </p:nvSpPr>
        <p:spPr>
          <a:xfrm>
            <a:off x="888072" y="4107333"/>
            <a:ext cx="1155637" cy="332399"/>
          </a:xfrm>
          <a:prstGeom prst="rect">
            <a:avLst/>
          </a:prstGeom>
          <a:blipFill rotWithShape="1">
            <a:blip r:embed="rId5">
              <a:alphaModFix/>
            </a:blip>
            <a:stretch>
              <a:fillRect b="-10714" l="-2094" r="-4187" t="0"/>
            </a:stretch>
          </a:blip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319" name="Google Shape;319;p117"/>
          <p:cNvSpPr txBox="1"/>
          <p:nvPr/>
        </p:nvSpPr>
        <p:spPr>
          <a:xfrm>
            <a:off x="888072" y="4579047"/>
            <a:ext cx="831381" cy="332399"/>
          </a:xfrm>
          <a:prstGeom prst="rect">
            <a:avLst/>
          </a:prstGeom>
          <a:blipFill rotWithShape="1">
            <a:blip r:embed="rId6">
              <a:alphaModFix/>
            </a:blip>
            <a:stretch>
              <a:fillRect b="-10526" l="-6521" r="-6521" t="-1754"/>
            </a:stretch>
          </a:blip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321"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损失曲线</a:t>
            </a:r>
          </a:p>
        </p:txBody>
      </p:sp>
      <p:sp xmlns:p="http://schemas.openxmlformats.org/presentationml/2006/main" xmlns:a="http://schemas.openxmlformats.org/drawingml/2006/main">
        <p:nvSpPr>
          <p:cNvPr id="32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23" name="Shape 323"/>
        <p:cNvGrpSpPr/>
        <p:nvPr/>
      </p:nvGrpSpPr>
      <p:grpSpPr>
        <a:xfrm>
          <a:off x="0" y="0"/>
          <a:ext cx="0" cy="0"/>
          <a:chOff x="0" y="0"/>
          <a:chExt cx="0" cy="0"/>
        </a:xfrm>
      </p:grpSpPr>
      <p:pic>
        <p:nvPicPr>
          <p:cNvPr id="324" name="Google Shape;324;p118"/>
          <p:cNvPicPr preferRelativeResize="0"/>
          <p:nvPr/>
        </p:nvPicPr>
        <p:blipFill rotWithShape="1">
          <a:blip r:embed="rId3">
            <a:alphaModFix/>
          </a:blip>
          <a:srcRect b="22222" l="47830" r="22135" t="39571"/>
          <a:stretch/>
        </p:blipFill>
        <p:spPr>
          <a:xfrm>
            <a:off x="4902395" y="1583150"/>
            <a:ext cx="5212498" cy="3729799"/>
          </a:xfrm>
          <a:prstGeom prst="rect">
            <a:avLst/>
          </a:prstGeom>
          <a:noFill/>
          <a:ln>
            <a:noFill/>
          </a:ln>
        </p:spPr>
      </p:pic>
      <p:sp>
        <p:nvSpPr>
          <p:cNvPr id="325" name="Google Shape;325;p118"/>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26" name="Google Shape;326;p118"/>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27" name="Google Shape;327;p118"/>
          <p:cNvSpPr txBox="1"/>
          <p:nvPr/>
        </p:nvSpPr>
        <p:spPr>
          <a:xfrm>
            <a:off x="6146119" y="2528646"/>
            <a:ext cx="902811"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先前位置</a:t>
            </a:r>
            <a:endParaRPr/>
          </a:p>
        </p:txBody>
      </p:sp>
      <p:sp>
        <p:nvSpPr>
          <p:cNvPr id="328" name="Google Shape;328;p118"/>
          <p:cNvSpPr txBox="1"/>
          <p:nvPr/>
        </p:nvSpPr>
        <p:spPr>
          <a:xfrm>
            <a:off x="8289562" y="3702603"/>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a:p>
        </p:txBody>
      </p:sp>
      <p:sp>
        <p:nvSpPr>
          <p:cNvPr id="329" name="Google Shape;329;p118"/>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sp>
        <p:nvSpPr>
          <p:cNvPr id="330" name="Google Shape;330;p118"/>
          <p:cNvSpPr/>
          <p:nvPr/>
        </p:nvSpPr>
        <p:spPr>
          <a:xfrm>
            <a:off x="6110288" y="2957512"/>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31" name="Google Shape;331;p118"/>
          <p:cNvSpPr txBox="1"/>
          <p:nvPr/>
        </p:nvSpPr>
        <p:spPr>
          <a:xfrm>
            <a:off x="6147876" y="2859639"/>
            <a:ext cx="90281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当前位置</a:t>
            </a:r>
            <a:endParaRPr/>
          </a:p>
        </p:txBody>
      </p:sp>
      <p:cxnSp>
        <p:nvCxnSpPr>
          <p:cNvPr id="332" name="Google Shape;332;p118"/>
          <p:cNvCxnSpPr/>
          <p:nvPr/>
        </p:nvCxnSpPr>
        <p:spPr>
          <a:xfrm>
            <a:off x="6157909" y="2669382"/>
            <a:ext cx="0" cy="333373"/>
          </a:xfrm>
          <a:prstGeom prst="straightConnector1">
            <a:avLst/>
          </a:prstGeom>
          <a:noFill/>
          <a:ln cap="flat" cmpd="sng" w="38100">
            <a:solidFill>
              <a:schemeClr val="lt1"/>
            </a:solidFill>
            <a:prstDash val="solid"/>
            <a:round/>
            <a:headEnd len="sm" w="sm" type="none"/>
            <a:tailEnd len="med" w="med" type="triangle"/>
          </a:ln>
        </p:spPr>
      </p:cxnSp>
      <p:sp>
        <p:nvSpPr>
          <p:cNvPr id="333" name="Google Shape;333;p118"/>
          <p:cNvSpPr txBox="1"/>
          <p:nvPr/>
        </p:nvSpPr>
        <p:spPr>
          <a:xfrm>
            <a:off x="9716386" y="3133484"/>
            <a:ext cx="49404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MSE</a:t>
            </a:r>
            <a:endParaRPr b="0" i="0" sz="1800" u="none" cap="none" strike="noStrike">
              <a:solidFill>
                <a:srgbClr val="000000"/>
              </a:solidFill>
              <a:latin typeface="Open Sans"/>
              <a:ea typeface="Noto Sans SC"/>
              <a:cs typeface="Open Sans"/>
              <a:sym typeface="Open Sans"/>
            </a:endParaRPr>
          </a:p>
        </p:txBody>
      </p:sp>
      <p:graphicFrame>
        <p:nvGraphicFramePr>
          <p:cNvPr id="334" name="Google Shape;334;p118"/>
          <p:cNvGraphicFramePr/>
          <p:nvPr/>
        </p:nvGraphicFramePr>
        <p:xfrm>
          <a:off x="1897867" y="1579063"/>
          <a:ext cx="2838443" cy="2723985"/>
        </p:xfrm>
        <a:graphic>
          <a:graphicData uri="http://schemas.openxmlformats.org/drawingml/2006/chart">
            <c:chart r:id="rId4"/>
          </a:graphicData>
        </a:graphic>
      </p:graphicFrame>
      <p:cxnSp>
        <p:nvCxnSpPr>
          <p:cNvPr id="335" name="Google Shape;335;p118"/>
          <p:cNvCxnSpPr/>
          <p:nvPr/>
        </p:nvCxnSpPr>
        <p:spPr>
          <a:xfrm>
            <a:off x="2682988" y="2331546"/>
            <a:ext cx="1824038" cy="1088766"/>
          </a:xfrm>
          <a:prstGeom prst="straightConnector1">
            <a:avLst/>
          </a:prstGeom>
          <a:noFill/>
          <a:ln cap="flat" cmpd="sng" w="38100">
            <a:solidFill>
              <a:srgbClr val="7030A0"/>
            </a:solidFill>
            <a:prstDash val="solid"/>
            <a:round/>
            <a:headEnd len="sm" w="sm" type="none"/>
            <a:tailEnd len="sm" w="sm" type="none"/>
          </a:ln>
        </p:spPr>
      </p:cxnSp>
      <p:cxnSp>
        <p:nvCxnSpPr>
          <p:cNvPr id="336" name="Google Shape;336;p118"/>
          <p:cNvCxnSpPr/>
          <p:nvPr/>
        </p:nvCxnSpPr>
        <p:spPr>
          <a:xfrm>
            <a:off x="3609294" y="2104604"/>
            <a:ext cx="0" cy="771325"/>
          </a:xfrm>
          <a:prstGeom prst="straightConnector1">
            <a:avLst/>
          </a:prstGeom>
          <a:noFill/>
          <a:ln cap="flat" cmpd="sng" w="38100">
            <a:solidFill>
              <a:schemeClr val="dk2"/>
            </a:solidFill>
            <a:prstDash val="dot"/>
            <a:round/>
            <a:headEnd len="sm" w="sm" type="none"/>
            <a:tailEnd len="sm" w="sm" type="none"/>
          </a:ln>
        </p:spPr>
      </p:cxnSp>
      <p:sp>
        <p:nvSpPr>
          <p:cNvPr id="337" name="Google Shape;337;p118"/>
          <p:cNvSpPr/>
          <p:nvPr/>
        </p:nvSpPr>
        <p:spPr>
          <a:xfrm>
            <a:off x="788866" y="3890963"/>
            <a:ext cx="1407886" cy="1224706"/>
          </a:xfrm>
          <a:prstGeom prst="rect">
            <a:avLst/>
          </a:prstGeom>
          <a:solidFill>
            <a:schemeClr val="lt1"/>
          </a:solidFill>
          <a:ln cap="flat" cmpd="sng" w="1270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38" name="Google Shape;338;p118"/>
          <p:cNvSpPr txBox="1"/>
          <p:nvPr/>
        </p:nvSpPr>
        <p:spPr>
          <a:xfrm>
            <a:off x="888072" y="4107333"/>
            <a:ext cx="1155637" cy="332399"/>
          </a:xfrm>
          <a:prstGeom prst="rect">
            <a:avLst/>
          </a:prstGeom>
          <a:blipFill rotWithShape="1">
            <a:blip r:embed="rId5">
              <a:alphaModFix/>
            </a:blip>
            <a:stretch>
              <a:fillRect b="-10714" l="-2094" r="-4187" t="0"/>
            </a:stretch>
          </a:blip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339" name="Google Shape;339;p118"/>
          <p:cNvSpPr txBox="1"/>
          <p:nvPr/>
        </p:nvSpPr>
        <p:spPr>
          <a:xfrm>
            <a:off x="888072" y="4579047"/>
            <a:ext cx="831381" cy="332399"/>
          </a:xfrm>
          <a:prstGeom prst="rect">
            <a:avLst/>
          </a:prstGeom>
          <a:blipFill rotWithShape="1">
            <a:blip r:embed="rId6">
              <a:alphaModFix/>
            </a:blip>
            <a:stretch>
              <a:fillRect b="-8773" l="-6522" r="-5797" t="0"/>
            </a:stretch>
          </a:blip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341"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损失曲线</a:t>
            </a:r>
          </a:p>
        </p:txBody>
      </p:sp>
      <p:sp xmlns:p="http://schemas.openxmlformats.org/presentationml/2006/main" xmlns:a="http://schemas.openxmlformats.org/drawingml/2006/main">
        <p:nvSpPr>
          <p:cNvPr id="34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43" name="Shape 343"/>
        <p:cNvGrpSpPr/>
        <p:nvPr/>
      </p:nvGrpSpPr>
      <p:grpSpPr>
        <a:xfrm>
          <a:off x="0" y="0"/>
          <a:ext cx="0" cy="0"/>
          <a:chOff x="0" y="0"/>
          <a:chExt cx="0" cy="0"/>
        </a:xfrm>
      </p:grpSpPr>
      <p:pic>
        <p:nvPicPr>
          <p:cNvPr id="344" name="Google Shape;344;p119"/>
          <p:cNvPicPr preferRelativeResize="0"/>
          <p:nvPr/>
        </p:nvPicPr>
        <p:blipFill rotWithShape="1">
          <a:blip r:embed="rId3">
            <a:alphaModFix/>
          </a:blip>
          <a:srcRect b="22222" l="47830" r="22135" t="39571"/>
          <a:stretch/>
        </p:blipFill>
        <p:spPr>
          <a:xfrm>
            <a:off x="4902395" y="1583150"/>
            <a:ext cx="5212498" cy="3729799"/>
          </a:xfrm>
          <a:prstGeom prst="rect">
            <a:avLst/>
          </a:prstGeom>
          <a:noFill/>
          <a:ln>
            <a:noFill/>
          </a:ln>
        </p:spPr>
      </p:pic>
      <p:sp>
        <p:nvSpPr>
          <p:cNvPr id="345" name="Google Shape;345;p119"/>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46" name="Google Shape;346;p119"/>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47" name="Google Shape;347;p119"/>
          <p:cNvSpPr txBox="1"/>
          <p:nvPr/>
        </p:nvSpPr>
        <p:spPr>
          <a:xfrm>
            <a:off x="8289562" y="3702603"/>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a:p>
        </p:txBody>
      </p:sp>
      <p:sp>
        <p:nvSpPr>
          <p:cNvPr id="348" name="Google Shape;348;p119"/>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sp>
        <p:nvSpPr>
          <p:cNvPr id="349" name="Google Shape;349;p119"/>
          <p:cNvSpPr/>
          <p:nvPr/>
        </p:nvSpPr>
        <p:spPr>
          <a:xfrm>
            <a:off x="6110288" y="2957512"/>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cxnSp>
        <p:nvCxnSpPr>
          <p:cNvPr id="350" name="Google Shape;350;p119"/>
          <p:cNvCxnSpPr/>
          <p:nvPr/>
        </p:nvCxnSpPr>
        <p:spPr>
          <a:xfrm>
            <a:off x="6157909" y="2669382"/>
            <a:ext cx="0" cy="333373"/>
          </a:xfrm>
          <a:prstGeom prst="straightConnector1">
            <a:avLst/>
          </a:prstGeom>
          <a:noFill/>
          <a:ln cap="flat" cmpd="sng" w="38100">
            <a:solidFill>
              <a:schemeClr val="lt1"/>
            </a:solidFill>
            <a:prstDash val="solid"/>
            <a:round/>
            <a:headEnd len="sm" w="sm" type="none"/>
            <a:tailEnd len="med" w="med" type="triangle"/>
          </a:ln>
        </p:spPr>
      </p:cxnSp>
      <p:cxnSp>
        <p:nvCxnSpPr>
          <p:cNvPr id="351" name="Google Shape;351;p119"/>
          <p:cNvCxnSpPr/>
          <p:nvPr/>
        </p:nvCxnSpPr>
        <p:spPr>
          <a:xfrm flipH="1" rot="10800000">
            <a:off x="6155531" y="3002755"/>
            <a:ext cx="707232" cy="7143"/>
          </a:xfrm>
          <a:prstGeom prst="straightConnector1">
            <a:avLst/>
          </a:prstGeom>
          <a:noFill/>
          <a:ln cap="flat" cmpd="sng" w="38100">
            <a:solidFill>
              <a:schemeClr val="lt1"/>
            </a:solidFill>
            <a:prstDash val="solid"/>
            <a:round/>
            <a:headEnd len="sm" w="sm" type="none"/>
            <a:tailEnd len="med" w="med" type="triangle"/>
          </a:ln>
        </p:spPr>
      </p:cxnSp>
      <p:sp>
        <p:nvSpPr>
          <p:cNvPr id="352" name="Google Shape;352;p119"/>
          <p:cNvSpPr txBox="1"/>
          <p:nvPr/>
        </p:nvSpPr>
        <p:spPr>
          <a:xfrm>
            <a:off x="6809864" y="2866782"/>
            <a:ext cx="90281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当前位置</a:t>
            </a:r>
            <a:endParaRPr/>
          </a:p>
        </p:txBody>
      </p:sp>
      <p:sp>
        <p:nvSpPr>
          <p:cNvPr id="353" name="Google Shape;353;p119"/>
          <p:cNvSpPr txBox="1"/>
          <p:nvPr/>
        </p:nvSpPr>
        <p:spPr>
          <a:xfrm>
            <a:off x="9716386" y="3133484"/>
            <a:ext cx="49404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MSE</a:t>
            </a:r>
            <a:endParaRPr b="0" i="0" sz="1800" u="none" cap="none" strike="noStrike">
              <a:solidFill>
                <a:srgbClr val="000000"/>
              </a:solidFill>
              <a:latin typeface="Open Sans"/>
              <a:ea typeface="Noto Sans SC"/>
              <a:cs typeface="Open Sans"/>
              <a:sym typeface="Open Sans"/>
            </a:endParaRPr>
          </a:p>
        </p:txBody>
      </p:sp>
      <p:graphicFrame>
        <p:nvGraphicFramePr>
          <p:cNvPr id="354" name="Google Shape;354;p119"/>
          <p:cNvGraphicFramePr/>
          <p:nvPr/>
        </p:nvGraphicFramePr>
        <p:xfrm>
          <a:off x="1897867" y="1579063"/>
          <a:ext cx="2838443" cy="2723985"/>
        </p:xfrm>
        <a:graphic>
          <a:graphicData uri="http://schemas.openxmlformats.org/drawingml/2006/chart">
            <c:chart r:id="rId4"/>
          </a:graphicData>
        </a:graphic>
      </p:graphicFrame>
      <p:cxnSp>
        <p:nvCxnSpPr>
          <p:cNvPr id="355" name="Google Shape;355;p119"/>
          <p:cNvCxnSpPr/>
          <p:nvPr/>
        </p:nvCxnSpPr>
        <p:spPr>
          <a:xfrm>
            <a:off x="2682988" y="2331546"/>
            <a:ext cx="1889012" cy="0"/>
          </a:xfrm>
          <a:prstGeom prst="straightConnector1">
            <a:avLst/>
          </a:prstGeom>
          <a:noFill/>
          <a:ln cap="flat" cmpd="sng" w="38100">
            <a:solidFill>
              <a:srgbClr val="7030A0"/>
            </a:solidFill>
            <a:prstDash val="solid"/>
            <a:round/>
            <a:headEnd len="sm" w="sm" type="none"/>
            <a:tailEnd len="sm" w="sm" type="none"/>
          </a:ln>
        </p:spPr>
      </p:cxnSp>
      <p:cxnSp>
        <p:nvCxnSpPr>
          <p:cNvPr id="356" name="Google Shape;356;p119"/>
          <p:cNvCxnSpPr/>
          <p:nvPr/>
        </p:nvCxnSpPr>
        <p:spPr>
          <a:xfrm>
            <a:off x="3609294" y="2104604"/>
            <a:ext cx="0" cy="226942"/>
          </a:xfrm>
          <a:prstGeom prst="straightConnector1">
            <a:avLst/>
          </a:prstGeom>
          <a:noFill/>
          <a:ln cap="flat" cmpd="sng" w="38100">
            <a:solidFill>
              <a:schemeClr val="dk2"/>
            </a:solidFill>
            <a:prstDash val="dot"/>
            <a:round/>
            <a:headEnd len="sm" w="sm" type="none"/>
            <a:tailEnd len="sm" w="sm" type="none"/>
          </a:ln>
        </p:spPr>
      </p:cxnSp>
      <p:sp>
        <p:nvSpPr>
          <p:cNvPr id="357" name="Google Shape;357;p119"/>
          <p:cNvSpPr/>
          <p:nvPr/>
        </p:nvSpPr>
        <p:spPr>
          <a:xfrm>
            <a:off x="788866" y="3890963"/>
            <a:ext cx="1407886" cy="1224706"/>
          </a:xfrm>
          <a:prstGeom prst="rect">
            <a:avLst/>
          </a:prstGeom>
          <a:solidFill>
            <a:schemeClr val="lt1"/>
          </a:solidFill>
          <a:ln cap="flat" cmpd="sng" w="1270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58" name="Google Shape;358;p119"/>
          <p:cNvSpPr txBox="1"/>
          <p:nvPr/>
        </p:nvSpPr>
        <p:spPr>
          <a:xfrm>
            <a:off x="888072" y="4107333"/>
            <a:ext cx="926407" cy="332399"/>
          </a:xfrm>
          <a:prstGeom prst="rect">
            <a:avLst/>
          </a:prstGeom>
          <a:blipFill rotWithShape="1">
            <a:blip r:embed="rId5">
              <a:alphaModFix/>
            </a:blip>
            <a:stretch>
              <a:fillRect b="-10714" l="-2597" r="-5194" t="0"/>
            </a:stretch>
          </a:blip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359" name="Google Shape;359;p119"/>
          <p:cNvSpPr txBox="1"/>
          <p:nvPr/>
        </p:nvSpPr>
        <p:spPr>
          <a:xfrm>
            <a:off x="888072" y="4579047"/>
            <a:ext cx="831381" cy="332399"/>
          </a:xfrm>
          <a:prstGeom prst="rect">
            <a:avLst/>
          </a:prstGeom>
          <a:blipFill rotWithShape="1">
            <a:blip r:embed="rId6">
              <a:alphaModFix/>
            </a:blip>
            <a:stretch>
              <a:fillRect b="-8773" l="-6522" r="-5797" t="0"/>
            </a:stretch>
          </a:blip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cxnSp>
        <p:nvCxnSpPr>
          <p:cNvPr id="360" name="Google Shape;360;p119"/>
          <p:cNvCxnSpPr/>
          <p:nvPr/>
        </p:nvCxnSpPr>
        <p:spPr>
          <a:xfrm>
            <a:off x="3135426" y="2340348"/>
            <a:ext cx="0" cy="197643"/>
          </a:xfrm>
          <a:prstGeom prst="straightConnector1">
            <a:avLst/>
          </a:prstGeom>
          <a:noFill/>
          <a:ln cap="flat" cmpd="sng" w="38100">
            <a:solidFill>
              <a:schemeClr val="dk2"/>
            </a:solidFill>
            <a:prstDash val="dot"/>
            <a:round/>
            <a:headEnd len="sm" w="sm" type="none"/>
            <a:tailEnd len="sm" w="sm" type="none"/>
          </a:ln>
        </p:spPr>
      </p:cxnSp>
      <p:sp>
        <p:nvSpPr>
          <p:cNvPr id="362"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损失曲线</a:t>
            </a:r>
          </a:p>
        </p:txBody>
      </p:sp>
      <p:sp xmlns:p="http://schemas.openxmlformats.org/presentationml/2006/main" xmlns:a="http://schemas.openxmlformats.org/drawingml/2006/main">
        <p:nvSpPr>
          <p:cNvPr id="36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64" name="Shape 364"/>
        <p:cNvGrpSpPr/>
        <p:nvPr/>
      </p:nvGrpSpPr>
      <p:grpSpPr>
        <a:xfrm>
          <a:off x="0" y="0"/>
          <a:ext cx="0" cy="0"/>
          <a:chOff x="0" y="0"/>
          <a:chExt cx="0" cy="0"/>
        </a:xfrm>
      </p:grpSpPr>
      <p:sp>
        <p:nvSpPr>
          <p:cNvPr id="365" name="Google Shape;365;p18"/>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损失曲线</a:t>
            </a:r>
            <a:endParaRPr b="1" i="0" sz="3600" u="none" cap="none" strike="noStrike">
              <a:solidFill>
                <a:schemeClr val="dk2"/>
              </a:solidFill>
              <a:latin typeface="Open Sans"/>
              <a:ea typeface="Noto Sans SC"/>
              <a:cs typeface="Open Sans"/>
              <a:sym typeface="Open Sans"/>
            </a:endParaRPr>
          </a:p>
        </p:txBody>
      </p:sp>
      <p:pic>
        <p:nvPicPr>
          <p:cNvPr id="366" name="Google Shape;366;p18"/>
          <p:cNvPicPr preferRelativeResize="0"/>
          <p:nvPr/>
        </p:nvPicPr>
        <p:blipFill rotWithShape="1">
          <a:blip r:embed="rId3">
            <a:alphaModFix/>
          </a:blip>
          <a:srcRect b="22222" l="47830" r="22135" t="39570"/>
          <a:stretch/>
        </p:blipFill>
        <p:spPr>
          <a:xfrm>
            <a:off x="4902395" y="1583150"/>
            <a:ext cx="5212498" cy="3729799"/>
          </a:xfrm>
          <a:prstGeom prst="rect">
            <a:avLst/>
          </a:prstGeom>
          <a:noFill/>
          <a:ln>
            <a:noFill/>
          </a:ln>
        </p:spPr>
      </p:pic>
      <p:sp>
        <p:nvSpPr>
          <p:cNvPr id="367" name="Google Shape;367;p18"/>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pic>
        <p:nvPicPr>
          <p:cNvPr id="368" name="Google Shape;368;p18"/>
          <p:cNvPicPr preferRelativeResize="0"/>
          <p:nvPr/>
        </p:nvPicPr>
        <p:blipFill rotWithShape="1">
          <a:blip r:embed="rId3">
            <a:alphaModFix/>
          </a:blip>
          <a:srcRect b="22222" l="47830" r="22135" t="39570"/>
          <a:stretch/>
        </p:blipFill>
        <p:spPr>
          <a:xfrm>
            <a:off x="4902395" y="1583150"/>
            <a:ext cx="5212498" cy="3729799"/>
          </a:xfrm>
          <a:prstGeom prst="rect">
            <a:avLst/>
          </a:prstGeom>
          <a:noFill/>
          <a:ln>
            <a:noFill/>
          </a:ln>
        </p:spPr>
      </p:pic>
      <p:sp>
        <p:nvSpPr>
          <p:cNvPr id="369" name="Google Shape;369;p18"/>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70" name="Google Shape;370;p18"/>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371" name="Google Shape;371;p18"/>
          <p:cNvSpPr txBox="1"/>
          <p:nvPr/>
        </p:nvSpPr>
        <p:spPr>
          <a:xfrm>
            <a:off x="8289562" y="3702603"/>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a:p>
        </p:txBody>
      </p:sp>
      <p:sp>
        <p:nvSpPr>
          <p:cNvPr id="372" name="Google Shape;372;p18"/>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cxnSp>
        <p:nvCxnSpPr>
          <p:cNvPr id="373" name="Google Shape;373;p18"/>
          <p:cNvCxnSpPr>
            <a:stCxn id="369" idx="1"/>
          </p:cNvCxnSpPr>
          <p:nvPr/>
        </p:nvCxnSpPr>
        <p:spPr>
          <a:xfrm flipH="1" rot="10800000">
            <a:off x="6123540" y="2557590"/>
            <a:ext cx="267600" cy="79800"/>
          </a:xfrm>
          <a:prstGeom prst="straightConnector1">
            <a:avLst/>
          </a:prstGeom>
          <a:noFill/>
          <a:ln cap="flat" cmpd="sng" w="38100">
            <a:solidFill>
              <a:schemeClr val="lt1"/>
            </a:solidFill>
            <a:prstDash val="solid"/>
            <a:round/>
            <a:headEnd len="sm" w="sm" type="none"/>
            <a:tailEnd len="med" w="med" type="triangle"/>
          </a:ln>
        </p:spPr>
      </p:cxnSp>
      <p:sp>
        <p:nvSpPr>
          <p:cNvPr id="374" name="Google Shape;374;p18"/>
          <p:cNvSpPr txBox="1"/>
          <p:nvPr/>
        </p:nvSpPr>
        <p:spPr>
          <a:xfrm>
            <a:off x="9716386" y="3133484"/>
            <a:ext cx="49404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MSE</a:t>
            </a:r>
            <a:endParaRPr b="0" i="0" sz="1800" u="none" cap="none" strike="noStrike">
              <a:solidFill>
                <a:schemeClr val="dk2"/>
              </a:solidFill>
              <a:latin typeface="Open Sans"/>
              <a:ea typeface="Noto Sans SC"/>
              <a:cs typeface="Open Sans"/>
              <a:sym typeface="Open Sans"/>
            </a:endParaRPr>
          </a:p>
        </p:txBody>
      </p:sp>
      <p:grpSp>
        <p:nvGrpSpPr>
          <p:cNvPr id="375" name="Google Shape;375;p18"/>
          <p:cNvGrpSpPr/>
          <p:nvPr/>
        </p:nvGrpSpPr>
        <p:grpSpPr>
          <a:xfrm>
            <a:off x="774469" y="1563432"/>
            <a:ext cx="3808632" cy="3426334"/>
            <a:chOff x="0" y="2405"/>
            <a:chExt cx="3808632" cy="3426334"/>
          </a:xfrm>
        </p:grpSpPr>
        <p:cxnSp>
          <p:nvCxnSpPr>
            <p:cNvPr id="376" name="Google Shape;376;p18"/>
            <p:cNvCxnSpPr/>
            <p:nvPr/>
          </p:nvCxnSpPr>
          <p:spPr>
            <a:xfrm>
              <a:off x="0" y="3428739"/>
              <a:ext cx="3808632" cy="0"/>
            </a:xfrm>
            <a:prstGeom prst="straightConnector1">
              <a:avLst/>
            </a:prstGeom>
            <a:noFill/>
            <a:ln cap="flat" cmpd="sng" w="9525">
              <a:solidFill>
                <a:srgbClr val="00569C"/>
              </a:solidFill>
              <a:prstDash val="solid"/>
              <a:round/>
              <a:headEnd len="sm" w="sm" type="none"/>
              <a:tailEnd len="sm" w="sm" type="none"/>
            </a:ln>
          </p:spPr>
        </p:cxnSp>
        <p:cxnSp>
          <p:nvCxnSpPr>
            <p:cNvPr id="377" name="Google Shape;377;p18"/>
            <p:cNvCxnSpPr/>
            <p:nvPr/>
          </p:nvCxnSpPr>
          <p:spPr>
            <a:xfrm>
              <a:off x="0" y="2736883"/>
              <a:ext cx="3808632" cy="0"/>
            </a:xfrm>
            <a:prstGeom prst="straightConnector1">
              <a:avLst/>
            </a:prstGeom>
            <a:noFill/>
            <a:ln cap="flat" cmpd="sng" w="9525">
              <a:solidFill>
                <a:srgbClr val="00569C"/>
              </a:solidFill>
              <a:prstDash val="solid"/>
              <a:round/>
              <a:headEnd len="sm" w="sm" type="none"/>
              <a:tailEnd len="sm" w="sm" type="none"/>
            </a:ln>
          </p:spPr>
        </p:cxnSp>
        <p:cxnSp>
          <p:nvCxnSpPr>
            <p:cNvPr id="378" name="Google Shape;378;p18"/>
            <p:cNvCxnSpPr/>
            <p:nvPr/>
          </p:nvCxnSpPr>
          <p:spPr>
            <a:xfrm>
              <a:off x="0" y="2045027"/>
              <a:ext cx="3808632" cy="0"/>
            </a:xfrm>
            <a:prstGeom prst="straightConnector1">
              <a:avLst/>
            </a:prstGeom>
            <a:noFill/>
            <a:ln cap="flat" cmpd="sng" w="9525">
              <a:solidFill>
                <a:srgbClr val="00569C"/>
              </a:solidFill>
              <a:prstDash val="solid"/>
              <a:round/>
              <a:headEnd len="sm" w="sm" type="none"/>
              <a:tailEnd len="sm" w="sm" type="none"/>
            </a:ln>
          </p:spPr>
        </p:cxnSp>
        <p:cxnSp>
          <p:nvCxnSpPr>
            <p:cNvPr id="379" name="Google Shape;379;p18"/>
            <p:cNvCxnSpPr/>
            <p:nvPr/>
          </p:nvCxnSpPr>
          <p:spPr>
            <a:xfrm>
              <a:off x="0" y="1353171"/>
              <a:ext cx="3808632" cy="0"/>
            </a:xfrm>
            <a:prstGeom prst="straightConnector1">
              <a:avLst/>
            </a:prstGeom>
            <a:noFill/>
            <a:ln cap="flat" cmpd="sng" w="9525">
              <a:solidFill>
                <a:srgbClr val="00569C"/>
              </a:solidFill>
              <a:prstDash val="solid"/>
              <a:round/>
              <a:headEnd len="sm" w="sm" type="none"/>
              <a:tailEnd len="sm" w="sm" type="none"/>
            </a:ln>
          </p:spPr>
        </p:cxnSp>
        <p:cxnSp>
          <p:nvCxnSpPr>
            <p:cNvPr id="380" name="Google Shape;380;p18"/>
            <p:cNvCxnSpPr/>
            <p:nvPr/>
          </p:nvCxnSpPr>
          <p:spPr>
            <a:xfrm>
              <a:off x="0" y="661315"/>
              <a:ext cx="3808632" cy="0"/>
            </a:xfrm>
            <a:prstGeom prst="straightConnector1">
              <a:avLst/>
            </a:prstGeom>
            <a:noFill/>
            <a:ln cap="flat" cmpd="sng" w="9525">
              <a:solidFill>
                <a:srgbClr val="00569C"/>
              </a:solidFill>
              <a:prstDash val="solid"/>
              <a:round/>
              <a:headEnd len="sm" w="sm" type="none"/>
              <a:tailEnd len="sm" w="sm" type="none"/>
            </a:ln>
          </p:spPr>
        </p:cxnSp>
        <p:sp>
          <p:nvSpPr>
            <p:cNvPr id="381" name="Google Shape;381;p18"/>
            <p:cNvSpPr/>
            <p:nvPr/>
          </p:nvSpPr>
          <p:spPr>
            <a:xfrm>
              <a:off x="990244" y="2405"/>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txBox="1"/>
            <p:nvPr/>
          </p:nvSpPr>
          <p:spPr>
            <a:xfrm>
              <a:off x="990244" y="2405"/>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Noto Sans SC"/>
                  <a:ea typeface="Noto Sans SC"/>
                  <a:cs typeface="Open Sans"/>
                  <a:sym typeface="Open Sans"/>
                </a:rPr>
                <a:t>哪个方向损失减少最多</a:t>
              </a:r>
              <a:endParaRPr b="0" i="1" sz="1400" u="none" cap="none" strike="noStrike">
                <a:solidFill>
                  <a:srgbClr val="000000"/>
                </a:solidFill>
                <a:latin typeface="Open Sans"/>
                <a:ea typeface="Noto Sans SC"/>
                <a:cs typeface="Open Sans"/>
                <a:sym typeface="Open Sans"/>
              </a:endParaRPr>
            </a:p>
          </p:txBody>
        </p:sp>
        <p:sp>
          <p:nvSpPr>
            <p:cNvPr id="383" name="Google Shape;383;p18"/>
            <p:cNvSpPr/>
            <p:nvPr/>
          </p:nvSpPr>
          <p:spPr>
            <a:xfrm>
              <a:off x="0" y="2405"/>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txBox="1"/>
            <p:nvPr/>
          </p:nvSpPr>
          <p:spPr>
            <a:xfrm>
              <a:off x="32171" y="34576"/>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FFFFFF"/>
                  </a:solidFill>
                  <a:latin typeface="Noto Sans SC"/>
                  <a:ea typeface="Noto Sans SC"/>
                  <a:cs typeface="Open Sans"/>
                  <a:sym typeface="Open Sans"/>
                </a:rPr>
                <a:t>梯度</a:t>
              </a:r>
              <a:endParaRPr/>
            </a:p>
          </p:txBody>
        </p:sp>
        <p:sp>
          <p:nvSpPr>
            <p:cNvPr id="385" name="Google Shape;385;p18"/>
            <p:cNvSpPr/>
            <p:nvPr/>
          </p:nvSpPr>
          <p:spPr>
            <a:xfrm>
              <a:off x="990244" y="694261"/>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txBox="1"/>
            <p:nvPr/>
          </p:nvSpPr>
          <p:spPr>
            <a:xfrm>
              <a:off x="990244" y="694261"/>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Noto Sans SC"/>
                  <a:ea typeface="Noto Sans SC"/>
                  <a:cs typeface="Open Sans"/>
                  <a:sym typeface="Open Sans"/>
                </a:rPr>
                <a:t>移动的距离</a:t>
              </a:r>
              <a:endParaRPr/>
            </a:p>
          </p:txBody>
        </p:sp>
        <p:sp>
          <p:nvSpPr>
            <p:cNvPr id="387" name="Google Shape;387;p18"/>
            <p:cNvSpPr/>
            <p:nvPr/>
          </p:nvSpPr>
          <p:spPr>
            <a:xfrm>
              <a:off x="0" y="694261"/>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txBox="1"/>
            <p:nvPr/>
          </p:nvSpPr>
          <p:spPr>
            <a:xfrm>
              <a:off x="32171" y="726432"/>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FFFFFF"/>
                  </a:solidFill>
                  <a:latin typeface="Open Sans"/>
                  <a:ea typeface="Noto Sans SC"/>
                  <a:cs typeface="Open Sans"/>
                  <a:sym typeface="Open Sans"/>
                </a:rPr>
                <a:t>：</a:t>
              </a:r>
              <a:r>
                <a:rPr b="0" i="0" lang="en-US" sz="1400" u="none" cap="none" strike="noStrike">
                  <a:solidFill>
                    <a:srgbClr val="FFFFFF"/>
                  </a:solidFill>
                  <a:latin typeface="Noto Sans SC"/>
                  <a:ea typeface="Noto Sans SC"/>
                  <a:cs typeface="Open Sans"/>
                  <a:sym typeface="Open Sans"/>
                </a:rPr>
                <a:t>学习率</a:t>
              </a:r>
              <a:endParaRPr/>
            </a:p>
          </p:txBody>
        </p:sp>
        <p:sp>
          <p:nvSpPr>
            <p:cNvPr id="389" name="Google Shape;389;p18"/>
            <p:cNvSpPr/>
            <p:nvPr/>
          </p:nvSpPr>
          <p:spPr>
            <a:xfrm>
              <a:off x="990244" y="1386117"/>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txBox="1"/>
            <p:nvPr/>
          </p:nvSpPr>
          <p:spPr>
            <a:xfrm>
              <a:off x="990244" y="1386117"/>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Noto Sans SC"/>
                  <a:ea typeface="Noto Sans SC"/>
                  <a:cs typeface="Open Sans"/>
                  <a:sym typeface="Open Sans"/>
                </a:rPr>
                <a:t>使用完整数据集进行的一次</a:t>
              </a:r>
              <a:br>
                <a:rPr b="0" i="0" lang="en-US" sz="1400" u="none" cap="none" strike="noStrike">
                  <a:solidFill>
                    <a:srgbClr val="000000"/>
                  </a:solidFill>
                  <a:latin typeface="Open Sans"/>
                  <a:ea typeface="Noto Sans SC"/>
                  <a:cs typeface="Open Sans"/>
                  <a:sym typeface="Open Sans"/>
                </a:rPr>
              </a:br>
              <a:r>
                <a:rPr b="0" i="0" lang="en-US" sz="1400" u="none" cap="none" strike="noStrike">
                  <a:solidFill>
                    <a:srgbClr val="000000"/>
                  </a:solidFill>
                  <a:latin typeface="Noto Sans SC"/>
                  <a:ea typeface="Noto Sans SC"/>
                  <a:cs typeface="Open Sans"/>
                  <a:sym typeface="Open Sans"/>
                </a:rPr>
                <a:t>模型更新</a:t>
              </a:r>
              <a:endParaRPr/>
            </a:p>
          </p:txBody>
        </p:sp>
        <p:sp>
          <p:nvSpPr>
            <p:cNvPr id="391" name="Google Shape;391;p18"/>
            <p:cNvSpPr/>
            <p:nvPr/>
          </p:nvSpPr>
          <p:spPr>
            <a:xfrm>
              <a:off x="0" y="1386117"/>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txBox="1"/>
            <p:nvPr/>
          </p:nvSpPr>
          <p:spPr>
            <a:xfrm>
              <a:off x="32171" y="1418288"/>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FFFFFF"/>
                  </a:solidFill>
                  <a:latin typeface="Noto Sans SC"/>
                  <a:ea typeface="Noto Sans SC"/>
                  <a:cs typeface="Open Sans"/>
                  <a:sym typeface="Open Sans"/>
                </a:rPr>
                <a:t>训练周期</a:t>
              </a:r>
              <a:endParaRPr/>
            </a:p>
          </p:txBody>
        </p:sp>
        <p:sp>
          <p:nvSpPr>
            <p:cNvPr id="393" name="Google Shape;393;p18"/>
            <p:cNvSpPr/>
            <p:nvPr/>
          </p:nvSpPr>
          <p:spPr>
            <a:xfrm>
              <a:off x="990244" y="2077973"/>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txBox="1"/>
            <p:nvPr/>
          </p:nvSpPr>
          <p:spPr>
            <a:xfrm>
              <a:off x="990244" y="2077973"/>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Noto Sans SC"/>
                  <a:ea typeface="Noto Sans SC"/>
                  <a:cs typeface="Open Sans"/>
                  <a:sym typeface="Open Sans"/>
                </a:rPr>
                <a:t>完整数据集的样本</a:t>
              </a:r>
              <a:endParaRPr/>
            </a:p>
          </p:txBody>
        </p:sp>
        <p:sp>
          <p:nvSpPr>
            <p:cNvPr id="395" name="Google Shape;395;p18"/>
            <p:cNvSpPr/>
            <p:nvPr/>
          </p:nvSpPr>
          <p:spPr>
            <a:xfrm>
              <a:off x="0" y="2077973"/>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txBox="1"/>
            <p:nvPr/>
          </p:nvSpPr>
          <p:spPr>
            <a:xfrm>
              <a:off x="32171" y="2110144"/>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FFFFFF"/>
                  </a:solidFill>
                  <a:latin typeface="Noto Sans SC"/>
                  <a:ea typeface="Noto Sans SC"/>
                  <a:cs typeface="Open Sans"/>
                  <a:sym typeface="Open Sans"/>
                </a:rPr>
                <a:t>批量</a:t>
              </a:r>
              <a:endParaRPr/>
            </a:p>
          </p:txBody>
        </p:sp>
        <p:sp>
          <p:nvSpPr>
            <p:cNvPr id="397" name="Google Shape;397;p18"/>
            <p:cNvSpPr/>
            <p:nvPr/>
          </p:nvSpPr>
          <p:spPr>
            <a:xfrm>
              <a:off x="990244" y="2769829"/>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
            <p:cNvSpPr txBox="1"/>
            <p:nvPr/>
          </p:nvSpPr>
          <p:spPr>
            <a:xfrm>
              <a:off x="990244" y="2769829"/>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Noto Sans SC"/>
                  <a:ea typeface="Noto Sans SC"/>
                  <a:cs typeface="Open Sans"/>
                  <a:sym typeface="Open Sans"/>
                </a:rPr>
                <a:t>对权重参数的一次更新</a:t>
              </a:r>
              <a:endParaRPr/>
            </a:p>
          </p:txBody>
        </p:sp>
        <p:sp>
          <p:nvSpPr>
            <p:cNvPr id="399" name="Google Shape;399;p18"/>
            <p:cNvSpPr/>
            <p:nvPr/>
          </p:nvSpPr>
          <p:spPr>
            <a:xfrm>
              <a:off x="0" y="2769829"/>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txBox="1"/>
            <p:nvPr/>
          </p:nvSpPr>
          <p:spPr>
            <a:xfrm>
              <a:off x="32171" y="2802000"/>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FFFFFF"/>
                  </a:solidFill>
                  <a:latin typeface="Noto Sans SC"/>
                  <a:ea typeface="Noto Sans SC"/>
                  <a:cs typeface="Open Sans"/>
                  <a:sym typeface="Open Sans"/>
                </a:rPr>
                <a:t>步</a:t>
              </a:r>
              <a:endParaRPr/>
            </a:p>
          </p:txBody>
        </p:sp>
      </p:grpSp>
      <p:sp xmlns:p="http://schemas.openxmlformats.org/presentationml/2006/main" xmlns:a="http://schemas.openxmlformats.org/drawingml/2006/main">
        <p:nvSpPr>
          <p:cNvPr id="40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04" name="Shape 404"/>
        <p:cNvGrpSpPr/>
        <p:nvPr/>
      </p:nvGrpSpPr>
      <p:grpSpPr>
        <a:xfrm>
          <a:off x="0" y="0"/>
          <a:ext cx="0" cy="0"/>
          <a:chOff x="0" y="0"/>
          <a:chExt cx="0" cy="0"/>
        </a:xfrm>
      </p:grpSpPr>
      <p:pic>
        <p:nvPicPr>
          <p:cNvPr id="405" name="Google Shape;405;p120"/>
          <p:cNvPicPr preferRelativeResize="0"/>
          <p:nvPr/>
        </p:nvPicPr>
        <p:blipFill rotWithShape="1">
          <a:blip r:embed="rId3">
            <a:alphaModFix/>
          </a:blip>
          <a:srcRect b="22222" l="47830" r="22135" t="39571"/>
          <a:stretch/>
        </p:blipFill>
        <p:spPr>
          <a:xfrm>
            <a:off x="4902395" y="1583150"/>
            <a:ext cx="5212498" cy="3729799"/>
          </a:xfrm>
          <a:prstGeom prst="rect">
            <a:avLst/>
          </a:prstGeom>
          <a:noFill/>
          <a:ln>
            <a:noFill/>
          </a:ln>
        </p:spPr>
      </p:pic>
      <p:sp>
        <p:nvSpPr>
          <p:cNvPr id="406" name="Google Shape;406;p120"/>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407" name="Google Shape;407;p120"/>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408" name="Google Shape;408;p120"/>
          <p:cNvSpPr txBox="1"/>
          <p:nvPr/>
        </p:nvSpPr>
        <p:spPr>
          <a:xfrm>
            <a:off x="8289562" y="3702603"/>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a:p>
        </p:txBody>
      </p:sp>
      <p:sp>
        <p:nvSpPr>
          <p:cNvPr id="409" name="Google Shape;409;p120"/>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cxnSp>
        <p:nvCxnSpPr>
          <p:cNvPr id="410" name="Google Shape;410;p120"/>
          <p:cNvCxnSpPr>
            <a:stCxn id="406" idx="1"/>
          </p:cNvCxnSpPr>
          <p:nvPr/>
        </p:nvCxnSpPr>
        <p:spPr>
          <a:xfrm flipH="1" rot="10800000">
            <a:off x="6123540" y="2557590"/>
            <a:ext cx="267600" cy="79800"/>
          </a:xfrm>
          <a:prstGeom prst="straightConnector1">
            <a:avLst/>
          </a:prstGeom>
          <a:noFill/>
          <a:ln cap="flat" cmpd="sng" w="38100">
            <a:solidFill>
              <a:schemeClr val="lt1"/>
            </a:solidFill>
            <a:prstDash val="solid"/>
            <a:round/>
            <a:headEnd len="sm" w="sm" type="none"/>
            <a:tailEnd len="med" w="med" type="triangle"/>
          </a:ln>
        </p:spPr>
      </p:cxnSp>
      <p:cxnSp>
        <p:nvCxnSpPr>
          <p:cNvPr id="411" name="Google Shape;411;p120"/>
          <p:cNvCxnSpPr/>
          <p:nvPr/>
        </p:nvCxnSpPr>
        <p:spPr>
          <a:xfrm>
            <a:off x="6343094" y="2558809"/>
            <a:ext cx="391081" cy="189154"/>
          </a:xfrm>
          <a:prstGeom prst="straightConnector1">
            <a:avLst/>
          </a:prstGeom>
          <a:noFill/>
          <a:ln cap="flat" cmpd="sng" w="38100">
            <a:solidFill>
              <a:schemeClr val="lt1"/>
            </a:solidFill>
            <a:prstDash val="solid"/>
            <a:round/>
            <a:headEnd len="sm" w="sm" type="none"/>
            <a:tailEnd len="med" w="med" type="triangle"/>
          </a:ln>
        </p:spPr>
      </p:cxnSp>
      <p:cxnSp>
        <p:nvCxnSpPr>
          <p:cNvPr id="412" name="Google Shape;412;p120"/>
          <p:cNvCxnSpPr/>
          <p:nvPr/>
        </p:nvCxnSpPr>
        <p:spPr>
          <a:xfrm>
            <a:off x="6710088" y="2747963"/>
            <a:ext cx="298500" cy="228600"/>
          </a:xfrm>
          <a:prstGeom prst="straightConnector1">
            <a:avLst/>
          </a:prstGeom>
          <a:noFill/>
          <a:ln cap="flat" cmpd="sng" w="38100">
            <a:solidFill>
              <a:schemeClr val="lt1"/>
            </a:solidFill>
            <a:prstDash val="solid"/>
            <a:round/>
            <a:headEnd len="sm" w="sm" type="none"/>
            <a:tailEnd len="med" w="med" type="triangle"/>
          </a:ln>
        </p:spPr>
      </p:cxnSp>
      <p:cxnSp>
        <p:nvCxnSpPr>
          <p:cNvPr id="413" name="Google Shape;413;p120"/>
          <p:cNvCxnSpPr/>
          <p:nvPr/>
        </p:nvCxnSpPr>
        <p:spPr>
          <a:xfrm>
            <a:off x="6981478" y="2943225"/>
            <a:ext cx="295622" cy="222492"/>
          </a:xfrm>
          <a:prstGeom prst="straightConnector1">
            <a:avLst/>
          </a:prstGeom>
          <a:noFill/>
          <a:ln cap="flat" cmpd="sng" w="38100">
            <a:solidFill>
              <a:schemeClr val="lt1"/>
            </a:solidFill>
            <a:prstDash val="solid"/>
            <a:round/>
            <a:headEnd len="sm" w="sm" type="none"/>
            <a:tailEnd len="med" w="med" type="triangle"/>
          </a:ln>
        </p:spPr>
      </p:cxnSp>
      <p:cxnSp>
        <p:nvCxnSpPr>
          <p:cNvPr id="414" name="Google Shape;414;p120"/>
          <p:cNvCxnSpPr/>
          <p:nvPr/>
        </p:nvCxnSpPr>
        <p:spPr>
          <a:xfrm>
            <a:off x="7250762" y="3162300"/>
            <a:ext cx="297728" cy="228600"/>
          </a:xfrm>
          <a:prstGeom prst="straightConnector1">
            <a:avLst/>
          </a:prstGeom>
          <a:noFill/>
          <a:ln cap="flat" cmpd="sng" w="38100">
            <a:solidFill>
              <a:schemeClr val="lt1"/>
            </a:solidFill>
            <a:prstDash val="solid"/>
            <a:round/>
            <a:headEnd len="sm" w="sm" type="none"/>
            <a:tailEnd len="med" w="med" type="triangle"/>
          </a:ln>
        </p:spPr>
      </p:cxnSp>
      <p:cxnSp>
        <p:nvCxnSpPr>
          <p:cNvPr id="415" name="Google Shape;415;p120"/>
          <p:cNvCxnSpPr/>
          <p:nvPr/>
        </p:nvCxnSpPr>
        <p:spPr>
          <a:xfrm>
            <a:off x="7537813" y="3384790"/>
            <a:ext cx="255003" cy="200026"/>
          </a:xfrm>
          <a:prstGeom prst="straightConnector1">
            <a:avLst/>
          </a:prstGeom>
          <a:noFill/>
          <a:ln cap="flat" cmpd="sng" w="38100">
            <a:solidFill>
              <a:schemeClr val="lt1"/>
            </a:solidFill>
            <a:prstDash val="solid"/>
            <a:round/>
            <a:headEnd len="sm" w="sm" type="none"/>
            <a:tailEnd len="med" w="med" type="triangle"/>
          </a:ln>
        </p:spPr>
      </p:cxnSp>
      <p:cxnSp>
        <p:nvCxnSpPr>
          <p:cNvPr id="416" name="Google Shape;416;p120"/>
          <p:cNvCxnSpPr/>
          <p:nvPr/>
        </p:nvCxnSpPr>
        <p:spPr>
          <a:xfrm>
            <a:off x="7775888" y="3557433"/>
            <a:ext cx="248925" cy="204942"/>
          </a:xfrm>
          <a:prstGeom prst="straightConnector1">
            <a:avLst/>
          </a:prstGeom>
          <a:noFill/>
          <a:ln cap="flat" cmpd="sng" w="38100">
            <a:solidFill>
              <a:schemeClr val="lt1"/>
            </a:solidFill>
            <a:prstDash val="solid"/>
            <a:round/>
            <a:headEnd len="sm" w="sm" type="none"/>
            <a:tailEnd len="med" w="med" type="triangle"/>
          </a:ln>
        </p:spPr>
      </p:cxnSp>
      <p:sp>
        <p:nvSpPr>
          <p:cNvPr id="417" name="Google Shape;417;p120"/>
          <p:cNvSpPr txBox="1"/>
          <p:nvPr/>
        </p:nvSpPr>
        <p:spPr>
          <a:xfrm>
            <a:off x="9716386" y="3133484"/>
            <a:ext cx="49404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MSE</a:t>
            </a:r>
            <a:endParaRPr b="0" i="0" sz="1800" u="none" cap="none" strike="noStrike">
              <a:solidFill>
                <a:srgbClr val="000000"/>
              </a:solidFill>
              <a:latin typeface="Open Sans"/>
              <a:ea typeface="Noto Sans SC"/>
              <a:cs typeface="Open Sans"/>
              <a:sym typeface="Open Sans"/>
            </a:endParaRPr>
          </a:p>
        </p:txBody>
      </p:sp>
      <p:grpSp>
        <p:nvGrpSpPr>
          <p:cNvPr id="418" name="Google Shape;418;p120"/>
          <p:cNvGrpSpPr/>
          <p:nvPr/>
        </p:nvGrpSpPr>
        <p:grpSpPr>
          <a:xfrm>
            <a:off x="774469" y="1563432"/>
            <a:ext cx="3808632" cy="3426334"/>
            <a:chOff x="0" y="2405"/>
            <a:chExt cx="3808632" cy="3426334"/>
          </a:xfrm>
        </p:grpSpPr>
        <p:cxnSp>
          <p:nvCxnSpPr>
            <p:cNvPr id="419" name="Google Shape;419;p120"/>
            <p:cNvCxnSpPr/>
            <p:nvPr/>
          </p:nvCxnSpPr>
          <p:spPr>
            <a:xfrm>
              <a:off x="0" y="3428739"/>
              <a:ext cx="3808632" cy="0"/>
            </a:xfrm>
            <a:prstGeom prst="straightConnector1">
              <a:avLst/>
            </a:prstGeom>
            <a:noFill/>
            <a:ln cap="flat" cmpd="sng" w="9525">
              <a:solidFill>
                <a:srgbClr val="00569C"/>
              </a:solidFill>
              <a:prstDash val="solid"/>
              <a:round/>
              <a:headEnd len="sm" w="sm" type="none"/>
              <a:tailEnd len="sm" w="sm" type="none"/>
            </a:ln>
          </p:spPr>
        </p:cxnSp>
        <p:cxnSp>
          <p:nvCxnSpPr>
            <p:cNvPr id="420" name="Google Shape;420;p120"/>
            <p:cNvCxnSpPr/>
            <p:nvPr/>
          </p:nvCxnSpPr>
          <p:spPr>
            <a:xfrm>
              <a:off x="0" y="2736883"/>
              <a:ext cx="3808632" cy="0"/>
            </a:xfrm>
            <a:prstGeom prst="straightConnector1">
              <a:avLst/>
            </a:prstGeom>
            <a:noFill/>
            <a:ln cap="flat" cmpd="sng" w="9525">
              <a:solidFill>
                <a:srgbClr val="00569C"/>
              </a:solidFill>
              <a:prstDash val="solid"/>
              <a:round/>
              <a:headEnd len="sm" w="sm" type="none"/>
              <a:tailEnd len="sm" w="sm" type="none"/>
            </a:ln>
          </p:spPr>
        </p:cxnSp>
        <p:cxnSp>
          <p:nvCxnSpPr>
            <p:cNvPr id="421" name="Google Shape;421;p120"/>
            <p:cNvCxnSpPr/>
            <p:nvPr/>
          </p:nvCxnSpPr>
          <p:spPr>
            <a:xfrm>
              <a:off x="0" y="2045027"/>
              <a:ext cx="3808632" cy="0"/>
            </a:xfrm>
            <a:prstGeom prst="straightConnector1">
              <a:avLst/>
            </a:prstGeom>
            <a:noFill/>
            <a:ln cap="flat" cmpd="sng" w="9525">
              <a:solidFill>
                <a:srgbClr val="00569C"/>
              </a:solidFill>
              <a:prstDash val="solid"/>
              <a:round/>
              <a:headEnd len="sm" w="sm" type="none"/>
              <a:tailEnd len="sm" w="sm" type="none"/>
            </a:ln>
          </p:spPr>
        </p:cxnSp>
        <p:cxnSp>
          <p:nvCxnSpPr>
            <p:cNvPr id="422" name="Google Shape;422;p120"/>
            <p:cNvCxnSpPr/>
            <p:nvPr/>
          </p:nvCxnSpPr>
          <p:spPr>
            <a:xfrm>
              <a:off x="0" y="1353171"/>
              <a:ext cx="3808632" cy="0"/>
            </a:xfrm>
            <a:prstGeom prst="straightConnector1">
              <a:avLst/>
            </a:prstGeom>
            <a:noFill/>
            <a:ln cap="flat" cmpd="sng" w="9525">
              <a:solidFill>
                <a:srgbClr val="00569C"/>
              </a:solidFill>
              <a:prstDash val="solid"/>
              <a:round/>
              <a:headEnd len="sm" w="sm" type="none"/>
              <a:tailEnd len="sm" w="sm" type="none"/>
            </a:ln>
          </p:spPr>
        </p:cxnSp>
        <p:cxnSp>
          <p:nvCxnSpPr>
            <p:cNvPr id="423" name="Google Shape;423;p120"/>
            <p:cNvCxnSpPr/>
            <p:nvPr/>
          </p:nvCxnSpPr>
          <p:spPr>
            <a:xfrm>
              <a:off x="0" y="661315"/>
              <a:ext cx="3808632" cy="0"/>
            </a:xfrm>
            <a:prstGeom prst="straightConnector1">
              <a:avLst/>
            </a:prstGeom>
            <a:noFill/>
            <a:ln cap="flat" cmpd="sng" w="9525">
              <a:solidFill>
                <a:srgbClr val="00569C"/>
              </a:solidFill>
              <a:prstDash val="solid"/>
              <a:round/>
              <a:headEnd len="sm" w="sm" type="none"/>
              <a:tailEnd len="sm" w="sm" type="none"/>
            </a:ln>
          </p:spPr>
        </p:cxnSp>
        <p:sp>
          <p:nvSpPr>
            <p:cNvPr id="424" name="Google Shape;424;p120"/>
            <p:cNvSpPr/>
            <p:nvPr/>
          </p:nvSpPr>
          <p:spPr>
            <a:xfrm>
              <a:off x="990244" y="2405"/>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20"/>
            <p:cNvSpPr txBox="1"/>
            <p:nvPr/>
          </p:nvSpPr>
          <p:spPr>
            <a:xfrm>
              <a:off x="990244" y="2405"/>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哪个方向损失减少最多</a:t>
              </a:r>
              <a:endParaRPr b="0" i="1" sz="1400" u="none" cap="none" strike="noStrike">
                <a:solidFill>
                  <a:schemeClr val="dk2"/>
                </a:solidFill>
                <a:latin typeface="Open Sans"/>
                <a:ea typeface="Noto Sans SC"/>
                <a:cs typeface="Open Sans"/>
                <a:sym typeface="Open Sans"/>
              </a:endParaRPr>
            </a:p>
          </p:txBody>
        </p:sp>
        <p:sp>
          <p:nvSpPr>
            <p:cNvPr id="426" name="Google Shape;426;p120"/>
            <p:cNvSpPr/>
            <p:nvPr/>
          </p:nvSpPr>
          <p:spPr>
            <a:xfrm>
              <a:off x="0" y="2405"/>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20"/>
            <p:cNvSpPr txBox="1"/>
            <p:nvPr/>
          </p:nvSpPr>
          <p:spPr>
            <a:xfrm>
              <a:off x="32171" y="34576"/>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lt1"/>
                  </a:solidFill>
                  <a:latin typeface="Noto Sans SC"/>
                  <a:ea typeface="Noto Sans SC"/>
                  <a:cs typeface="Open Sans"/>
                  <a:sym typeface="Open Sans"/>
                </a:rPr>
                <a:t>梯度</a:t>
              </a:r>
              <a:endParaRPr/>
            </a:p>
          </p:txBody>
        </p:sp>
        <p:sp>
          <p:nvSpPr>
            <p:cNvPr id="428" name="Google Shape;428;p120"/>
            <p:cNvSpPr/>
            <p:nvPr/>
          </p:nvSpPr>
          <p:spPr>
            <a:xfrm>
              <a:off x="990244" y="694261"/>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20"/>
            <p:cNvSpPr txBox="1"/>
            <p:nvPr/>
          </p:nvSpPr>
          <p:spPr>
            <a:xfrm>
              <a:off x="990244" y="694261"/>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移动的距离</a:t>
              </a:r>
              <a:endParaRPr/>
            </a:p>
          </p:txBody>
        </p:sp>
        <p:sp>
          <p:nvSpPr>
            <p:cNvPr id="430" name="Google Shape;430;p120"/>
            <p:cNvSpPr/>
            <p:nvPr/>
          </p:nvSpPr>
          <p:spPr>
            <a:xfrm>
              <a:off x="0" y="694261"/>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20"/>
            <p:cNvSpPr txBox="1"/>
            <p:nvPr/>
          </p:nvSpPr>
          <p:spPr>
            <a:xfrm>
              <a:off x="32171" y="726432"/>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lt1"/>
                  </a:solidFill>
                  <a:latin typeface="Open Sans"/>
                  <a:ea typeface="Noto Sans SC"/>
                  <a:cs typeface="Open Sans"/>
                  <a:sym typeface="Open Sans"/>
                </a:rPr>
                <a:t>：</a:t>
              </a:r>
              <a:r>
                <a:rPr b="0" i="0" lang="en-US" sz="1400" u="none" cap="none" strike="noStrike">
                  <a:solidFill>
                    <a:schemeClr val="lt1"/>
                  </a:solidFill>
                  <a:latin typeface="Noto Sans SC"/>
                  <a:ea typeface="Noto Sans SC"/>
                  <a:cs typeface="Open Sans"/>
                  <a:sym typeface="Open Sans"/>
                </a:rPr>
                <a:t>学习率</a:t>
              </a:r>
              <a:endParaRPr/>
            </a:p>
          </p:txBody>
        </p:sp>
        <p:sp>
          <p:nvSpPr>
            <p:cNvPr id="432" name="Google Shape;432;p120"/>
            <p:cNvSpPr/>
            <p:nvPr/>
          </p:nvSpPr>
          <p:spPr>
            <a:xfrm>
              <a:off x="990244" y="1386117"/>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20"/>
            <p:cNvSpPr txBox="1"/>
            <p:nvPr/>
          </p:nvSpPr>
          <p:spPr>
            <a:xfrm>
              <a:off x="990244" y="1386117"/>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使用完整数据集进行的一次</a:t>
              </a:r>
              <a:br>
                <a:rPr b="0" i="0" lang="en-US" sz="1400" u="none" cap="none" strike="noStrike">
                  <a:solidFill>
                    <a:schemeClr val="dk2"/>
                  </a:solidFill>
                  <a:latin typeface="Open Sans"/>
                  <a:ea typeface="Noto Sans SC"/>
                  <a:cs typeface="Open Sans"/>
                  <a:sym typeface="Open Sans"/>
                </a:rPr>
              </a:br>
              <a:r>
                <a:rPr b="0" i="0" lang="en-US" sz="1400" u="none" cap="none" strike="noStrike">
                  <a:solidFill>
                    <a:schemeClr val="dk2"/>
                  </a:solidFill>
                  <a:latin typeface="Noto Sans SC"/>
                  <a:ea typeface="Noto Sans SC"/>
                  <a:cs typeface="Open Sans"/>
                  <a:sym typeface="Open Sans"/>
                </a:rPr>
                <a:t>模型更新</a:t>
              </a:r>
              <a:endParaRPr/>
            </a:p>
          </p:txBody>
        </p:sp>
        <p:sp>
          <p:nvSpPr>
            <p:cNvPr id="434" name="Google Shape;434;p120"/>
            <p:cNvSpPr/>
            <p:nvPr/>
          </p:nvSpPr>
          <p:spPr>
            <a:xfrm>
              <a:off x="0" y="1386117"/>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20"/>
            <p:cNvSpPr txBox="1"/>
            <p:nvPr/>
          </p:nvSpPr>
          <p:spPr>
            <a:xfrm>
              <a:off x="32171" y="1418288"/>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lt1"/>
                  </a:solidFill>
                  <a:latin typeface="Noto Sans SC"/>
                  <a:ea typeface="Noto Sans SC"/>
                  <a:cs typeface="Open Sans"/>
                  <a:sym typeface="Open Sans"/>
                </a:rPr>
                <a:t>训练周期</a:t>
              </a:r>
              <a:endParaRPr/>
            </a:p>
          </p:txBody>
        </p:sp>
        <p:sp>
          <p:nvSpPr>
            <p:cNvPr id="436" name="Google Shape;436;p120"/>
            <p:cNvSpPr/>
            <p:nvPr/>
          </p:nvSpPr>
          <p:spPr>
            <a:xfrm>
              <a:off x="990244" y="2077973"/>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20"/>
            <p:cNvSpPr txBox="1"/>
            <p:nvPr/>
          </p:nvSpPr>
          <p:spPr>
            <a:xfrm>
              <a:off x="990244" y="2077973"/>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完整数据集的样本</a:t>
              </a:r>
              <a:endParaRPr/>
            </a:p>
          </p:txBody>
        </p:sp>
        <p:sp>
          <p:nvSpPr>
            <p:cNvPr id="438" name="Google Shape;438;p120"/>
            <p:cNvSpPr/>
            <p:nvPr/>
          </p:nvSpPr>
          <p:spPr>
            <a:xfrm>
              <a:off x="0" y="2077973"/>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20"/>
            <p:cNvSpPr txBox="1"/>
            <p:nvPr/>
          </p:nvSpPr>
          <p:spPr>
            <a:xfrm>
              <a:off x="32171" y="2110144"/>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lt1"/>
                  </a:solidFill>
                  <a:latin typeface="Noto Sans SC"/>
                  <a:ea typeface="Noto Sans SC"/>
                  <a:cs typeface="Open Sans"/>
                  <a:sym typeface="Open Sans"/>
                </a:rPr>
                <a:t>批量</a:t>
              </a:r>
              <a:endParaRPr/>
            </a:p>
          </p:txBody>
        </p:sp>
        <p:sp>
          <p:nvSpPr>
            <p:cNvPr id="440" name="Google Shape;440;p120"/>
            <p:cNvSpPr/>
            <p:nvPr/>
          </p:nvSpPr>
          <p:spPr>
            <a:xfrm>
              <a:off x="990244" y="2769829"/>
              <a:ext cx="2818387" cy="6589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20"/>
            <p:cNvSpPr txBox="1"/>
            <p:nvPr/>
          </p:nvSpPr>
          <p:spPr>
            <a:xfrm>
              <a:off x="990244" y="2769829"/>
              <a:ext cx="2818387" cy="658910"/>
            </a:xfrm>
            <a:prstGeom prst="rect">
              <a:avLst/>
            </a:prstGeom>
            <a:noFill/>
            <a:ln>
              <a:noFill/>
            </a:ln>
          </p:spPr>
          <p:txBody>
            <a:bodyPr anchorCtr="0" anchor="b" bIns="26650" lIns="26650" spcFirstLastPara="1" rIns="26650" wrap="square" tIns="26650">
              <a:noAutofit/>
            </a:bodyPr>
            <a:lstStyle/>
            <a:p>
              <a:pPr indent="0" lvl="0" marL="91440" marR="0" rtl="0" algn="l">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对权重参数的一次更新</a:t>
              </a:r>
              <a:endParaRPr/>
            </a:p>
          </p:txBody>
        </p:sp>
        <p:sp>
          <p:nvSpPr>
            <p:cNvPr id="442" name="Google Shape;442;p120"/>
            <p:cNvSpPr/>
            <p:nvPr/>
          </p:nvSpPr>
          <p:spPr>
            <a:xfrm>
              <a:off x="0" y="2769829"/>
              <a:ext cx="990244" cy="658910"/>
            </a:xfrm>
            <a:prstGeom prst="round2SameRect">
              <a:avLst>
                <a:gd fmla="val 16670" name="adj1"/>
                <a:gd fmla="val 0" name="adj2"/>
              </a:avLst>
            </a:prstGeom>
            <a:gradFill>
              <a:gsLst>
                <a:gs pos="0">
                  <a:srgbClr val="0054A6"/>
                </a:gs>
                <a:gs pos="80000">
                  <a:srgbClr val="006FDA"/>
                </a:gs>
                <a:gs pos="100000">
                  <a:srgbClr val="0070E0"/>
                </a:gs>
              </a:gsLst>
              <a:lin ang="16200000" scaled="0"/>
            </a:gradFill>
            <a:ln cap="flat" cmpd="sng" w="9525">
              <a:solidFill>
                <a:srgbClr val="0070C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20"/>
            <p:cNvSpPr txBox="1"/>
            <p:nvPr/>
          </p:nvSpPr>
          <p:spPr>
            <a:xfrm>
              <a:off x="32171" y="2802000"/>
              <a:ext cx="925902" cy="626739"/>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lt1"/>
                  </a:solidFill>
                  <a:latin typeface="Noto Sans SC"/>
                  <a:ea typeface="Noto Sans SC"/>
                  <a:cs typeface="Open Sans"/>
                  <a:sym typeface="Open Sans"/>
                </a:rPr>
                <a:t>步</a:t>
              </a:r>
              <a:endParaRPr/>
            </a:p>
          </p:txBody>
        </p:sp>
      </p:grpSp>
      <p:sp>
        <p:nvSpPr>
          <p:cNvPr id="445"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损失曲线</a:t>
            </a:r>
          </a:p>
        </p:txBody>
      </p:sp>
      <p:sp xmlns:p="http://schemas.openxmlformats.org/presentationml/2006/main" xmlns:a="http://schemas.openxmlformats.org/drawingml/2006/main">
        <p:nvSpPr>
          <p:cNvPr id="44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47" name="Shape 447"/>
        <p:cNvGrpSpPr/>
        <p:nvPr/>
      </p:nvGrpSpPr>
      <p:grpSpPr>
        <a:xfrm>
          <a:off x="0" y="0"/>
          <a:ext cx="0" cy="0"/>
          <a:chOff x="0" y="0"/>
          <a:chExt cx="0" cy="0"/>
        </a:xfrm>
      </p:grpSpPr>
      <p:sp>
        <p:nvSpPr>
          <p:cNvPr id="448" name="Google Shape;448;p121"/>
          <p:cNvSpPr/>
          <p:nvPr/>
        </p:nvSpPr>
        <p:spPr>
          <a:xfrm>
            <a:off x="944916" y="1912389"/>
            <a:ext cx="5295014" cy="3317358"/>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Open Sans"/>
              <a:buNone/>
            </a:pPr>
            <a:r>
              <a:t/>
            </a:r>
            <a:endParaRPr b="0" i="0" sz="10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rgbClr val="000000"/>
                </a:solidFill>
                <a:latin typeface="Noto Sans SC"/>
                <a:ea typeface="Noto Sans SC"/>
                <a:cs typeface="Open Sans"/>
                <a:sym typeface="Open Sans"/>
              </a:rPr>
              <a:t>损失</a:t>
            </a:r>
            <a:r>
              <a:rPr b="0" i="0" lang="en-US" sz="2400" u="none" cap="none" strike="noStrike">
                <a:solidFill>
                  <a:srgbClr val="000000"/>
                </a:solidFill>
                <a:latin typeface="Open Sans"/>
                <a:ea typeface="Noto Sans SC"/>
                <a:cs typeface="Open Sans"/>
                <a:sym typeface="Open Sans"/>
              </a:rPr>
              <a:t> – </a:t>
            </a:r>
            <a:r>
              <a:rPr b="0" i="0" lang="en-US" sz="2400" u="none" cap="none" strike="noStrike">
                <a:solidFill>
                  <a:srgbClr val="000000"/>
                </a:solidFill>
                <a:latin typeface="Noto Sans SC"/>
                <a:ea typeface="Noto Sans SC"/>
                <a:cs typeface="Open Sans"/>
                <a:sym typeface="Open Sans"/>
              </a:rPr>
              <a:t>动量优化器</a:t>
            </a:r>
            <a:endParaRPr/>
          </a:p>
        </p:txBody>
      </p:sp>
      <p:sp>
        <p:nvSpPr>
          <p:cNvPr id="449" name="Google Shape;449;p121"/>
          <p:cNvSpPr/>
          <p:nvPr/>
        </p:nvSpPr>
        <p:spPr>
          <a:xfrm>
            <a:off x="1274526" y="2486547"/>
            <a:ext cx="4720856" cy="2232837"/>
          </a:xfrm>
          <a:custGeom>
            <a:rect b="b" l="l" r="r" t="t"/>
            <a:pathLst>
              <a:path extrusionOk="0" h="2232837" w="4720856">
                <a:moveTo>
                  <a:pt x="0" y="0"/>
                </a:moveTo>
                <a:cubicBezTo>
                  <a:pt x="426188" y="726558"/>
                  <a:pt x="852376" y="1453116"/>
                  <a:pt x="1329069" y="1605516"/>
                </a:cubicBezTo>
                <a:cubicBezTo>
                  <a:pt x="1805762" y="1757916"/>
                  <a:pt x="2546497" y="866553"/>
                  <a:pt x="2860158" y="914400"/>
                </a:cubicBezTo>
                <a:cubicBezTo>
                  <a:pt x="3173819" y="962247"/>
                  <a:pt x="3104707" y="1819939"/>
                  <a:pt x="3211032" y="1892595"/>
                </a:cubicBezTo>
                <a:cubicBezTo>
                  <a:pt x="3317358" y="1965251"/>
                  <a:pt x="3246474" y="1293628"/>
                  <a:pt x="3498111" y="1350335"/>
                </a:cubicBezTo>
                <a:cubicBezTo>
                  <a:pt x="3749748" y="1407042"/>
                  <a:pt x="4235302" y="1819939"/>
                  <a:pt x="4720856" y="2232837"/>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cxnSp>
        <p:nvCxnSpPr>
          <p:cNvPr id="450" name="Google Shape;450;p121"/>
          <p:cNvCxnSpPr/>
          <p:nvPr/>
        </p:nvCxnSpPr>
        <p:spPr>
          <a:xfrm rot="10800000">
            <a:off x="1125670" y="2231366"/>
            <a:ext cx="0" cy="2817628"/>
          </a:xfrm>
          <a:prstGeom prst="straightConnector1">
            <a:avLst/>
          </a:prstGeom>
          <a:noFill/>
          <a:ln cap="flat" cmpd="sng" w="57150">
            <a:solidFill>
              <a:schemeClr val="accent4"/>
            </a:solidFill>
            <a:prstDash val="solid"/>
            <a:round/>
            <a:headEnd len="sm" w="sm" type="none"/>
            <a:tailEnd len="med" w="med" type="triangle"/>
          </a:ln>
        </p:spPr>
      </p:cxnSp>
      <p:cxnSp>
        <p:nvCxnSpPr>
          <p:cNvPr id="451" name="Google Shape;451;p121"/>
          <p:cNvCxnSpPr/>
          <p:nvPr/>
        </p:nvCxnSpPr>
        <p:spPr>
          <a:xfrm>
            <a:off x="1125670" y="5020641"/>
            <a:ext cx="4869712" cy="28353"/>
          </a:xfrm>
          <a:prstGeom prst="straightConnector1">
            <a:avLst/>
          </a:prstGeom>
          <a:noFill/>
          <a:ln cap="flat" cmpd="sng" w="57150">
            <a:solidFill>
              <a:schemeClr val="accent4"/>
            </a:solidFill>
            <a:prstDash val="solid"/>
            <a:round/>
            <a:headEnd len="sm" w="sm" type="none"/>
            <a:tailEnd len="med" w="med" type="triangle"/>
          </a:ln>
        </p:spPr>
      </p:cxnSp>
      <p:sp>
        <p:nvSpPr>
          <p:cNvPr id="452" name="Google Shape;452;p121"/>
          <p:cNvSpPr/>
          <p:nvPr/>
        </p:nvSpPr>
        <p:spPr>
          <a:xfrm>
            <a:off x="4230377" y="2982290"/>
            <a:ext cx="202018" cy="225942"/>
          </a:xfrm>
          <a:prstGeom prst="ellipse">
            <a:avLst/>
          </a:prstGeom>
          <a:solidFill>
            <a:schemeClr val="lt2"/>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cxnSp>
        <p:nvCxnSpPr>
          <p:cNvPr id="453" name="Google Shape;453;p121"/>
          <p:cNvCxnSpPr/>
          <p:nvPr/>
        </p:nvCxnSpPr>
        <p:spPr>
          <a:xfrm flipH="1">
            <a:off x="3443568" y="3228612"/>
            <a:ext cx="637954" cy="342456"/>
          </a:xfrm>
          <a:prstGeom prst="straightConnector1">
            <a:avLst/>
          </a:prstGeom>
          <a:noFill/>
          <a:ln cap="flat" cmpd="sng" w="9525">
            <a:solidFill>
              <a:schemeClr val="accent4"/>
            </a:solidFill>
            <a:prstDash val="solid"/>
            <a:round/>
            <a:headEnd len="sm" w="sm" type="none"/>
            <a:tailEnd len="sm" w="sm" type="none"/>
          </a:ln>
        </p:spPr>
      </p:cxnSp>
      <p:cxnSp>
        <p:nvCxnSpPr>
          <p:cNvPr id="454" name="Google Shape;454;p121"/>
          <p:cNvCxnSpPr/>
          <p:nvPr/>
        </p:nvCxnSpPr>
        <p:spPr>
          <a:xfrm flipH="1">
            <a:off x="3092693" y="3095261"/>
            <a:ext cx="893135" cy="304579"/>
          </a:xfrm>
          <a:prstGeom prst="straightConnector1">
            <a:avLst/>
          </a:prstGeom>
          <a:noFill/>
          <a:ln cap="flat" cmpd="sng" w="9525">
            <a:solidFill>
              <a:schemeClr val="accent4"/>
            </a:solidFill>
            <a:prstDash val="solid"/>
            <a:round/>
            <a:headEnd len="sm" w="sm" type="none"/>
            <a:tailEnd len="sm" w="sm" type="none"/>
          </a:ln>
        </p:spPr>
      </p:cxnSp>
      <p:sp>
        <p:nvSpPr>
          <p:cNvPr id="455" name="Google Shape;455;p121"/>
          <p:cNvSpPr txBox="1"/>
          <p:nvPr/>
        </p:nvSpPr>
        <p:spPr>
          <a:xfrm>
            <a:off x="6795586" y="1912389"/>
            <a:ext cx="3062177" cy="2956579"/>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3200"/>
              <a:buFont typeface="Open Sans"/>
              <a:buChar char="•"/>
            </a:pPr>
            <a:r>
              <a:rPr b="0" i="0" lang="en-US" sz="3200" u="none" cap="none" strike="noStrike">
                <a:solidFill>
                  <a:srgbClr val="000000"/>
                </a:solidFill>
                <a:latin typeface="Open Sans"/>
                <a:ea typeface="Noto Sans SC"/>
                <a:cs typeface="Open Sans"/>
                <a:sym typeface="Open Sans"/>
              </a:rPr>
              <a:t>Adam</a:t>
            </a:r>
            <a:endParaRPr/>
          </a:p>
          <a:p>
            <a:pPr indent="-285750" lvl="0" marL="285750" marR="0" rtl="0" algn="l">
              <a:lnSpc>
                <a:spcPct val="150000"/>
              </a:lnSpc>
              <a:spcBef>
                <a:spcPts val="0"/>
              </a:spcBef>
              <a:spcAft>
                <a:spcPts val="0"/>
              </a:spcAft>
              <a:buClr>
                <a:srgbClr val="000000"/>
              </a:buClr>
              <a:buSzPts val="3200"/>
              <a:buFont typeface="Open Sans"/>
              <a:buChar char="•"/>
            </a:pPr>
            <a:r>
              <a:rPr b="0" i="0" lang="en-US" sz="3200" u="none" cap="none" strike="noStrike">
                <a:solidFill>
                  <a:srgbClr val="000000"/>
                </a:solidFill>
                <a:latin typeface="Open Sans"/>
                <a:ea typeface="Noto Sans SC"/>
                <a:cs typeface="Open Sans"/>
                <a:sym typeface="Open Sans"/>
              </a:rPr>
              <a:t>Adagrad</a:t>
            </a:r>
            <a:endParaRPr b="0" i="0" sz="3200" u="none" cap="none" strike="noStrike">
              <a:solidFill>
                <a:srgbClr val="000000"/>
              </a:solidFill>
              <a:latin typeface="Open Sans"/>
              <a:ea typeface="Noto Sans SC"/>
              <a:cs typeface="Open Sans"/>
              <a:sym typeface="Open Sans"/>
            </a:endParaRPr>
          </a:p>
          <a:p>
            <a:pPr indent="-285750" lvl="0" marL="285750" marR="0" rtl="0" algn="l">
              <a:lnSpc>
                <a:spcPct val="150000"/>
              </a:lnSpc>
              <a:spcBef>
                <a:spcPts val="0"/>
              </a:spcBef>
              <a:spcAft>
                <a:spcPts val="0"/>
              </a:spcAft>
              <a:buClr>
                <a:srgbClr val="000000"/>
              </a:buClr>
              <a:buSzPts val="3200"/>
              <a:buFont typeface="Open Sans"/>
              <a:buChar char="•"/>
            </a:pPr>
            <a:r>
              <a:rPr b="0" i="0" lang="en-US" sz="3200" u="none" cap="none" strike="noStrike">
                <a:solidFill>
                  <a:srgbClr val="000000"/>
                </a:solidFill>
                <a:latin typeface="Open Sans"/>
                <a:ea typeface="Noto Sans SC"/>
                <a:cs typeface="Open Sans"/>
                <a:sym typeface="Open Sans"/>
              </a:rPr>
              <a:t>RMSProp</a:t>
            </a:r>
            <a:endParaRPr b="0" i="0" sz="3200" u="none" cap="none" strike="noStrike">
              <a:solidFill>
                <a:srgbClr val="000000"/>
              </a:solidFill>
              <a:latin typeface="Open Sans"/>
              <a:ea typeface="Noto Sans SC"/>
              <a:cs typeface="Open Sans"/>
              <a:sym typeface="Open Sans"/>
            </a:endParaRPr>
          </a:p>
          <a:p>
            <a:pPr indent="-285750" lvl="0" marL="285750" marR="0" rtl="0" algn="l">
              <a:lnSpc>
                <a:spcPct val="150000"/>
              </a:lnSpc>
              <a:spcBef>
                <a:spcPts val="0"/>
              </a:spcBef>
              <a:spcAft>
                <a:spcPts val="0"/>
              </a:spcAft>
              <a:buClr>
                <a:srgbClr val="000000"/>
              </a:buClr>
              <a:buSzPts val="3200"/>
              <a:buFont typeface="Open Sans"/>
              <a:buChar char="•"/>
            </a:pPr>
            <a:r>
              <a:rPr b="0" i="0" lang="en-US" sz="3200" u="none" cap="none" strike="noStrike">
                <a:solidFill>
                  <a:srgbClr val="000000"/>
                </a:solidFill>
                <a:latin typeface="Open Sans"/>
                <a:ea typeface="Noto Sans SC"/>
                <a:cs typeface="Open Sans"/>
                <a:sym typeface="Open Sans"/>
              </a:rPr>
              <a:t>SGD</a:t>
            </a:r>
            <a:endParaRPr b="0" i="0" sz="3200" u="none" cap="none" strike="noStrike">
              <a:solidFill>
                <a:srgbClr val="000000"/>
              </a:solidFill>
              <a:latin typeface="Open Sans"/>
              <a:ea typeface="Noto Sans SC"/>
              <a:cs typeface="Open Sans"/>
              <a:sym typeface="Open Sans"/>
            </a:endParaRPr>
          </a:p>
        </p:txBody>
      </p:sp>
      <p:sp>
        <p:nvSpPr>
          <p:cNvPr id="457"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优化器</a:t>
            </a:r>
          </a:p>
        </p:txBody>
      </p:sp>
      <p:sp xmlns:p="http://schemas.openxmlformats.org/presentationml/2006/main" xmlns:a="http://schemas.openxmlformats.org/drawingml/2006/main">
        <p:nvSpPr>
          <p:cNvPr id="45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59" name="Shape 459"/>
        <p:cNvGrpSpPr/>
        <p:nvPr/>
      </p:nvGrpSpPr>
      <p:grpSpPr>
        <a:xfrm>
          <a:off x="0" y="0"/>
          <a:ext cx="0" cy="0"/>
          <a:chOff x="0" y="0"/>
          <a:chExt cx="0" cy="0"/>
        </a:xfrm>
      </p:grpSpPr>
      <p:sp>
        <p:nvSpPr>
          <p:cNvPr id="461" name="Restored Title 2"/>
          <p:cNvSpPr txBox="1"/>
          <p:nvPr/>
        </p:nvSpPr>
        <p:spPr>
          <a:xfrm>
            <a:off x="498348" y="2790635"/>
            <a:ext cx="9976104" cy="590931"/>
          </a:xfrm>
          <a:prstGeom prst="rect">
            <a:avLst/>
          </a:prstGeom>
          <a:noFill/>
        </p:spPr>
        <p:txBody>
          <a:bodyPr wrap="none" lIns="0" rIns="0" tIns="0" bIns="0" anchor="ctr">
            <a:spAutoFit/>
          </a:bodyPr>
          <a:lstStyle/>
          <a:p>
            <a:pPr algn="ctr"/>
            <a:r>
              <a:rPr sz="3600" b="1">
                <a:solidFill>
                  <a:srgbClr val="000000"/>
                </a:solidFill>
                <a:latin typeface="Noto Sans SC"/>
              </a:rPr>
              <a:t>从神经元到网络</a:t>
            </a:r>
          </a:p>
        </p:txBody>
      </p:sp>
      <p:sp xmlns:p="http://schemas.openxmlformats.org/presentationml/2006/main" xmlns:a="http://schemas.openxmlformats.org/drawingml/2006/main">
        <p:nvSpPr>
          <p:cNvPr id="46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63" name="Shape 463"/>
        <p:cNvGrpSpPr/>
        <p:nvPr/>
      </p:nvGrpSpPr>
      <p:grpSpPr>
        <a:xfrm>
          <a:off x="0" y="0"/>
          <a:ext cx="0" cy="0"/>
          <a:chOff x="0" y="0"/>
          <a:chExt cx="0" cy="0"/>
        </a:xfrm>
      </p:grpSpPr>
      <p:cxnSp>
        <p:nvCxnSpPr>
          <p:cNvPr id="464" name="Google Shape;464;p123"/>
          <p:cNvCxnSpPr>
            <a:endCxn id="465" idx="2"/>
          </p:cNvCxnSpPr>
          <p:nvPr/>
        </p:nvCxnSpPr>
        <p:spPr>
          <a:xfrm>
            <a:off x="1981185" y="3192644"/>
            <a:ext cx="585900" cy="871200"/>
          </a:xfrm>
          <a:prstGeom prst="straightConnector1">
            <a:avLst/>
          </a:prstGeom>
          <a:noFill/>
          <a:ln cap="flat" cmpd="sng" w="76200">
            <a:solidFill>
              <a:schemeClr val="accent4"/>
            </a:solidFill>
            <a:prstDash val="solid"/>
            <a:round/>
            <a:headEnd len="sm" w="sm" type="none"/>
            <a:tailEnd len="med" w="med" type="triangle"/>
          </a:ln>
        </p:spPr>
      </p:cxnSp>
      <p:cxnSp>
        <p:nvCxnSpPr>
          <p:cNvPr id="466" name="Google Shape;466;p123"/>
          <p:cNvCxnSpPr>
            <a:stCxn id="465" idx="6"/>
          </p:cNvCxnSpPr>
          <p:nvPr/>
        </p:nvCxnSpPr>
        <p:spPr>
          <a:xfrm>
            <a:off x="2567085" y="4543975"/>
            <a:ext cx="0" cy="797100"/>
          </a:xfrm>
          <a:prstGeom prst="straightConnector1">
            <a:avLst/>
          </a:prstGeom>
          <a:noFill/>
          <a:ln cap="flat" cmpd="sng" w="76200">
            <a:solidFill>
              <a:schemeClr val="accent4"/>
            </a:solidFill>
            <a:prstDash val="solid"/>
            <a:round/>
            <a:headEnd len="sm" w="sm" type="none"/>
            <a:tailEnd len="med" w="med" type="triangle"/>
          </a:ln>
        </p:spPr>
      </p:cxnSp>
      <p:sp>
        <p:nvSpPr>
          <p:cNvPr id="467" name="Google Shape;467;p123"/>
          <p:cNvSpPr txBox="1"/>
          <p:nvPr/>
        </p:nvSpPr>
        <p:spPr>
          <a:xfrm>
            <a:off x="2724028" y="4543975"/>
            <a:ext cx="469744" cy="48013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468" name="Google Shape;468;p123"/>
          <p:cNvSpPr txBox="1"/>
          <p:nvPr/>
        </p:nvSpPr>
        <p:spPr>
          <a:xfrm>
            <a:off x="2958900" y="3388111"/>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2</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65" name="Google Shape;465;p123"/>
          <p:cNvSpPr/>
          <p:nvPr/>
        </p:nvSpPr>
        <p:spPr>
          <a:xfrm rot="5400000">
            <a:off x="2327019" y="4065307"/>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469" name="Google Shape;469;p123"/>
          <p:cNvCxnSpPr>
            <a:endCxn id="465" idx="2"/>
          </p:cNvCxnSpPr>
          <p:nvPr/>
        </p:nvCxnSpPr>
        <p:spPr>
          <a:xfrm flipH="1">
            <a:off x="2567085" y="3192644"/>
            <a:ext cx="566700" cy="871200"/>
          </a:xfrm>
          <a:prstGeom prst="straightConnector1">
            <a:avLst/>
          </a:prstGeom>
          <a:noFill/>
          <a:ln cap="flat" cmpd="sng" w="76200">
            <a:solidFill>
              <a:schemeClr val="accent4"/>
            </a:solidFill>
            <a:prstDash val="solid"/>
            <a:round/>
            <a:headEnd len="sm" w="sm" type="none"/>
            <a:tailEnd len="med" w="med" type="triangle"/>
          </a:ln>
        </p:spPr>
      </p:cxnSp>
      <p:sp>
        <p:nvSpPr>
          <p:cNvPr id="470" name="Google Shape;470;p123"/>
          <p:cNvSpPr txBox="1"/>
          <p:nvPr/>
        </p:nvSpPr>
        <p:spPr>
          <a:xfrm>
            <a:off x="1692499" y="3388111"/>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1</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72"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构建网络</a:t>
            </a:r>
          </a:p>
        </p:txBody>
      </p:sp>
      <p:sp>
        <p:nvSpPr>
          <p:cNvPr id="473" name="Restored Content Placeholder 2"/>
          <p:cNvSpPr txBox="1"/>
          <p:nvPr/>
        </p:nvSpPr>
        <p:spPr>
          <a:xfrm>
            <a:off x="5686424" y="1943540"/>
            <a:ext cx="4778997" cy="3718925"/>
          </a:xfrm>
          <a:prstGeom prst="rect">
            <a:avLst/>
          </a:prstGeom>
          <a:noFill/>
        </p:spPr>
        <p:txBody>
          <a:bodyPr wrap="none" lIns="0" rIns="0" tIns="0" bIns="0" anchor="t">
            <a:spAutoFit/>
          </a:bodyPr>
          <a:lstStyle/>
          <a:p>
            <a:pPr algn="l" marL="342900" indent="-171450">
              <a:buChar char="•"/>
            </a:pPr>
            <a:r>
              <a:rPr sz="2600" b="0">
                <a:solidFill>
                  <a:srgbClr val="000000"/>
                </a:solidFill>
                <a:latin typeface="Noto Sans SC"/>
              </a:rPr>
              <a:t>扩充到更多的输入</a:t>
            </a:r>
          </a:p>
        </p:txBody>
      </p:sp>
      <p:sp xmlns:p="http://schemas.openxmlformats.org/presentationml/2006/main" xmlns:a="http://schemas.openxmlformats.org/drawingml/2006/main">
        <p:nvSpPr>
          <p:cNvPr id="47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74" name="Shape 474"/>
        <p:cNvGrpSpPr/>
        <p:nvPr/>
      </p:nvGrpSpPr>
      <p:grpSpPr>
        <a:xfrm>
          <a:off x="0" y="0"/>
          <a:ext cx="0" cy="0"/>
          <a:chOff x="0" y="0"/>
          <a:chExt cx="0" cy="0"/>
        </a:xfrm>
      </p:grpSpPr>
      <p:cxnSp>
        <p:nvCxnSpPr>
          <p:cNvPr id="475" name="Google Shape;475;p124"/>
          <p:cNvCxnSpPr>
            <a:endCxn id="476" idx="2"/>
          </p:cNvCxnSpPr>
          <p:nvPr/>
        </p:nvCxnSpPr>
        <p:spPr>
          <a:xfrm>
            <a:off x="1981185" y="3192644"/>
            <a:ext cx="585900" cy="871200"/>
          </a:xfrm>
          <a:prstGeom prst="straightConnector1">
            <a:avLst/>
          </a:prstGeom>
          <a:noFill/>
          <a:ln cap="flat" cmpd="sng" w="76200">
            <a:solidFill>
              <a:schemeClr val="accent4"/>
            </a:solidFill>
            <a:prstDash val="solid"/>
            <a:round/>
            <a:headEnd len="sm" w="sm" type="none"/>
            <a:tailEnd len="med" w="med" type="triangle"/>
          </a:ln>
        </p:spPr>
      </p:cxnSp>
      <p:cxnSp>
        <p:nvCxnSpPr>
          <p:cNvPr id="477" name="Google Shape;477;p124"/>
          <p:cNvCxnSpPr>
            <a:stCxn id="476" idx="6"/>
          </p:cNvCxnSpPr>
          <p:nvPr/>
        </p:nvCxnSpPr>
        <p:spPr>
          <a:xfrm>
            <a:off x="2567085" y="4543975"/>
            <a:ext cx="0" cy="797100"/>
          </a:xfrm>
          <a:prstGeom prst="straightConnector1">
            <a:avLst/>
          </a:prstGeom>
          <a:noFill/>
          <a:ln cap="flat" cmpd="sng" w="76200">
            <a:solidFill>
              <a:schemeClr val="accent4"/>
            </a:solidFill>
            <a:prstDash val="solid"/>
            <a:round/>
            <a:headEnd len="sm" w="sm" type="none"/>
            <a:tailEnd len="med" w="med" type="triangle"/>
          </a:ln>
        </p:spPr>
      </p:cxnSp>
      <p:sp>
        <p:nvSpPr>
          <p:cNvPr id="478" name="Google Shape;478;p124"/>
          <p:cNvSpPr txBox="1"/>
          <p:nvPr/>
        </p:nvSpPr>
        <p:spPr>
          <a:xfrm>
            <a:off x="2724028" y="4543975"/>
            <a:ext cx="469744" cy="48013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479" name="Google Shape;479;p124"/>
          <p:cNvSpPr txBox="1"/>
          <p:nvPr/>
        </p:nvSpPr>
        <p:spPr>
          <a:xfrm>
            <a:off x="2958900" y="3388111"/>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6</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76" name="Google Shape;476;p124"/>
          <p:cNvSpPr/>
          <p:nvPr/>
        </p:nvSpPr>
        <p:spPr>
          <a:xfrm rot="5400000">
            <a:off x="2327019" y="4065307"/>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480" name="Google Shape;480;p124"/>
          <p:cNvCxnSpPr>
            <a:endCxn id="476" idx="2"/>
          </p:cNvCxnSpPr>
          <p:nvPr/>
        </p:nvCxnSpPr>
        <p:spPr>
          <a:xfrm flipH="1">
            <a:off x="2567085" y="3192644"/>
            <a:ext cx="566700" cy="871200"/>
          </a:xfrm>
          <a:prstGeom prst="straightConnector1">
            <a:avLst/>
          </a:prstGeom>
          <a:noFill/>
          <a:ln cap="flat" cmpd="sng" w="76200">
            <a:solidFill>
              <a:schemeClr val="accent4"/>
            </a:solidFill>
            <a:prstDash val="solid"/>
            <a:round/>
            <a:headEnd len="sm" w="sm" type="none"/>
            <a:tailEnd len="med" w="med" type="triangle"/>
          </a:ln>
        </p:spPr>
      </p:cxnSp>
      <p:sp>
        <p:nvSpPr>
          <p:cNvPr id="481" name="Google Shape;481;p124"/>
          <p:cNvSpPr txBox="1"/>
          <p:nvPr/>
        </p:nvSpPr>
        <p:spPr>
          <a:xfrm>
            <a:off x="1692499" y="3388111"/>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5</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82" name="Google Shape;482;p124"/>
          <p:cNvSpPr/>
          <p:nvPr/>
        </p:nvSpPr>
        <p:spPr>
          <a:xfrm rot="5400000">
            <a:off x="1706559" y="2713841"/>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83" name="Google Shape;483;p124"/>
          <p:cNvSpPr/>
          <p:nvPr/>
        </p:nvSpPr>
        <p:spPr>
          <a:xfrm rot="5400000">
            <a:off x="2917210" y="2713840"/>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484" name="Google Shape;484;p124"/>
          <p:cNvCxnSpPr>
            <a:stCxn id="485" idx="2"/>
            <a:endCxn id="482" idx="2"/>
          </p:cNvCxnSpPr>
          <p:nvPr/>
        </p:nvCxnSpPr>
        <p:spPr>
          <a:xfrm>
            <a:off x="1552575" y="2255739"/>
            <a:ext cx="393900" cy="456600"/>
          </a:xfrm>
          <a:prstGeom prst="straightConnector1">
            <a:avLst/>
          </a:prstGeom>
          <a:noFill/>
          <a:ln cap="flat" cmpd="sng" w="76200">
            <a:solidFill>
              <a:schemeClr val="accent4"/>
            </a:solidFill>
            <a:prstDash val="solid"/>
            <a:round/>
            <a:headEnd len="sm" w="sm" type="none"/>
            <a:tailEnd len="med" w="med" type="triangle"/>
          </a:ln>
        </p:spPr>
      </p:cxnSp>
      <p:cxnSp>
        <p:nvCxnSpPr>
          <p:cNvPr id="486" name="Google Shape;486;p124"/>
          <p:cNvCxnSpPr>
            <a:stCxn id="485" idx="2"/>
            <a:endCxn id="483" idx="2"/>
          </p:cNvCxnSpPr>
          <p:nvPr/>
        </p:nvCxnSpPr>
        <p:spPr>
          <a:xfrm>
            <a:off x="1552575" y="2255739"/>
            <a:ext cx="1604700" cy="456600"/>
          </a:xfrm>
          <a:prstGeom prst="straightConnector1">
            <a:avLst/>
          </a:prstGeom>
          <a:noFill/>
          <a:ln cap="flat" cmpd="sng" w="76200">
            <a:solidFill>
              <a:schemeClr val="accent4"/>
            </a:solidFill>
            <a:prstDash val="solid"/>
            <a:round/>
            <a:headEnd len="sm" w="sm" type="none"/>
            <a:tailEnd len="med" w="med" type="triangle"/>
          </a:ln>
        </p:spPr>
      </p:cxnSp>
      <p:cxnSp>
        <p:nvCxnSpPr>
          <p:cNvPr id="487" name="Google Shape;487;p124"/>
          <p:cNvCxnSpPr>
            <a:stCxn id="488" idx="2"/>
            <a:endCxn id="482" idx="2"/>
          </p:cNvCxnSpPr>
          <p:nvPr/>
        </p:nvCxnSpPr>
        <p:spPr>
          <a:xfrm flipH="1">
            <a:off x="1946485" y="2255739"/>
            <a:ext cx="1617600" cy="456600"/>
          </a:xfrm>
          <a:prstGeom prst="straightConnector1">
            <a:avLst/>
          </a:prstGeom>
          <a:noFill/>
          <a:ln cap="flat" cmpd="sng" w="76200">
            <a:solidFill>
              <a:schemeClr val="accent4"/>
            </a:solidFill>
            <a:prstDash val="solid"/>
            <a:round/>
            <a:headEnd len="sm" w="sm" type="none"/>
            <a:tailEnd len="med" w="med" type="triangle"/>
          </a:ln>
        </p:spPr>
      </p:cxnSp>
      <p:cxnSp>
        <p:nvCxnSpPr>
          <p:cNvPr id="489" name="Google Shape;489;p124"/>
          <p:cNvCxnSpPr>
            <a:stCxn id="488" idx="2"/>
            <a:endCxn id="483" idx="2"/>
          </p:cNvCxnSpPr>
          <p:nvPr/>
        </p:nvCxnSpPr>
        <p:spPr>
          <a:xfrm flipH="1">
            <a:off x="3157285" y="2255739"/>
            <a:ext cx="406800" cy="456600"/>
          </a:xfrm>
          <a:prstGeom prst="straightConnector1">
            <a:avLst/>
          </a:prstGeom>
          <a:noFill/>
          <a:ln cap="flat" cmpd="sng" w="76200">
            <a:solidFill>
              <a:schemeClr val="accent4"/>
            </a:solidFill>
            <a:prstDash val="solid"/>
            <a:round/>
            <a:headEnd len="sm" w="sm" type="none"/>
            <a:tailEnd len="med" w="med" type="triangle"/>
          </a:ln>
        </p:spPr>
      </p:cxnSp>
      <p:sp>
        <p:nvSpPr>
          <p:cNvPr id="490" name="Google Shape;490;p124"/>
          <p:cNvSpPr txBox="1"/>
          <p:nvPr/>
        </p:nvSpPr>
        <p:spPr>
          <a:xfrm>
            <a:off x="1102159" y="2353540"/>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1</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91" name="Google Shape;491;p124"/>
          <p:cNvSpPr txBox="1"/>
          <p:nvPr/>
        </p:nvSpPr>
        <p:spPr>
          <a:xfrm>
            <a:off x="1958908" y="1955648"/>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2</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85" name="Google Shape;485;p124"/>
          <p:cNvSpPr txBox="1"/>
          <p:nvPr/>
        </p:nvSpPr>
        <p:spPr>
          <a:xfrm>
            <a:off x="1307957" y="1775608"/>
            <a:ext cx="489236" cy="480131"/>
          </a:xfrm>
          <a:prstGeom prst="rect">
            <a:avLst/>
          </a:prstGeom>
          <a:solidFill>
            <a:schemeClr val="lt1"/>
          </a:solidFill>
          <a:ln cap="flat" cmpd="sng" w="38100">
            <a:solidFill>
              <a:srgbClr val="0C0C0C"/>
            </a:solidFill>
            <a:prstDash val="solid"/>
            <a:round/>
            <a:headEnd len="sm" w="sm" type="none"/>
            <a:tailEnd len="sm" w="sm" type="none"/>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x</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1</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88" name="Google Shape;488;p124"/>
          <p:cNvSpPr txBox="1"/>
          <p:nvPr/>
        </p:nvSpPr>
        <p:spPr>
          <a:xfrm>
            <a:off x="3319467" y="1775608"/>
            <a:ext cx="489236" cy="480131"/>
          </a:xfrm>
          <a:prstGeom prst="rect">
            <a:avLst/>
          </a:prstGeom>
          <a:solidFill>
            <a:schemeClr val="lt1"/>
          </a:solidFill>
          <a:ln cap="flat" cmpd="sng" w="38100">
            <a:solidFill>
              <a:srgbClr val="0C0C0C"/>
            </a:solidFill>
            <a:prstDash val="solid"/>
            <a:round/>
            <a:headEnd len="sm" w="sm" type="none"/>
            <a:tailEnd len="sm" w="sm" type="none"/>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x</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2</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92" name="Google Shape;492;p124"/>
          <p:cNvSpPr txBox="1"/>
          <p:nvPr/>
        </p:nvSpPr>
        <p:spPr>
          <a:xfrm>
            <a:off x="2476380" y="1955646"/>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3</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93" name="Google Shape;493;p124"/>
          <p:cNvSpPr txBox="1"/>
          <p:nvPr/>
        </p:nvSpPr>
        <p:spPr>
          <a:xfrm>
            <a:off x="3477291" y="2315764"/>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4</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495"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构建网络</a:t>
            </a:r>
          </a:p>
        </p:txBody>
      </p:sp>
      <p:sp>
        <p:nvSpPr>
          <p:cNvPr id="496" name="Restored Content Placeholder 2"/>
          <p:cNvSpPr txBox="1"/>
          <p:nvPr/>
        </p:nvSpPr>
        <p:spPr>
          <a:xfrm>
            <a:off x="5686424" y="1943540"/>
            <a:ext cx="4778997" cy="3718925"/>
          </a:xfrm>
          <a:prstGeom prst="rect">
            <a:avLst/>
          </a:prstGeom>
          <a:noFill/>
        </p:spPr>
        <p:txBody>
          <a:bodyPr wrap="none" lIns="0" rIns="0" tIns="0" bIns="0" anchor="t">
            <a:spAutoFit/>
          </a:bodyPr>
          <a:lstStyle/>
          <a:p>
            <a:pPr algn="l" marL="342900" indent="-171450">
              <a:buChar char="•"/>
            </a:pPr>
            <a:r>
              <a:rPr sz="2600" b="0">
                <a:solidFill>
                  <a:srgbClr val="000000"/>
                </a:solidFill>
                <a:latin typeface="Noto Sans SC"/>
              </a:rPr>
              <a:t>扩充到更多的输入</a:t>
            </a:r>
          </a:p>
          <a:p>
            <a:pPr algn="l" marL="342900" indent="-171450">
              <a:buChar char="•"/>
            </a:pPr>
            <a:r>
              <a:rPr sz="2600" b="0">
                <a:solidFill>
                  <a:srgbClr val="000000"/>
                </a:solidFill>
                <a:latin typeface="Noto Sans SC"/>
              </a:rPr>
              <a:t>能够串联神经元</a:t>
            </a:r>
          </a:p>
        </p:txBody>
      </p:sp>
      <p:sp xmlns:p="http://schemas.openxmlformats.org/presentationml/2006/main" xmlns:a="http://schemas.openxmlformats.org/drawingml/2006/main">
        <p:nvSpPr>
          <p:cNvPr id="49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97" name="Shape 497"/>
        <p:cNvGrpSpPr/>
        <p:nvPr/>
      </p:nvGrpSpPr>
      <p:grpSpPr>
        <a:xfrm>
          <a:off x="0" y="0"/>
          <a:ext cx="0" cy="0"/>
          <a:chOff x="0" y="0"/>
          <a:chExt cx="0" cy="0"/>
        </a:xfrm>
      </p:grpSpPr>
      <p:cxnSp>
        <p:nvCxnSpPr>
          <p:cNvPr id="498" name="Google Shape;498;p125"/>
          <p:cNvCxnSpPr/>
          <p:nvPr/>
        </p:nvCxnSpPr>
        <p:spPr>
          <a:xfrm>
            <a:off x="1981200" y="3192510"/>
            <a:ext cx="585884" cy="871334"/>
          </a:xfrm>
          <a:prstGeom prst="straightConnector1">
            <a:avLst/>
          </a:prstGeom>
          <a:noFill/>
          <a:ln cap="flat" cmpd="sng" w="76200">
            <a:solidFill>
              <a:schemeClr val="accent4"/>
            </a:solidFill>
            <a:prstDash val="solid"/>
            <a:round/>
            <a:headEnd len="sm" w="sm" type="none"/>
            <a:tailEnd len="med" w="med" type="triangle"/>
          </a:ln>
        </p:spPr>
      </p:cxnSp>
      <p:cxnSp>
        <p:nvCxnSpPr>
          <p:cNvPr id="499" name="Google Shape;499;p125"/>
          <p:cNvCxnSpPr/>
          <p:nvPr/>
        </p:nvCxnSpPr>
        <p:spPr>
          <a:xfrm>
            <a:off x="2567084" y="4543975"/>
            <a:ext cx="0" cy="797184"/>
          </a:xfrm>
          <a:prstGeom prst="straightConnector1">
            <a:avLst/>
          </a:prstGeom>
          <a:noFill/>
          <a:ln cap="flat" cmpd="sng" w="76200">
            <a:solidFill>
              <a:schemeClr val="accent4"/>
            </a:solidFill>
            <a:prstDash val="solid"/>
            <a:round/>
            <a:headEnd len="sm" w="sm" type="none"/>
            <a:tailEnd len="med" w="med" type="triangle"/>
          </a:ln>
        </p:spPr>
      </p:cxnSp>
      <p:sp>
        <p:nvSpPr>
          <p:cNvPr id="500" name="Google Shape;500;p125"/>
          <p:cNvSpPr txBox="1"/>
          <p:nvPr/>
        </p:nvSpPr>
        <p:spPr>
          <a:xfrm>
            <a:off x="2724028" y="4543975"/>
            <a:ext cx="469744" cy="48013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501" name="Google Shape;501;p125"/>
          <p:cNvSpPr txBox="1"/>
          <p:nvPr/>
        </p:nvSpPr>
        <p:spPr>
          <a:xfrm>
            <a:off x="2958900" y="3388111"/>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6</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cxnSp>
        <p:nvCxnSpPr>
          <p:cNvPr id="502" name="Google Shape;502;p125"/>
          <p:cNvCxnSpPr/>
          <p:nvPr/>
        </p:nvCxnSpPr>
        <p:spPr>
          <a:xfrm flipH="1">
            <a:off x="2567084" y="3192510"/>
            <a:ext cx="566641" cy="871334"/>
          </a:xfrm>
          <a:prstGeom prst="straightConnector1">
            <a:avLst/>
          </a:prstGeom>
          <a:noFill/>
          <a:ln cap="flat" cmpd="sng" w="76200">
            <a:solidFill>
              <a:schemeClr val="accent4"/>
            </a:solidFill>
            <a:prstDash val="solid"/>
            <a:round/>
            <a:headEnd len="sm" w="sm" type="none"/>
            <a:tailEnd len="med" w="med" type="triangle"/>
          </a:ln>
        </p:spPr>
      </p:cxnSp>
      <p:sp>
        <p:nvSpPr>
          <p:cNvPr id="503" name="Google Shape;503;p125"/>
          <p:cNvSpPr txBox="1"/>
          <p:nvPr/>
        </p:nvSpPr>
        <p:spPr>
          <a:xfrm>
            <a:off x="1692499" y="3388111"/>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5</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cxnSp>
        <p:nvCxnSpPr>
          <p:cNvPr id="504" name="Google Shape;504;p125"/>
          <p:cNvCxnSpPr>
            <a:stCxn id="505" idx="2"/>
          </p:cNvCxnSpPr>
          <p:nvPr/>
        </p:nvCxnSpPr>
        <p:spPr>
          <a:xfrm>
            <a:off x="1552575" y="2255739"/>
            <a:ext cx="393900" cy="456600"/>
          </a:xfrm>
          <a:prstGeom prst="straightConnector1">
            <a:avLst/>
          </a:prstGeom>
          <a:noFill/>
          <a:ln cap="flat" cmpd="sng" w="76200">
            <a:solidFill>
              <a:schemeClr val="accent4"/>
            </a:solidFill>
            <a:prstDash val="solid"/>
            <a:round/>
            <a:headEnd len="sm" w="sm" type="none"/>
            <a:tailEnd len="med" w="med" type="triangle"/>
          </a:ln>
        </p:spPr>
      </p:cxnSp>
      <p:cxnSp>
        <p:nvCxnSpPr>
          <p:cNvPr id="506" name="Google Shape;506;p125"/>
          <p:cNvCxnSpPr>
            <a:stCxn id="505" idx="2"/>
          </p:cNvCxnSpPr>
          <p:nvPr/>
        </p:nvCxnSpPr>
        <p:spPr>
          <a:xfrm>
            <a:off x="1552575" y="2255739"/>
            <a:ext cx="1604700" cy="456600"/>
          </a:xfrm>
          <a:prstGeom prst="straightConnector1">
            <a:avLst/>
          </a:prstGeom>
          <a:noFill/>
          <a:ln cap="flat" cmpd="sng" w="76200">
            <a:solidFill>
              <a:schemeClr val="accent4"/>
            </a:solidFill>
            <a:prstDash val="solid"/>
            <a:round/>
            <a:headEnd len="sm" w="sm" type="none"/>
            <a:tailEnd len="med" w="med" type="triangle"/>
          </a:ln>
        </p:spPr>
      </p:cxnSp>
      <p:cxnSp>
        <p:nvCxnSpPr>
          <p:cNvPr id="507" name="Google Shape;507;p125"/>
          <p:cNvCxnSpPr>
            <a:stCxn id="508" idx="2"/>
          </p:cNvCxnSpPr>
          <p:nvPr/>
        </p:nvCxnSpPr>
        <p:spPr>
          <a:xfrm flipH="1">
            <a:off x="1946485" y="2255739"/>
            <a:ext cx="1617600" cy="456600"/>
          </a:xfrm>
          <a:prstGeom prst="straightConnector1">
            <a:avLst/>
          </a:prstGeom>
          <a:noFill/>
          <a:ln cap="flat" cmpd="sng" w="76200">
            <a:solidFill>
              <a:schemeClr val="accent4"/>
            </a:solidFill>
            <a:prstDash val="solid"/>
            <a:round/>
            <a:headEnd len="sm" w="sm" type="none"/>
            <a:tailEnd len="med" w="med" type="triangle"/>
          </a:ln>
        </p:spPr>
      </p:cxnSp>
      <p:cxnSp>
        <p:nvCxnSpPr>
          <p:cNvPr id="509" name="Google Shape;509;p125"/>
          <p:cNvCxnSpPr>
            <a:stCxn id="508" idx="2"/>
          </p:cNvCxnSpPr>
          <p:nvPr/>
        </p:nvCxnSpPr>
        <p:spPr>
          <a:xfrm flipH="1">
            <a:off x="3157285" y="2255739"/>
            <a:ext cx="406800" cy="456600"/>
          </a:xfrm>
          <a:prstGeom prst="straightConnector1">
            <a:avLst/>
          </a:prstGeom>
          <a:noFill/>
          <a:ln cap="flat" cmpd="sng" w="76200">
            <a:solidFill>
              <a:schemeClr val="accent4"/>
            </a:solidFill>
            <a:prstDash val="solid"/>
            <a:round/>
            <a:headEnd len="sm" w="sm" type="none"/>
            <a:tailEnd len="med" w="med" type="triangle"/>
          </a:ln>
        </p:spPr>
      </p:cxnSp>
      <p:sp>
        <p:nvSpPr>
          <p:cNvPr id="510" name="Google Shape;510;p125"/>
          <p:cNvSpPr txBox="1"/>
          <p:nvPr/>
        </p:nvSpPr>
        <p:spPr>
          <a:xfrm>
            <a:off x="1102159" y="2353540"/>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1</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511" name="Google Shape;511;p125"/>
          <p:cNvSpPr txBox="1"/>
          <p:nvPr/>
        </p:nvSpPr>
        <p:spPr>
          <a:xfrm>
            <a:off x="1958908" y="1955648"/>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2</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505" name="Google Shape;505;p125"/>
          <p:cNvSpPr txBox="1"/>
          <p:nvPr/>
        </p:nvSpPr>
        <p:spPr>
          <a:xfrm>
            <a:off x="1307957" y="1775608"/>
            <a:ext cx="489236" cy="480131"/>
          </a:xfrm>
          <a:prstGeom prst="rect">
            <a:avLst/>
          </a:prstGeom>
          <a:solidFill>
            <a:schemeClr val="lt1"/>
          </a:solidFill>
          <a:ln cap="flat" cmpd="sng" w="38100">
            <a:solidFill>
              <a:srgbClr val="0C0C0C"/>
            </a:solidFill>
            <a:prstDash val="solid"/>
            <a:round/>
            <a:headEnd len="sm" w="sm" type="none"/>
            <a:tailEnd len="sm" w="sm" type="none"/>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x</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1</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508" name="Google Shape;508;p125"/>
          <p:cNvSpPr txBox="1"/>
          <p:nvPr/>
        </p:nvSpPr>
        <p:spPr>
          <a:xfrm>
            <a:off x="3319467" y="1775608"/>
            <a:ext cx="489236" cy="480131"/>
          </a:xfrm>
          <a:prstGeom prst="rect">
            <a:avLst/>
          </a:prstGeom>
          <a:solidFill>
            <a:schemeClr val="lt1"/>
          </a:solidFill>
          <a:ln cap="flat" cmpd="sng" w="38100">
            <a:solidFill>
              <a:srgbClr val="0C0C0C"/>
            </a:solidFill>
            <a:prstDash val="solid"/>
            <a:round/>
            <a:headEnd len="sm" w="sm" type="none"/>
            <a:tailEnd len="sm" w="sm" type="none"/>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x</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2</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512" name="Google Shape;512;p125"/>
          <p:cNvSpPr txBox="1"/>
          <p:nvPr/>
        </p:nvSpPr>
        <p:spPr>
          <a:xfrm>
            <a:off x="2476380" y="1955646"/>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3</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sp>
        <p:nvSpPr>
          <p:cNvPr id="513" name="Google Shape;513;p125"/>
          <p:cNvSpPr txBox="1"/>
          <p:nvPr/>
        </p:nvSpPr>
        <p:spPr>
          <a:xfrm>
            <a:off x="3477291" y="2315764"/>
            <a:ext cx="577402" cy="480131"/>
          </a:xfrm>
          <a:prstGeom prst="rect">
            <a:avLst/>
          </a:prstGeom>
          <a:noFill/>
          <a:ln>
            <a:noFill/>
          </a:ln>
        </p:spPr>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Open Sans" panose="020B0603020202020204" pitchFamily="34" charset="0"/>
                <a:ea typeface="Noto Sans SC" panose="02010609060101010101" pitchFamily="49" charset="-122"/>
                <a:cs typeface="Open Sans"/>
              </a:rPr>
              <a:t>w</a:t>
            </a:r>
            <a:r>
              <a:rPr kumimoji="0" lang="en-US" altLang="zh-CN" sz="2800" b="0" i="0" u="none" strike="noStrike" kern="1200" cap="none" spc="0" normalizeH="0" baseline="-25000" noProof="0">
                <a:ln>
                  <a:noFill/>
                </a:ln>
                <a:solidFill>
                  <a:srgbClr val="000000"/>
                </a:solidFill>
                <a:effectLst/>
                <a:uLnTx/>
                <a:uFillTx/>
                <a:latin typeface="Open Sans" panose="020B0603020202020204" pitchFamily="34" charset="0"/>
                <a:ea typeface="Noto Sans SC" panose="02010609060101010101" pitchFamily="49" charset="-122"/>
                <a:cs typeface="Open Sans"/>
              </a:rPr>
              <a:t>4</a:t>
            </a:r>
            <a:endParaRPr kumimoji="0" lang="zh-CN" altLang="en-US" sz="2800" b="0" i="0" u="none" strike="noStrike" kern="1200" cap="none" spc="0" normalizeH="0" baseline="0" noProof="0" dirty="0">
              <a:ln>
                <a:noFill/>
              </a:ln>
              <a:solidFill>
                <a:srgbClr val="000000"/>
              </a:solidFill>
              <a:effectLst/>
              <a:uLnTx/>
              <a:uFillTx/>
              <a:latin typeface="Open Sans" panose="020B0603020202020204" pitchFamily="34" charset="0"/>
              <a:ea typeface="Noto Sans SC" panose="02010609060101010101" pitchFamily="49" charset="-122"/>
              <a:cs typeface="Open Sans"/>
            </a:endParaRPr>
          </a:p>
        </p:txBody>
      </p:sp>
      <p:grpSp>
        <p:nvGrpSpPr>
          <p:cNvPr id="514" name="Google Shape;514;p125"/>
          <p:cNvGrpSpPr/>
          <p:nvPr/>
        </p:nvGrpSpPr>
        <p:grpSpPr>
          <a:xfrm>
            <a:off x="1560035" y="2649666"/>
            <a:ext cx="803447" cy="820624"/>
            <a:chOff x="-39836" y="3224290"/>
            <a:chExt cx="803447" cy="820624"/>
          </a:xfrm>
        </p:grpSpPr>
        <p:sp>
          <p:nvSpPr>
            <p:cNvPr id="515" name="Google Shape;515;p125"/>
            <p:cNvSpPr/>
            <p:nvPr/>
          </p:nvSpPr>
          <p:spPr>
            <a:xfrm>
              <a:off x="-39835" y="3241467"/>
              <a:ext cx="803446" cy="803447"/>
            </a:xfrm>
            <a:prstGeom prst="rect">
              <a:avLst/>
            </a:prstGeom>
            <a:solidFill>
              <a:schemeClr val="lt2"/>
            </a:solidFill>
            <a:ln cap="flat" cmpd="sng" w="2540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pic>
          <p:nvPicPr>
            <p:cNvPr descr="Linear Graph" id="516" name="Google Shape;516;p125"/>
            <p:cNvPicPr preferRelativeResize="0"/>
            <p:nvPr/>
          </p:nvPicPr>
          <p:blipFill rotWithShape="1">
            <a:blip r:embed="rId4">
              <a:alphaModFix/>
            </a:blip>
            <a:srcRect b="0" l="0" r="0" t="0"/>
            <a:stretch/>
          </p:blipFill>
          <p:spPr>
            <a:xfrm>
              <a:off x="-39836" y="3224290"/>
              <a:ext cx="803447" cy="803447"/>
            </a:xfrm>
            <a:prstGeom prst="rect">
              <a:avLst/>
            </a:prstGeom>
            <a:noFill/>
            <a:ln>
              <a:noFill/>
            </a:ln>
          </p:spPr>
        </p:pic>
      </p:grpSp>
      <p:grpSp>
        <p:nvGrpSpPr>
          <p:cNvPr id="517" name="Google Shape;517;p125"/>
          <p:cNvGrpSpPr/>
          <p:nvPr/>
        </p:nvGrpSpPr>
        <p:grpSpPr>
          <a:xfrm>
            <a:off x="2806521" y="2639932"/>
            <a:ext cx="803447" cy="820624"/>
            <a:chOff x="-39836" y="3224290"/>
            <a:chExt cx="803447" cy="820624"/>
          </a:xfrm>
        </p:grpSpPr>
        <p:sp>
          <p:nvSpPr>
            <p:cNvPr id="518" name="Google Shape;518;p125"/>
            <p:cNvSpPr/>
            <p:nvPr/>
          </p:nvSpPr>
          <p:spPr>
            <a:xfrm>
              <a:off x="-39835" y="3241467"/>
              <a:ext cx="803446" cy="803447"/>
            </a:xfrm>
            <a:prstGeom prst="rect">
              <a:avLst/>
            </a:prstGeom>
            <a:solidFill>
              <a:schemeClr val="lt2"/>
            </a:solidFill>
            <a:ln cap="flat" cmpd="sng" w="2540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pic>
          <p:nvPicPr>
            <p:cNvPr descr="Linear Graph" id="519" name="Google Shape;519;p125"/>
            <p:cNvPicPr preferRelativeResize="0"/>
            <p:nvPr/>
          </p:nvPicPr>
          <p:blipFill rotWithShape="1">
            <a:blip r:embed="rId4">
              <a:alphaModFix/>
            </a:blip>
            <a:srcRect b="0" l="0" r="0" t="0"/>
            <a:stretch/>
          </p:blipFill>
          <p:spPr>
            <a:xfrm>
              <a:off x="-39836" y="3224290"/>
              <a:ext cx="803447" cy="803447"/>
            </a:xfrm>
            <a:prstGeom prst="rect">
              <a:avLst/>
            </a:prstGeom>
            <a:noFill/>
            <a:ln>
              <a:noFill/>
            </a:ln>
          </p:spPr>
        </p:pic>
      </p:grpSp>
      <p:grpSp>
        <p:nvGrpSpPr>
          <p:cNvPr id="520" name="Google Shape;520;p125"/>
          <p:cNvGrpSpPr/>
          <p:nvPr/>
        </p:nvGrpSpPr>
        <p:grpSpPr>
          <a:xfrm>
            <a:off x="2166676" y="3918953"/>
            <a:ext cx="803447" cy="820624"/>
            <a:chOff x="-39836" y="3224290"/>
            <a:chExt cx="803447" cy="820624"/>
          </a:xfrm>
        </p:grpSpPr>
        <p:sp>
          <p:nvSpPr>
            <p:cNvPr id="521" name="Google Shape;521;p125"/>
            <p:cNvSpPr/>
            <p:nvPr/>
          </p:nvSpPr>
          <p:spPr>
            <a:xfrm>
              <a:off x="-39835" y="3241467"/>
              <a:ext cx="803446" cy="803447"/>
            </a:xfrm>
            <a:prstGeom prst="rect">
              <a:avLst/>
            </a:prstGeom>
            <a:solidFill>
              <a:schemeClr val="lt2"/>
            </a:solidFill>
            <a:ln cap="flat" cmpd="sng" w="2540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pic>
          <p:nvPicPr>
            <p:cNvPr descr="Linear Graph" id="522" name="Google Shape;522;p125"/>
            <p:cNvPicPr preferRelativeResize="0"/>
            <p:nvPr/>
          </p:nvPicPr>
          <p:blipFill rotWithShape="1">
            <a:blip r:embed="rId4">
              <a:alphaModFix/>
            </a:blip>
            <a:srcRect b="0" l="0" r="0" t="0"/>
            <a:stretch/>
          </p:blipFill>
          <p:spPr>
            <a:xfrm>
              <a:off x="-39836" y="3224290"/>
              <a:ext cx="803447" cy="803447"/>
            </a:xfrm>
            <a:prstGeom prst="rect">
              <a:avLst/>
            </a:prstGeom>
            <a:noFill/>
            <a:ln>
              <a:noFill/>
            </a:ln>
          </p:spPr>
        </p:pic>
      </p:grpSp>
      <p:grpSp>
        <p:nvGrpSpPr>
          <p:cNvPr id="523" name="Google Shape;523;p125"/>
          <p:cNvGrpSpPr/>
          <p:nvPr/>
        </p:nvGrpSpPr>
        <p:grpSpPr>
          <a:xfrm>
            <a:off x="2166676" y="4987821"/>
            <a:ext cx="803447" cy="820624"/>
            <a:chOff x="-39836" y="3224290"/>
            <a:chExt cx="803447" cy="820624"/>
          </a:xfrm>
        </p:grpSpPr>
        <p:sp>
          <p:nvSpPr>
            <p:cNvPr id="524" name="Google Shape;524;p125"/>
            <p:cNvSpPr/>
            <p:nvPr/>
          </p:nvSpPr>
          <p:spPr>
            <a:xfrm>
              <a:off x="-39835" y="3241467"/>
              <a:ext cx="803446" cy="803447"/>
            </a:xfrm>
            <a:prstGeom prst="rect">
              <a:avLst/>
            </a:prstGeom>
            <a:solidFill>
              <a:schemeClr val="lt2"/>
            </a:solidFill>
            <a:ln cap="flat" cmpd="sng" w="2540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pic>
          <p:nvPicPr>
            <p:cNvPr descr="Linear Graph" id="525" name="Google Shape;525;p125"/>
            <p:cNvPicPr preferRelativeResize="0"/>
            <p:nvPr/>
          </p:nvPicPr>
          <p:blipFill rotWithShape="1">
            <a:blip r:embed="rId4">
              <a:alphaModFix/>
            </a:blip>
            <a:srcRect b="0" l="0" r="0" t="0"/>
            <a:stretch/>
          </p:blipFill>
          <p:spPr>
            <a:xfrm>
              <a:off x="-39836" y="3224290"/>
              <a:ext cx="803447" cy="803447"/>
            </a:xfrm>
            <a:prstGeom prst="rect">
              <a:avLst/>
            </a:prstGeom>
            <a:noFill/>
            <a:ln>
              <a:noFill/>
            </a:ln>
          </p:spPr>
        </p:pic>
      </p:grpSp>
      <p:sp>
        <p:nvSpPr>
          <p:cNvPr id="527"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构建网络</a:t>
            </a:r>
          </a:p>
        </p:txBody>
      </p:sp>
      <p:sp>
        <p:nvSpPr>
          <p:cNvPr id="528" name="Restored Content Placeholder 2"/>
          <p:cNvSpPr txBox="1"/>
          <p:nvPr/>
        </p:nvSpPr>
        <p:spPr>
          <a:xfrm>
            <a:off x="5686424" y="1943540"/>
            <a:ext cx="4778997" cy="3718925"/>
          </a:xfrm>
          <a:prstGeom prst="rect">
            <a:avLst/>
          </a:prstGeom>
          <a:noFill/>
        </p:spPr>
        <p:txBody>
          <a:bodyPr wrap="none" lIns="0" rIns="0" tIns="0" bIns="0" anchor="t">
            <a:spAutoFit/>
          </a:bodyPr>
          <a:lstStyle/>
          <a:p>
            <a:pPr algn="l" marL="342900" indent="-171450">
              <a:buChar char="•"/>
            </a:pPr>
            <a:r>
              <a:rPr sz="2600" b="0">
                <a:solidFill>
                  <a:srgbClr val="000000"/>
                </a:solidFill>
                <a:latin typeface="Noto Sans SC"/>
              </a:rPr>
              <a:t>扩充到更多的输入</a:t>
            </a:r>
          </a:p>
          <a:p>
            <a:pPr algn="l" marL="342900" indent="-171450">
              <a:buChar char="•"/>
            </a:pPr>
            <a:r>
              <a:rPr sz="2600" b="0">
                <a:solidFill>
                  <a:srgbClr val="000000"/>
                </a:solidFill>
                <a:latin typeface="Noto Sans SC"/>
              </a:rPr>
              <a:t>能够串联神经元</a:t>
            </a:r>
          </a:p>
          <a:p>
            <a:pPr algn="l" marL="342900" indent="-171450">
              <a:buChar char="•"/>
            </a:pPr>
            <a:r>
              <a:rPr sz="2600" b="0">
                <a:solidFill>
                  <a:srgbClr val="000000"/>
                </a:solidFill>
                <a:latin typeface="Noto Sans SC"/>
              </a:rPr>
              <a:t>如果所有回归均为线性</a:t>
            </a:r>
            <a:r>
              <a:rPr sz="2600" b="0">
                <a:solidFill>
                  <a:srgbClr val="000000"/>
                </a:solidFill>
                <a:latin typeface="Open Sans"/>
              </a:rPr>
              <a:t>
</a:t>
            </a:r>
            <a:r>
              <a:rPr sz="2600" b="0">
                <a:solidFill>
                  <a:srgbClr val="000000"/>
                </a:solidFill>
                <a:latin typeface="Noto Sans SC"/>
              </a:rPr>
              <a:t>回归</a:t>
            </a:r>
            <a:r>
              <a:rPr sz="2600" b="0">
                <a:solidFill>
                  <a:srgbClr val="000000"/>
                </a:solidFill>
                <a:latin typeface="Open Sans"/>
              </a:rPr>
              <a:t>，</a:t>
            </a:r>
            <a:r>
              <a:rPr sz="2600" b="0">
                <a:solidFill>
                  <a:srgbClr val="000000"/>
                </a:solidFill>
                <a:latin typeface="Noto Sans SC"/>
              </a:rPr>
              <a:t>输出也将为线性</a:t>
            </a:r>
            <a:r>
              <a:rPr sz="2600" b="0">
                <a:solidFill>
                  <a:srgbClr val="000000"/>
                </a:solidFill>
                <a:latin typeface="Open Sans"/>
              </a:rPr>
              <a:t>
</a:t>
            </a:r>
            <a:r>
              <a:rPr sz="2600" b="0">
                <a:solidFill>
                  <a:srgbClr val="000000"/>
                </a:solidFill>
                <a:latin typeface="Noto Sans SC"/>
              </a:rPr>
              <a:t>回归</a:t>
            </a:r>
          </a:p>
        </p:txBody>
      </p:sp>
      <p:sp xmlns:p="http://schemas.openxmlformats.org/presentationml/2006/main" xmlns:a="http://schemas.openxmlformats.org/drawingml/2006/main">
        <p:nvSpPr>
          <p:cNvPr id="52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29" name="Shape 529"/>
        <p:cNvGrpSpPr/>
        <p:nvPr/>
      </p:nvGrpSpPr>
      <p:grpSpPr>
        <a:xfrm>
          <a:off x="0" y="0"/>
          <a:ext cx="0" cy="0"/>
          <a:chOff x="0" y="0"/>
          <a:chExt cx="0" cy="0"/>
        </a:xfrm>
      </p:grpSpPr>
      <p:sp>
        <p:nvSpPr>
          <p:cNvPr id="530" name="Google Shape;530;p25"/>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激活函数</a:t>
            </a:r>
            <a:endParaRPr/>
          </a:p>
        </p:txBody>
      </p:sp>
      <p:sp xmlns:p="http://schemas.openxmlformats.org/presentationml/2006/main" xmlns:a="http://schemas.openxmlformats.org/drawingml/2006/main">
        <p:nvSpPr>
          <p:cNvPr id="53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34" name="Shape 534"/>
        <p:cNvGrpSpPr/>
        <p:nvPr/>
      </p:nvGrpSpPr>
      <p:grpSpPr>
        <a:xfrm>
          <a:off x="0" y="0"/>
          <a:ext cx="0" cy="0"/>
          <a:chOff x="0" y="0"/>
          <a:chExt cx="0" cy="0"/>
        </a:xfrm>
      </p:grpSpPr>
      <p:sp>
        <p:nvSpPr>
          <p:cNvPr id="535" name="Google Shape;535;p126"/>
          <p:cNvSpPr txBox="1"/>
          <p:nvPr/>
        </p:nvSpPr>
        <p:spPr>
          <a:xfrm>
            <a:off x="1422915" y="1479199"/>
            <a:ext cx="1724025" cy="341632"/>
          </a:xfrm>
          <a:prstGeom prst="rect">
            <a:avLst/>
          </a:prstGeom>
          <a:solidFill>
            <a:srgbClr val="33638D"/>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800"/>
              <a:buFont typeface="Open Sans"/>
              <a:buNone/>
            </a:pPr>
            <a:r>
              <a:rPr b="0" i="0" lang="en-US" sz="1800" u="none" cap="none" strike="noStrike">
                <a:solidFill>
                  <a:srgbClr val="FFFFFF"/>
                </a:solidFill>
                <a:latin typeface="Open Sans"/>
                <a:ea typeface="Noto Sans SC"/>
                <a:cs typeface="Open Sans"/>
                <a:sym typeface="Open Sans"/>
              </a:rPr>
              <a:t>Linear</a:t>
            </a:r>
            <a:endParaRPr b="0" i="0" sz="1800" u="none" cap="none" strike="noStrike">
              <a:solidFill>
                <a:srgbClr val="FFFFFF"/>
              </a:solidFill>
              <a:latin typeface="Open Sans"/>
              <a:ea typeface="Noto Sans SC"/>
              <a:cs typeface="Open Sans"/>
              <a:sym typeface="Open Sans"/>
            </a:endParaRPr>
          </a:p>
        </p:txBody>
      </p:sp>
      <p:sp>
        <p:nvSpPr>
          <p:cNvPr id="536" name="Google Shape;536;p126"/>
          <p:cNvSpPr txBox="1"/>
          <p:nvPr/>
        </p:nvSpPr>
        <p:spPr>
          <a:xfrm>
            <a:off x="7596184" y="1523617"/>
            <a:ext cx="1724025" cy="341632"/>
          </a:xfrm>
          <a:prstGeom prst="rect">
            <a:avLst/>
          </a:prstGeom>
          <a:solidFill>
            <a:srgbClr val="33638D"/>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800"/>
              <a:buFont typeface="Open Sans"/>
              <a:buNone/>
            </a:pPr>
            <a:r>
              <a:rPr b="0" i="0" lang="en-US" sz="1800" u="none" cap="none" strike="noStrike">
                <a:solidFill>
                  <a:srgbClr val="FFFFFF"/>
                </a:solidFill>
                <a:latin typeface="Open Sans"/>
                <a:ea typeface="Noto Sans SC"/>
                <a:cs typeface="Open Sans"/>
                <a:sym typeface="Open Sans"/>
              </a:rPr>
              <a:t>Sigmoid</a:t>
            </a:r>
            <a:endParaRPr b="0" i="0" sz="1800" u="none" cap="none" strike="noStrike">
              <a:solidFill>
                <a:srgbClr val="FFFFFF"/>
              </a:solidFill>
              <a:latin typeface="Open Sans"/>
              <a:ea typeface="Noto Sans SC"/>
              <a:cs typeface="Open Sans"/>
              <a:sym typeface="Open Sans"/>
            </a:endParaRPr>
          </a:p>
        </p:txBody>
      </p:sp>
      <p:graphicFrame>
        <p:nvGraphicFramePr>
          <p:cNvPr id="537" name="Google Shape;537;p126"/>
          <p:cNvGraphicFramePr/>
          <p:nvPr/>
        </p:nvGraphicFramePr>
        <p:xfrm>
          <a:off x="631390" y="3827638"/>
          <a:ext cx="2945123" cy="1692626"/>
        </p:xfrm>
        <a:graphic>
          <a:graphicData uri="http://schemas.openxmlformats.org/drawingml/2006/chart">
            <c:chart r:id="rId3"/>
          </a:graphicData>
        </a:graphic>
      </p:graphicFrame>
      <p:graphicFrame>
        <p:nvGraphicFramePr>
          <p:cNvPr id="538" name="Google Shape;538;p126"/>
          <p:cNvGraphicFramePr/>
          <p:nvPr/>
        </p:nvGraphicFramePr>
        <p:xfrm>
          <a:off x="3859530" y="3846688"/>
          <a:ext cx="2945123" cy="1692626"/>
        </p:xfrm>
        <a:graphic>
          <a:graphicData uri="http://schemas.openxmlformats.org/drawingml/2006/chart">
            <c:chart r:id="rId4"/>
          </a:graphicData>
        </a:graphic>
      </p:graphicFrame>
      <p:sp>
        <p:nvSpPr>
          <p:cNvPr id="539" name="Google Shape;539;p126"/>
          <p:cNvSpPr txBox="1"/>
          <p:nvPr/>
        </p:nvSpPr>
        <p:spPr>
          <a:xfrm>
            <a:off x="4509549" y="1492043"/>
            <a:ext cx="1724025" cy="341632"/>
          </a:xfrm>
          <a:prstGeom prst="rect">
            <a:avLst/>
          </a:prstGeom>
          <a:solidFill>
            <a:srgbClr val="33638D"/>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800"/>
              <a:buFont typeface="Open Sans"/>
              <a:buNone/>
            </a:pPr>
            <a:r>
              <a:rPr b="0" i="0" lang="en-US" sz="1800" u="none" cap="none" strike="noStrike">
                <a:solidFill>
                  <a:srgbClr val="FFFFFF"/>
                </a:solidFill>
                <a:latin typeface="Open Sans"/>
                <a:ea typeface="Noto Sans SC"/>
                <a:cs typeface="Open Sans"/>
                <a:sym typeface="Open Sans"/>
              </a:rPr>
              <a:t>ReLU</a:t>
            </a:r>
            <a:endParaRPr b="0" i="0" sz="1800" u="none" cap="none" strike="noStrike">
              <a:solidFill>
                <a:srgbClr val="FFFFFF"/>
              </a:solidFill>
              <a:latin typeface="Open Sans"/>
              <a:ea typeface="Noto Sans SC"/>
              <a:cs typeface="Open Sans"/>
              <a:sym typeface="Open Sans"/>
            </a:endParaRPr>
          </a:p>
        </p:txBody>
      </p:sp>
      <p:graphicFrame>
        <p:nvGraphicFramePr>
          <p:cNvPr id="540" name="Google Shape;540;p126"/>
          <p:cNvGraphicFramePr/>
          <p:nvPr/>
        </p:nvGraphicFramePr>
        <p:xfrm>
          <a:off x="7087670" y="3846688"/>
          <a:ext cx="2945123" cy="1692626"/>
        </p:xfrm>
        <a:graphic>
          <a:graphicData uri="http://schemas.openxmlformats.org/drawingml/2006/chart">
            <c:chart r:id="rId5"/>
          </a:graphicData>
        </a:graphic>
      </p:graphicFrame>
      <p:pic>
        <p:nvPicPr>
          <p:cNvPr id="541" name="Google Shape;541;p126"/>
          <p:cNvPicPr preferRelativeResize="0"/>
          <p:nvPr/>
        </p:nvPicPr>
        <p:blipFill rotWithShape="1">
          <a:blip r:embed="rId6">
            <a:alphaModFix/>
          </a:blip>
          <a:srcRect b="74838" l="0" r="82135" t="16757"/>
          <a:stretch/>
        </p:blipFill>
        <p:spPr>
          <a:xfrm>
            <a:off x="631389" y="2792212"/>
            <a:ext cx="2953409" cy="781675"/>
          </a:xfrm>
          <a:prstGeom prst="rect">
            <a:avLst/>
          </a:prstGeom>
          <a:noFill/>
          <a:ln>
            <a:noFill/>
          </a:ln>
        </p:spPr>
      </p:pic>
      <p:pic>
        <p:nvPicPr>
          <p:cNvPr id="542" name="Google Shape;542;p126"/>
          <p:cNvPicPr preferRelativeResize="0"/>
          <p:nvPr/>
        </p:nvPicPr>
        <p:blipFill rotWithShape="1">
          <a:blip r:embed="rId7">
            <a:alphaModFix/>
          </a:blip>
          <a:srcRect b="71019" l="0" r="77646" t="16863"/>
          <a:stretch/>
        </p:blipFill>
        <p:spPr>
          <a:xfrm>
            <a:off x="7087670" y="2764062"/>
            <a:ext cx="2953408" cy="900642"/>
          </a:xfrm>
          <a:prstGeom prst="rect">
            <a:avLst/>
          </a:prstGeom>
          <a:noFill/>
          <a:ln>
            <a:noFill/>
          </a:ln>
        </p:spPr>
      </p:pic>
      <p:pic>
        <p:nvPicPr>
          <p:cNvPr id="543" name="Google Shape;543;p126"/>
          <p:cNvPicPr preferRelativeResize="0"/>
          <p:nvPr/>
        </p:nvPicPr>
        <p:blipFill rotWithShape="1">
          <a:blip r:embed="rId8">
            <a:alphaModFix/>
          </a:blip>
          <a:srcRect b="74705" l="0" r="81548" t="17205"/>
          <a:stretch/>
        </p:blipFill>
        <p:spPr>
          <a:xfrm>
            <a:off x="3810644" y="2839212"/>
            <a:ext cx="3042894" cy="750342"/>
          </a:xfrm>
          <a:prstGeom prst="rect">
            <a:avLst/>
          </a:prstGeom>
          <a:noFill/>
          <a:ln>
            <a:noFill/>
          </a:ln>
        </p:spPr>
      </p:pic>
      <p:sp>
        <p:nvSpPr>
          <p:cNvPr id="544" name="Google Shape;544;p126"/>
          <p:cNvSpPr txBox="1"/>
          <p:nvPr/>
        </p:nvSpPr>
        <p:spPr>
          <a:xfrm>
            <a:off x="1165745" y="2150663"/>
            <a:ext cx="1876411" cy="387798"/>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545" name="Google Shape;545;p126"/>
          <p:cNvSpPr txBox="1"/>
          <p:nvPr/>
        </p:nvSpPr>
        <p:spPr>
          <a:xfrm>
            <a:off x="3921227" y="2061661"/>
            <a:ext cx="3130344" cy="617861"/>
          </a:xfrm>
          <a:prstGeom prst="rect">
            <a:avLst/>
          </a:prstGeom>
          <a:blipFill rotWithShape="1">
            <a:blip r:embed="rId10">
              <a:alphaModFix/>
            </a:blip>
            <a:stretch>
              <a:fillRect b="-980" l="0" r="0" t="-39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546" name="Google Shape;546;p126"/>
          <p:cNvSpPr txBox="1"/>
          <p:nvPr/>
        </p:nvSpPr>
        <p:spPr>
          <a:xfrm>
            <a:off x="7443334" y="2061661"/>
            <a:ext cx="2029723" cy="529632"/>
          </a:xfrm>
          <a:prstGeom prst="rect">
            <a:avLst/>
          </a:prstGeom>
          <a:blipFill rotWithShape="1">
            <a:blip r:embed="rId11">
              <a:alphaModFix/>
            </a:blip>
            <a:stretch>
              <a:fillRect b="-2299" l="0" r="0" t="-11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548"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激活函数</a:t>
            </a:r>
          </a:p>
        </p:txBody>
      </p:sp>
      <p:sp xmlns:p="http://schemas.openxmlformats.org/presentationml/2006/main" xmlns:a="http://schemas.openxmlformats.org/drawingml/2006/main">
        <p:nvSpPr>
          <p:cNvPr id="54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50" name="Shape 550"/>
        <p:cNvGrpSpPr/>
        <p:nvPr/>
      </p:nvGrpSpPr>
      <p:grpSpPr>
        <a:xfrm>
          <a:off x="0" y="0"/>
          <a:ext cx="0" cy="0"/>
          <a:chOff x="0" y="0"/>
          <a:chExt cx="0" cy="0"/>
        </a:xfrm>
      </p:grpSpPr>
      <p:sp>
        <p:nvSpPr>
          <p:cNvPr id="551" name="Google Shape;551;p27"/>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激活函数</a:t>
            </a:r>
            <a:endParaRPr b="1" i="0" sz="3600" u="none" cap="none" strike="noStrike">
              <a:solidFill>
                <a:schemeClr val="dk2"/>
              </a:solidFill>
              <a:latin typeface="Open Sans"/>
              <a:ea typeface="Noto Sans SC"/>
              <a:cs typeface="Open Sans"/>
              <a:sym typeface="Open Sans"/>
            </a:endParaRPr>
          </a:p>
        </p:txBody>
      </p:sp>
      <p:sp>
        <p:nvSpPr>
          <p:cNvPr id="552" name="Google Shape;552;p27"/>
          <p:cNvSpPr txBox="1"/>
          <p:nvPr/>
        </p:nvSpPr>
        <p:spPr>
          <a:xfrm>
            <a:off x="1422915" y="1479199"/>
            <a:ext cx="1724025" cy="341632"/>
          </a:xfrm>
          <a:prstGeom prst="rect">
            <a:avLst/>
          </a:prstGeom>
          <a:solidFill>
            <a:srgbClr val="33638D"/>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lt1"/>
                </a:solidFill>
                <a:latin typeface="Open Sans"/>
                <a:ea typeface="Noto Sans SC"/>
                <a:cs typeface="Open Sans"/>
                <a:sym typeface="Open Sans"/>
              </a:rPr>
              <a:t>Linear</a:t>
            </a:r>
            <a:endParaRPr b="0" i="0" sz="1800" u="none" cap="none" strike="noStrike">
              <a:solidFill>
                <a:schemeClr val="lt1"/>
              </a:solidFill>
              <a:latin typeface="Open Sans"/>
              <a:ea typeface="Noto Sans SC"/>
              <a:cs typeface="Open Sans"/>
              <a:sym typeface="Open Sans"/>
            </a:endParaRPr>
          </a:p>
        </p:txBody>
      </p:sp>
      <p:sp>
        <p:nvSpPr>
          <p:cNvPr id="553" name="Google Shape;553;p27"/>
          <p:cNvSpPr txBox="1"/>
          <p:nvPr/>
        </p:nvSpPr>
        <p:spPr>
          <a:xfrm>
            <a:off x="4509549" y="1492043"/>
            <a:ext cx="1724025" cy="341632"/>
          </a:xfrm>
          <a:prstGeom prst="rect">
            <a:avLst/>
          </a:prstGeom>
          <a:solidFill>
            <a:srgbClr val="33638D"/>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lt1"/>
                </a:solidFill>
                <a:latin typeface="Open Sans"/>
                <a:ea typeface="Noto Sans SC"/>
                <a:cs typeface="Open Sans"/>
                <a:sym typeface="Open Sans"/>
              </a:rPr>
              <a:t>ReLU</a:t>
            </a:r>
            <a:endParaRPr b="0" i="0" sz="1800" u="none" cap="none" strike="noStrike">
              <a:solidFill>
                <a:schemeClr val="lt1"/>
              </a:solidFill>
              <a:latin typeface="Open Sans"/>
              <a:ea typeface="Noto Sans SC"/>
              <a:cs typeface="Open Sans"/>
              <a:sym typeface="Open Sans"/>
            </a:endParaRPr>
          </a:p>
        </p:txBody>
      </p:sp>
      <p:sp>
        <p:nvSpPr>
          <p:cNvPr id="554" name="Google Shape;554;p27"/>
          <p:cNvSpPr txBox="1"/>
          <p:nvPr/>
        </p:nvSpPr>
        <p:spPr>
          <a:xfrm>
            <a:off x="7596184" y="1523617"/>
            <a:ext cx="1724025" cy="341632"/>
          </a:xfrm>
          <a:prstGeom prst="rect">
            <a:avLst/>
          </a:prstGeom>
          <a:solidFill>
            <a:srgbClr val="33638D"/>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lt1"/>
                </a:solidFill>
                <a:latin typeface="Open Sans"/>
                <a:ea typeface="Noto Sans SC"/>
                <a:cs typeface="Open Sans"/>
                <a:sym typeface="Open Sans"/>
              </a:rPr>
              <a:t>Sigmoid</a:t>
            </a:r>
            <a:endParaRPr b="0" i="0" sz="1800" u="none" cap="none" strike="noStrike">
              <a:solidFill>
                <a:schemeClr val="lt1"/>
              </a:solidFill>
              <a:latin typeface="Open Sans"/>
              <a:ea typeface="Noto Sans SC"/>
              <a:cs typeface="Open Sans"/>
              <a:sym typeface="Open Sans"/>
            </a:endParaRPr>
          </a:p>
        </p:txBody>
      </p:sp>
      <p:pic>
        <p:nvPicPr>
          <p:cNvPr id="555" name="Google Shape;555;p27"/>
          <p:cNvPicPr preferRelativeResize="0"/>
          <p:nvPr/>
        </p:nvPicPr>
        <p:blipFill rotWithShape="1">
          <a:blip r:embed="rId3">
            <a:alphaModFix/>
          </a:blip>
          <a:srcRect b="29629" l="32551" r="44011" t="37037"/>
          <a:stretch/>
        </p:blipFill>
        <p:spPr>
          <a:xfrm>
            <a:off x="7533016" y="2067662"/>
            <a:ext cx="2571751" cy="2057398"/>
          </a:xfrm>
          <a:prstGeom prst="rect">
            <a:avLst/>
          </a:prstGeom>
          <a:noFill/>
          <a:ln>
            <a:noFill/>
          </a:ln>
        </p:spPr>
      </p:pic>
      <p:pic>
        <p:nvPicPr>
          <p:cNvPr id="556" name="Google Shape;556;p27"/>
          <p:cNvPicPr preferRelativeResize="0"/>
          <p:nvPr/>
        </p:nvPicPr>
        <p:blipFill rotWithShape="1">
          <a:blip r:embed="rId4">
            <a:alphaModFix/>
          </a:blip>
          <a:srcRect b="25617" l="31664" r="36458" t="37037"/>
          <a:stretch/>
        </p:blipFill>
        <p:spPr>
          <a:xfrm>
            <a:off x="7329488" y="4195985"/>
            <a:ext cx="2726287" cy="1796612"/>
          </a:xfrm>
          <a:prstGeom prst="rect">
            <a:avLst/>
          </a:prstGeom>
          <a:noFill/>
          <a:ln>
            <a:noFill/>
          </a:ln>
        </p:spPr>
      </p:pic>
      <p:pic>
        <p:nvPicPr>
          <p:cNvPr id="557" name="Google Shape;557;p27"/>
          <p:cNvPicPr preferRelativeResize="0"/>
          <p:nvPr/>
        </p:nvPicPr>
        <p:blipFill rotWithShape="1">
          <a:blip r:embed="rId5">
            <a:alphaModFix/>
          </a:blip>
          <a:srcRect b="26080" l="31348" r="37413" t="36573"/>
          <a:stretch/>
        </p:blipFill>
        <p:spPr>
          <a:xfrm>
            <a:off x="929607" y="4279189"/>
            <a:ext cx="2547934" cy="1713408"/>
          </a:xfrm>
          <a:prstGeom prst="rect">
            <a:avLst/>
          </a:prstGeom>
          <a:noFill/>
          <a:ln>
            <a:noFill/>
          </a:ln>
        </p:spPr>
      </p:pic>
      <p:pic>
        <p:nvPicPr>
          <p:cNvPr id="558" name="Google Shape;558;p27"/>
          <p:cNvPicPr preferRelativeResize="0"/>
          <p:nvPr/>
        </p:nvPicPr>
        <p:blipFill rotWithShape="1">
          <a:blip r:embed="rId6">
            <a:alphaModFix/>
          </a:blip>
          <a:srcRect b="29947" l="31691" r="44075" t="37963"/>
          <a:stretch/>
        </p:blipFill>
        <p:spPr>
          <a:xfrm>
            <a:off x="1081603" y="2106052"/>
            <a:ext cx="2658970" cy="1980619"/>
          </a:xfrm>
          <a:prstGeom prst="rect">
            <a:avLst/>
          </a:prstGeom>
          <a:noFill/>
          <a:ln>
            <a:noFill/>
          </a:ln>
        </p:spPr>
      </p:pic>
      <p:pic>
        <p:nvPicPr>
          <p:cNvPr id="559" name="Google Shape;559;p27"/>
          <p:cNvPicPr preferRelativeResize="0"/>
          <p:nvPr/>
        </p:nvPicPr>
        <p:blipFill rotWithShape="1">
          <a:blip r:embed="rId7">
            <a:alphaModFix/>
          </a:blip>
          <a:srcRect b="17480" l="31691" r="37149" t="46383"/>
          <a:stretch/>
        </p:blipFill>
        <p:spPr>
          <a:xfrm>
            <a:off x="4090329" y="4279189"/>
            <a:ext cx="2626372" cy="1713408"/>
          </a:xfrm>
          <a:prstGeom prst="rect">
            <a:avLst/>
          </a:prstGeom>
          <a:noFill/>
          <a:ln>
            <a:noFill/>
          </a:ln>
        </p:spPr>
      </p:pic>
      <p:pic>
        <p:nvPicPr>
          <p:cNvPr id="560" name="Google Shape;560;p27"/>
          <p:cNvPicPr preferRelativeResize="0"/>
          <p:nvPr/>
        </p:nvPicPr>
        <p:blipFill rotWithShape="1">
          <a:blip r:embed="rId8">
            <a:alphaModFix/>
          </a:blip>
          <a:srcRect b="34540" l="32235" r="44980" t="33928"/>
          <a:stretch/>
        </p:blipFill>
        <p:spPr>
          <a:xfrm>
            <a:off x="4338737" y="2123284"/>
            <a:ext cx="2500213" cy="1946155"/>
          </a:xfrm>
          <a:prstGeom prst="rect">
            <a:avLst/>
          </a:prstGeom>
          <a:noFill/>
          <a:ln>
            <a:noFill/>
          </a:ln>
        </p:spPr>
      </p:pic>
      <p:sp xmlns:p="http://schemas.openxmlformats.org/presentationml/2006/main" xmlns:a="http://schemas.openxmlformats.org/drawingml/2006/main">
        <p:nvSpPr>
          <p:cNvPr id="56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64" name="Shape 564"/>
        <p:cNvGrpSpPr/>
        <p:nvPr/>
      </p:nvGrpSpPr>
      <p:grpSpPr>
        <a:xfrm>
          <a:off x="0" y="0"/>
          <a:ext cx="0" cy="0"/>
          <a:chOff x="0" y="0"/>
          <a:chExt cx="0" cy="0"/>
        </a:xfrm>
      </p:grpSpPr>
      <p:cxnSp>
        <p:nvCxnSpPr>
          <p:cNvPr id="565" name="Google Shape;565;p127"/>
          <p:cNvCxnSpPr>
            <a:stCxn id="566" idx="2"/>
          </p:cNvCxnSpPr>
          <p:nvPr/>
        </p:nvCxnSpPr>
        <p:spPr>
          <a:xfrm>
            <a:off x="5549594" y="3554883"/>
            <a:ext cx="1032300" cy="311400"/>
          </a:xfrm>
          <a:prstGeom prst="straightConnector1">
            <a:avLst/>
          </a:prstGeom>
          <a:noFill/>
          <a:ln cap="flat" cmpd="sng" w="76200">
            <a:solidFill>
              <a:schemeClr val="accent4"/>
            </a:solidFill>
            <a:prstDash val="solid"/>
            <a:round/>
            <a:headEnd len="sm" w="sm" type="none"/>
            <a:tailEnd len="med" w="med" type="triangle"/>
          </a:ln>
        </p:spPr>
      </p:cxnSp>
      <p:cxnSp>
        <p:nvCxnSpPr>
          <p:cNvPr id="567" name="Google Shape;567;p127"/>
          <p:cNvCxnSpPr>
            <a:stCxn id="568" idx="2"/>
          </p:cNvCxnSpPr>
          <p:nvPr/>
        </p:nvCxnSpPr>
        <p:spPr>
          <a:xfrm flipH="1">
            <a:off x="7913426" y="3554884"/>
            <a:ext cx="1018800" cy="311400"/>
          </a:xfrm>
          <a:prstGeom prst="straightConnector1">
            <a:avLst/>
          </a:prstGeom>
          <a:noFill/>
          <a:ln cap="flat" cmpd="sng" w="76200">
            <a:solidFill>
              <a:schemeClr val="accent4"/>
            </a:solidFill>
            <a:prstDash val="solid"/>
            <a:round/>
            <a:headEnd len="sm" w="sm" type="none"/>
            <a:tailEnd len="med" w="med" type="triangle"/>
          </a:ln>
        </p:spPr>
      </p:cxnSp>
      <p:graphicFrame>
        <p:nvGraphicFramePr>
          <p:cNvPr id="566" name="Google Shape;566;p127"/>
          <p:cNvGraphicFramePr/>
          <p:nvPr/>
        </p:nvGraphicFramePr>
        <p:xfrm>
          <a:off x="4429125" y="2166482"/>
          <a:ext cx="2240937" cy="1388401"/>
        </p:xfrm>
        <a:graphic>
          <a:graphicData uri="http://schemas.openxmlformats.org/drawingml/2006/chart">
            <c:chart r:id="rId3"/>
          </a:graphicData>
        </a:graphic>
      </p:graphicFrame>
      <p:graphicFrame>
        <p:nvGraphicFramePr>
          <p:cNvPr id="568" name="Google Shape;568;p127"/>
          <p:cNvGraphicFramePr/>
          <p:nvPr/>
        </p:nvGraphicFramePr>
        <p:xfrm>
          <a:off x="7766413" y="2166482"/>
          <a:ext cx="2331626" cy="1388402"/>
        </p:xfrm>
        <a:graphic>
          <a:graphicData uri="http://schemas.openxmlformats.org/drawingml/2006/chart">
            <c:chart r:id="rId4"/>
          </a:graphicData>
        </a:graphic>
      </p:graphicFrame>
      <p:graphicFrame>
        <p:nvGraphicFramePr>
          <p:cNvPr id="569" name="Google Shape;569;p127"/>
          <p:cNvGraphicFramePr/>
          <p:nvPr/>
        </p:nvGraphicFramePr>
        <p:xfrm>
          <a:off x="6105525" y="3866394"/>
          <a:ext cx="2331626" cy="1388402"/>
        </p:xfrm>
        <a:graphic>
          <a:graphicData uri="http://schemas.openxmlformats.org/drawingml/2006/chart">
            <c:chart r:id="rId5"/>
          </a:graphicData>
        </a:graphic>
      </p:graphicFrame>
      <p:cxnSp>
        <p:nvCxnSpPr>
          <p:cNvPr id="570" name="Google Shape;570;p127"/>
          <p:cNvCxnSpPr>
            <a:endCxn id="571" idx="2"/>
          </p:cNvCxnSpPr>
          <p:nvPr/>
        </p:nvCxnSpPr>
        <p:spPr>
          <a:xfrm>
            <a:off x="2033272" y="3209264"/>
            <a:ext cx="585900" cy="871200"/>
          </a:xfrm>
          <a:prstGeom prst="straightConnector1">
            <a:avLst/>
          </a:prstGeom>
          <a:noFill/>
          <a:ln cap="flat" cmpd="sng" w="76200">
            <a:solidFill>
              <a:schemeClr val="accent4"/>
            </a:solidFill>
            <a:prstDash val="solid"/>
            <a:round/>
            <a:headEnd len="sm" w="sm" type="none"/>
            <a:tailEnd len="med" w="med" type="triangle"/>
          </a:ln>
        </p:spPr>
      </p:cxnSp>
      <p:cxnSp>
        <p:nvCxnSpPr>
          <p:cNvPr id="572" name="Google Shape;572;p127"/>
          <p:cNvCxnSpPr>
            <a:stCxn id="571" idx="6"/>
          </p:cNvCxnSpPr>
          <p:nvPr/>
        </p:nvCxnSpPr>
        <p:spPr>
          <a:xfrm>
            <a:off x="2619172" y="4560595"/>
            <a:ext cx="0" cy="797100"/>
          </a:xfrm>
          <a:prstGeom prst="straightConnector1">
            <a:avLst/>
          </a:prstGeom>
          <a:noFill/>
          <a:ln cap="flat" cmpd="sng" w="76200">
            <a:solidFill>
              <a:schemeClr val="accent4"/>
            </a:solidFill>
            <a:prstDash val="solid"/>
            <a:round/>
            <a:headEnd len="sm" w="sm" type="none"/>
            <a:tailEnd len="med" w="med" type="triangle"/>
          </a:ln>
        </p:spPr>
      </p:cxnSp>
      <p:sp>
        <p:nvSpPr>
          <p:cNvPr id="573" name="Google Shape;573;p127"/>
          <p:cNvSpPr txBox="1"/>
          <p:nvPr/>
        </p:nvSpPr>
        <p:spPr>
          <a:xfrm>
            <a:off x="2776115" y="4560595"/>
            <a:ext cx="469744" cy="480131"/>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574" name="Google Shape;574;p127"/>
          <p:cNvSpPr txBox="1"/>
          <p:nvPr/>
        </p:nvSpPr>
        <p:spPr>
          <a:xfrm>
            <a:off x="3010987" y="3404731"/>
            <a:ext cx="577402"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4</a:t>
            </a:r>
            <a:endParaRPr b="0" i="0" sz="2800" u="none" cap="none" strike="noStrike">
              <a:solidFill>
                <a:srgbClr val="000000"/>
              </a:solidFill>
              <a:latin typeface="Open Sans"/>
              <a:ea typeface="Noto Sans SC"/>
              <a:cs typeface="Open Sans"/>
              <a:sym typeface="Open Sans"/>
            </a:endParaRPr>
          </a:p>
        </p:txBody>
      </p:sp>
      <p:sp>
        <p:nvSpPr>
          <p:cNvPr id="571" name="Google Shape;571;p127"/>
          <p:cNvSpPr/>
          <p:nvPr/>
        </p:nvSpPr>
        <p:spPr>
          <a:xfrm rot="5400000">
            <a:off x="2379106" y="4081927"/>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575" name="Google Shape;575;p127"/>
          <p:cNvCxnSpPr>
            <a:endCxn id="571" idx="2"/>
          </p:cNvCxnSpPr>
          <p:nvPr/>
        </p:nvCxnSpPr>
        <p:spPr>
          <a:xfrm flipH="1">
            <a:off x="2619172" y="3209264"/>
            <a:ext cx="566700" cy="871200"/>
          </a:xfrm>
          <a:prstGeom prst="straightConnector1">
            <a:avLst/>
          </a:prstGeom>
          <a:noFill/>
          <a:ln cap="flat" cmpd="sng" w="76200">
            <a:solidFill>
              <a:schemeClr val="accent4"/>
            </a:solidFill>
            <a:prstDash val="solid"/>
            <a:round/>
            <a:headEnd len="sm" w="sm" type="none"/>
            <a:tailEnd len="med" w="med" type="triangle"/>
          </a:ln>
        </p:spPr>
      </p:cxnSp>
      <p:sp>
        <p:nvSpPr>
          <p:cNvPr id="576" name="Google Shape;576;p127"/>
          <p:cNvSpPr txBox="1"/>
          <p:nvPr/>
        </p:nvSpPr>
        <p:spPr>
          <a:xfrm>
            <a:off x="1744586" y="3404731"/>
            <a:ext cx="577402"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3</a:t>
            </a:r>
            <a:endParaRPr b="0" i="0" sz="2800" u="none" cap="none" strike="noStrike">
              <a:solidFill>
                <a:srgbClr val="000000"/>
              </a:solidFill>
              <a:latin typeface="Open Sans"/>
              <a:ea typeface="Noto Sans SC"/>
              <a:cs typeface="Open Sans"/>
              <a:sym typeface="Open Sans"/>
            </a:endParaRPr>
          </a:p>
        </p:txBody>
      </p:sp>
      <p:sp>
        <p:nvSpPr>
          <p:cNvPr id="577" name="Google Shape;577;p127"/>
          <p:cNvSpPr/>
          <p:nvPr/>
        </p:nvSpPr>
        <p:spPr>
          <a:xfrm rot="5400000">
            <a:off x="1758646" y="2730461"/>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78" name="Google Shape;578;p127"/>
          <p:cNvSpPr/>
          <p:nvPr/>
        </p:nvSpPr>
        <p:spPr>
          <a:xfrm rot="5400000">
            <a:off x="2969297" y="2730460"/>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579" name="Google Shape;579;p127"/>
          <p:cNvCxnSpPr>
            <a:stCxn id="580" idx="2"/>
            <a:endCxn id="577" idx="2"/>
          </p:cNvCxnSpPr>
          <p:nvPr/>
        </p:nvCxnSpPr>
        <p:spPr>
          <a:xfrm flipH="1">
            <a:off x="1998756" y="2399271"/>
            <a:ext cx="614400" cy="329700"/>
          </a:xfrm>
          <a:prstGeom prst="straightConnector1">
            <a:avLst/>
          </a:prstGeom>
          <a:noFill/>
          <a:ln cap="flat" cmpd="sng" w="76200">
            <a:solidFill>
              <a:schemeClr val="accent4"/>
            </a:solidFill>
            <a:prstDash val="solid"/>
            <a:round/>
            <a:headEnd len="sm" w="sm" type="none"/>
            <a:tailEnd len="med" w="med" type="triangle"/>
          </a:ln>
        </p:spPr>
      </p:cxnSp>
      <p:cxnSp>
        <p:nvCxnSpPr>
          <p:cNvPr id="581" name="Google Shape;581;p127"/>
          <p:cNvCxnSpPr>
            <a:stCxn id="580" idx="2"/>
            <a:endCxn id="578" idx="2"/>
          </p:cNvCxnSpPr>
          <p:nvPr/>
        </p:nvCxnSpPr>
        <p:spPr>
          <a:xfrm>
            <a:off x="2613156" y="2399271"/>
            <a:ext cx="596100" cy="329700"/>
          </a:xfrm>
          <a:prstGeom prst="straightConnector1">
            <a:avLst/>
          </a:prstGeom>
          <a:noFill/>
          <a:ln cap="flat" cmpd="sng" w="76200">
            <a:solidFill>
              <a:schemeClr val="accent4"/>
            </a:solidFill>
            <a:prstDash val="solid"/>
            <a:round/>
            <a:headEnd len="sm" w="sm" type="none"/>
            <a:tailEnd len="med" w="med" type="triangle"/>
          </a:ln>
        </p:spPr>
      </p:cxnSp>
      <p:sp>
        <p:nvSpPr>
          <p:cNvPr id="582" name="Google Shape;582;p127"/>
          <p:cNvSpPr txBox="1"/>
          <p:nvPr/>
        </p:nvSpPr>
        <p:spPr>
          <a:xfrm>
            <a:off x="1559132" y="2166482"/>
            <a:ext cx="577402"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1</a:t>
            </a:r>
            <a:endParaRPr b="0" i="0" sz="2800" u="none" cap="none" strike="noStrike">
              <a:solidFill>
                <a:srgbClr val="000000"/>
              </a:solidFill>
              <a:latin typeface="Open Sans"/>
              <a:ea typeface="Noto Sans SC"/>
              <a:cs typeface="Open Sans"/>
              <a:sym typeface="Open Sans"/>
            </a:endParaRPr>
          </a:p>
        </p:txBody>
      </p:sp>
      <p:sp>
        <p:nvSpPr>
          <p:cNvPr id="583" name="Google Shape;583;p127"/>
          <p:cNvSpPr txBox="1"/>
          <p:nvPr/>
        </p:nvSpPr>
        <p:spPr>
          <a:xfrm>
            <a:off x="3039963" y="2159204"/>
            <a:ext cx="577402"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2</a:t>
            </a:r>
            <a:endParaRPr b="0" i="0" sz="2800" u="none" cap="none" strike="noStrike">
              <a:solidFill>
                <a:srgbClr val="000000"/>
              </a:solidFill>
              <a:latin typeface="Open Sans"/>
              <a:ea typeface="Noto Sans SC"/>
              <a:cs typeface="Open Sans"/>
              <a:sym typeface="Open Sans"/>
            </a:endParaRPr>
          </a:p>
        </p:txBody>
      </p:sp>
      <p:sp>
        <p:nvSpPr>
          <p:cNvPr id="580" name="Google Shape;580;p127"/>
          <p:cNvSpPr txBox="1"/>
          <p:nvPr/>
        </p:nvSpPr>
        <p:spPr>
          <a:xfrm>
            <a:off x="2368538" y="1919140"/>
            <a:ext cx="489236" cy="480131"/>
          </a:xfrm>
          <a:prstGeom prst="rect">
            <a:avLst/>
          </a:prstGeom>
          <a:solidFill>
            <a:schemeClr val="lt1"/>
          </a:solidFill>
          <a:ln cap="flat" cmpd="sng" w="38100">
            <a:solidFill>
              <a:srgbClr val="0C0C0C"/>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x</a:t>
            </a:r>
            <a:r>
              <a:rPr b="0" baseline="-25000" i="0" lang="en-US" sz="2800" u="none" cap="none" strike="noStrike">
                <a:solidFill>
                  <a:srgbClr val="000000"/>
                </a:solidFill>
                <a:latin typeface="Open Sans"/>
                <a:ea typeface="Noto Sans SC"/>
                <a:cs typeface="Open Sans"/>
                <a:sym typeface="Open Sans"/>
              </a:rPr>
              <a:t>1</a:t>
            </a:r>
            <a:endParaRPr b="0" i="0" sz="2800" u="none" cap="none" strike="noStrike">
              <a:solidFill>
                <a:srgbClr val="000000"/>
              </a:solidFill>
              <a:latin typeface="Open Sans"/>
              <a:ea typeface="Noto Sans SC"/>
              <a:cs typeface="Open Sans"/>
              <a:sym typeface="Open Sans"/>
            </a:endParaRPr>
          </a:p>
        </p:txBody>
      </p:sp>
      <p:grpSp>
        <p:nvGrpSpPr>
          <p:cNvPr id="584" name="Google Shape;584;p127"/>
          <p:cNvGrpSpPr/>
          <p:nvPr/>
        </p:nvGrpSpPr>
        <p:grpSpPr>
          <a:xfrm>
            <a:off x="1104141" y="3980036"/>
            <a:ext cx="803447" cy="820624"/>
            <a:chOff x="-39836" y="3224290"/>
            <a:chExt cx="803447" cy="820624"/>
          </a:xfrm>
        </p:grpSpPr>
        <p:sp>
          <p:nvSpPr>
            <p:cNvPr id="585" name="Google Shape;585;p127"/>
            <p:cNvSpPr/>
            <p:nvPr/>
          </p:nvSpPr>
          <p:spPr>
            <a:xfrm>
              <a:off x="-39835" y="3241467"/>
              <a:ext cx="803446" cy="803447"/>
            </a:xfrm>
            <a:prstGeom prst="rect">
              <a:avLst/>
            </a:prstGeom>
            <a:solidFill>
              <a:schemeClr val="lt2"/>
            </a:solidFill>
            <a:ln cap="flat" cmpd="sng" w="2540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pic>
          <p:nvPicPr>
            <p:cNvPr descr="Linear Graph" id="586" name="Google Shape;586;p127"/>
            <p:cNvPicPr preferRelativeResize="0"/>
            <p:nvPr/>
          </p:nvPicPr>
          <p:blipFill rotWithShape="1">
            <a:blip r:embed="rId7">
              <a:alphaModFix/>
            </a:blip>
            <a:srcRect b="0" l="0" r="0" t="0"/>
            <a:stretch/>
          </p:blipFill>
          <p:spPr>
            <a:xfrm>
              <a:off x="-39836" y="3224290"/>
              <a:ext cx="803447" cy="803447"/>
            </a:xfrm>
            <a:prstGeom prst="rect">
              <a:avLst/>
            </a:prstGeom>
            <a:noFill/>
            <a:ln>
              <a:noFill/>
            </a:ln>
          </p:spPr>
        </p:pic>
      </p:grpSp>
      <p:sp>
        <p:nvSpPr>
          <p:cNvPr id="587" name="Google Shape;587;p127"/>
          <p:cNvSpPr/>
          <p:nvPr/>
        </p:nvSpPr>
        <p:spPr>
          <a:xfrm>
            <a:off x="666830" y="2601284"/>
            <a:ext cx="803446" cy="803447"/>
          </a:xfrm>
          <a:prstGeom prst="rect">
            <a:avLst/>
          </a:prstGeom>
          <a:solidFill>
            <a:schemeClr val="lt2"/>
          </a:solidFill>
          <a:ln cap="flat" cmpd="sng" w="25400">
            <a:solidFill>
              <a:srgbClr val="5959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pic>
        <p:nvPicPr>
          <p:cNvPr descr="Periodic Graph" id="588" name="Google Shape;588;p127"/>
          <p:cNvPicPr preferRelativeResize="0"/>
          <p:nvPr/>
        </p:nvPicPr>
        <p:blipFill rotWithShape="1">
          <a:blip r:embed="rId8">
            <a:alphaModFix/>
          </a:blip>
          <a:srcRect b="0" l="0" r="0" t="0"/>
          <a:stretch/>
        </p:blipFill>
        <p:spPr>
          <a:xfrm>
            <a:off x="591464" y="2560849"/>
            <a:ext cx="914400" cy="914400"/>
          </a:xfrm>
          <a:prstGeom prst="rect">
            <a:avLst/>
          </a:prstGeom>
          <a:noFill/>
          <a:ln>
            <a:noFill/>
          </a:ln>
        </p:spPr>
      </p:pic>
      <p:sp>
        <p:nvSpPr>
          <p:cNvPr id="590"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激活函数</a:t>
            </a:r>
          </a:p>
        </p:txBody>
      </p:sp>
      <p:sp xmlns:p="http://schemas.openxmlformats.org/presentationml/2006/main" xmlns:a="http://schemas.openxmlformats.org/drawingml/2006/main">
        <p:nvSpPr>
          <p:cNvPr id="58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92" name="Shape 592"/>
        <p:cNvGrpSpPr/>
        <p:nvPr/>
      </p:nvGrpSpPr>
      <p:grpSpPr>
        <a:xfrm>
          <a:off x="0" y="0"/>
          <a:ext cx="0" cy="0"/>
          <a:chOff x="0" y="0"/>
          <a:chExt cx="0" cy="0"/>
        </a:xfrm>
      </p:grpSpPr>
      <p:sp>
        <p:nvSpPr>
          <p:cNvPr id="593" name="Google Shape;593;p29"/>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过拟合</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59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97" name="Shape 597"/>
        <p:cNvGrpSpPr/>
        <p:nvPr/>
      </p:nvGrpSpPr>
      <p:grpSpPr>
        <a:xfrm>
          <a:off x="0" y="0"/>
          <a:ext cx="0" cy="0"/>
          <a:chOff x="0" y="0"/>
          <a:chExt cx="0" cy="0"/>
        </a:xfrm>
      </p:grpSpPr>
      <p:sp>
        <p:nvSpPr>
          <p:cNvPr id="598" name="Google Shape;598;p30"/>
          <p:cNvSpPr txBox="1"/>
          <p:nvPr/>
        </p:nvSpPr>
        <p:spPr>
          <a:xfrm>
            <a:off x="497580" y="650194"/>
            <a:ext cx="9976104" cy="596074"/>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过拟合</a:t>
            </a:r>
            <a:endParaRPr b="1" i="0" sz="3600" u="none" cap="none" strike="noStrike">
              <a:solidFill>
                <a:schemeClr val="dk2"/>
              </a:solidFill>
              <a:latin typeface="Open Sans"/>
              <a:ea typeface="Noto Sans SC"/>
              <a:cs typeface="Open Sans"/>
              <a:sym typeface="Open Sans"/>
            </a:endParaRPr>
          </a:p>
        </p:txBody>
      </p:sp>
      <p:sp>
        <p:nvSpPr>
          <p:cNvPr id="599" name="Google Shape;599;p30"/>
          <p:cNvSpPr txBox="1"/>
          <p:nvPr/>
        </p:nvSpPr>
        <p:spPr>
          <a:xfrm>
            <a:off x="498348" y="1217839"/>
            <a:ext cx="9976104" cy="52546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400"/>
              <a:buFont typeface="Open Sans"/>
              <a:buNone/>
            </a:pPr>
            <a:r>
              <a:rPr b="0" i="0" lang="en-US" sz="2400" u="none" cap="none" strike="noStrike">
                <a:solidFill>
                  <a:schemeClr val="lt2"/>
                </a:solidFill>
                <a:latin typeface="Noto Sans SC"/>
                <a:ea typeface="Noto Sans SC"/>
                <a:cs typeface="Open Sans"/>
                <a:sym typeface="Open Sans"/>
              </a:rPr>
              <a:t>为何不构建一个超大的神经网络呢</a:t>
            </a:r>
            <a:r>
              <a:rPr b="0" i="0" lang="en-US" sz="2400" u="none" cap="none" strike="noStrike">
                <a:solidFill>
                  <a:schemeClr val="lt2"/>
                </a:solidFill>
                <a:latin typeface="Open Sans"/>
                <a:ea typeface="Noto Sans SC"/>
                <a:cs typeface="Open Sans"/>
                <a:sym typeface="Open Sans"/>
              </a:rPr>
              <a:t>？</a:t>
            </a:r>
            <a:endParaRPr b="0" i="0" sz="2400" u="none" cap="none" strike="noStrike">
              <a:solidFill>
                <a:schemeClr val="lt2"/>
              </a:solidFill>
              <a:latin typeface="Open Sans"/>
              <a:ea typeface="Noto Sans SC"/>
              <a:cs typeface="Open Sans"/>
              <a:sym typeface="Open Sans"/>
            </a:endParaRPr>
          </a:p>
        </p:txBody>
      </p:sp>
      <p:pic>
        <p:nvPicPr>
          <p:cNvPr descr="Connecting lines and dots illustration" id="600" name="Google Shape;600;p30"/>
          <p:cNvPicPr preferRelativeResize="0"/>
          <p:nvPr/>
        </p:nvPicPr>
        <p:blipFill rotWithShape="1">
          <a:blip r:embed="rId3">
            <a:alphaModFix/>
          </a:blip>
          <a:srcRect b="1568" l="0" r="1" t="36131"/>
          <a:stretch/>
        </p:blipFill>
        <p:spPr>
          <a:xfrm>
            <a:off x="508488" y="2103035"/>
            <a:ext cx="9965196" cy="3413207"/>
          </a:xfrm>
          <a:prstGeom prst="rect">
            <a:avLst/>
          </a:prstGeom>
          <a:noFill/>
          <a:ln>
            <a:noFill/>
          </a:ln>
        </p:spPr>
      </p:pic>
      <p:sp xmlns:p="http://schemas.openxmlformats.org/presentationml/2006/main" xmlns:a="http://schemas.openxmlformats.org/drawingml/2006/main">
        <p:nvSpPr>
          <p:cNvPr id="60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04" name="Shape 604"/>
        <p:cNvGrpSpPr/>
        <p:nvPr/>
      </p:nvGrpSpPr>
      <p:grpSpPr>
        <a:xfrm>
          <a:off x="0" y="0"/>
          <a:ext cx="0" cy="0"/>
          <a:chOff x="0" y="0"/>
          <a:chExt cx="0" cy="0"/>
        </a:xfrm>
      </p:grpSpPr>
      <p:graphicFrame>
        <p:nvGraphicFramePr>
          <p:cNvPr id="605" name="Google Shape;605;p128"/>
          <p:cNvGraphicFramePr/>
          <p:nvPr/>
        </p:nvGraphicFramePr>
        <p:xfrm>
          <a:off x="610175" y="1762882"/>
          <a:ext cx="4448175" cy="3745093"/>
        </p:xfrm>
        <a:graphic>
          <a:graphicData uri="http://schemas.openxmlformats.org/drawingml/2006/chart">
            <c:chart r:id="rId3"/>
          </a:graphicData>
        </a:graphic>
      </p:graphicFrame>
      <p:sp>
        <p:nvSpPr>
          <p:cNvPr id="606" name="Google Shape;606;p128"/>
          <p:cNvSpPr txBox="1"/>
          <p:nvPr/>
        </p:nvSpPr>
        <p:spPr>
          <a:xfrm>
            <a:off x="3290132" y="4496372"/>
            <a:ext cx="1510470"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1" i="0" lang="en-US" sz="1800" u="none" cap="none" strike="noStrike">
                <a:solidFill>
                  <a:srgbClr val="000000"/>
                </a:solidFill>
                <a:latin typeface="Open Sans"/>
                <a:ea typeface="Noto Sans SC"/>
                <a:cs typeface="Open Sans"/>
                <a:sym typeface="Open Sans"/>
              </a:rPr>
              <a:t>MSE = .0000</a:t>
            </a:r>
            <a:endParaRPr b="1" i="0" sz="1800" u="none" cap="none" strike="noStrike">
              <a:solidFill>
                <a:srgbClr val="000000"/>
              </a:solidFill>
              <a:latin typeface="Open Sans"/>
              <a:ea typeface="Noto Sans SC"/>
              <a:cs typeface="Open Sans"/>
              <a:sym typeface="Open Sans"/>
            </a:endParaRPr>
          </a:p>
        </p:txBody>
      </p:sp>
      <p:graphicFrame>
        <p:nvGraphicFramePr>
          <p:cNvPr id="607" name="Google Shape;607;p128"/>
          <p:cNvGraphicFramePr/>
          <p:nvPr/>
        </p:nvGraphicFramePr>
        <p:xfrm>
          <a:off x="5914451" y="1762882"/>
          <a:ext cx="4448175" cy="3745093"/>
        </p:xfrm>
        <a:graphic>
          <a:graphicData uri="http://schemas.openxmlformats.org/drawingml/2006/chart">
            <c:chart r:id="rId4"/>
          </a:graphicData>
        </a:graphic>
      </p:graphicFrame>
      <p:sp>
        <p:nvSpPr>
          <p:cNvPr id="608" name="Google Shape;608;p128"/>
          <p:cNvSpPr txBox="1"/>
          <p:nvPr/>
        </p:nvSpPr>
        <p:spPr>
          <a:xfrm>
            <a:off x="8612737" y="4496372"/>
            <a:ext cx="1510470"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1" i="0" lang="en-US" sz="1800" u="none" cap="none" strike="noStrike">
                <a:solidFill>
                  <a:srgbClr val="000000"/>
                </a:solidFill>
                <a:latin typeface="Open Sans"/>
                <a:ea typeface="Noto Sans SC"/>
                <a:cs typeface="Open Sans"/>
                <a:sym typeface="Open Sans"/>
              </a:rPr>
              <a:t>MSE = .0113</a:t>
            </a:r>
            <a:endParaRPr b="1" i="0" sz="1800" u="none" cap="none" strike="noStrike">
              <a:solidFill>
                <a:srgbClr val="000000"/>
              </a:solidFill>
              <a:latin typeface="Open Sans"/>
              <a:ea typeface="Noto Sans SC"/>
              <a:cs typeface="Open Sans"/>
              <a:sym typeface="Open Sans"/>
            </a:endParaRPr>
          </a:p>
        </p:txBody>
      </p:sp>
      <p:cxnSp>
        <p:nvCxnSpPr>
          <p:cNvPr id="609" name="Google Shape;609;p128"/>
          <p:cNvCxnSpPr/>
          <p:nvPr/>
        </p:nvCxnSpPr>
        <p:spPr>
          <a:xfrm flipH="1" rot="10800000">
            <a:off x="6734278" y="2209602"/>
            <a:ext cx="3064320" cy="2621880"/>
          </a:xfrm>
          <a:prstGeom prst="straightConnector1">
            <a:avLst/>
          </a:prstGeom>
          <a:noFill/>
          <a:ln cap="flat" cmpd="sng" w="57150">
            <a:solidFill>
              <a:schemeClr val="dk2"/>
            </a:solidFill>
            <a:prstDash val="solid"/>
            <a:round/>
            <a:headEnd len="sm" w="sm" type="none"/>
            <a:tailEnd len="sm" w="sm" type="none"/>
          </a:ln>
        </p:spPr>
      </p:cxnSp>
      <p:sp>
        <p:nvSpPr>
          <p:cNvPr id="610" name="Google Shape;610;p128"/>
          <p:cNvSpPr/>
          <p:nvPr/>
        </p:nvSpPr>
        <p:spPr>
          <a:xfrm>
            <a:off x="1413803" y="2229314"/>
            <a:ext cx="3073791" cy="2574921"/>
          </a:xfrm>
          <a:custGeom>
            <a:rect b="b" l="l" r="r" t="t"/>
            <a:pathLst>
              <a:path extrusionOk="0" h="2574921" w="3073791">
                <a:moveTo>
                  <a:pt x="0" y="2173874"/>
                </a:moveTo>
                <a:cubicBezTo>
                  <a:pt x="116644" y="2371994"/>
                  <a:pt x="233289" y="2570114"/>
                  <a:pt x="365760" y="2574803"/>
                </a:cubicBezTo>
                <a:cubicBezTo>
                  <a:pt x="498231" y="2579492"/>
                  <a:pt x="664699" y="2444677"/>
                  <a:pt x="794825" y="2202009"/>
                </a:cubicBezTo>
                <a:cubicBezTo>
                  <a:pt x="924951" y="1959341"/>
                  <a:pt x="1021080" y="1182102"/>
                  <a:pt x="1146517" y="1118797"/>
                </a:cubicBezTo>
                <a:cubicBezTo>
                  <a:pt x="1271954" y="1055492"/>
                  <a:pt x="1451317" y="1824526"/>
                  <a:pt x="1547446" y="1822181"/>
                </a:cubicBezTo>
                <a:cubicBezTo>
                  <a:pt x="1643575" y="1819836"/>
                  <a:pt x="1654126" y="1347397"/>
                  <a:pt x="1723292" y="1104729"/>
                </a:cubicBezTo>
                <a:cubicBezTo>
                  <a:pt x="1792458" y="862061"/>
                  <a:pt x="1866314" y="550227"/>
                  <a:pt x="1962443" y="366175"/>
                </a:cubicBezTo>
                <a:cubicBezTo>
                  <a:pt x="2058572" y="182123"/>
                  <a:pt x="2180493" y="-10136"/>
                  <a:pt x="2300068" y="415"/>
                </a:cubicBezTo>
                <a:cubicBezTo>
                  <a:pt x="2419643" y="10966"/>
                  <a:pt x="2550941" y="424791"/>
                  <a:pt x="2679895" y="429480"/>
                </a:cubicBezTo>
                <a:cubicBezTo>
                  <a:pt x="2808849" y="434169"/>
                  <a:pt x="2941320" y="231360"/>
                  <a:pt x="3073791" y="28551"/>
                </a:cubicBezTo>
              </a:path>
            </a:pathLst>
          </a:custGeom>
          <a:noFill/>
          <a:ln cap="flat" cmpd="sng" w="571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612" name="Restored Title 1"/>
          <p:cNvSpPr txBox="1"/>
          <p:nvPr/>
        </p:nvSpPr>
        <p:spPr>
          <a:xfrm>
            <a:off x="568888" y="444689"/>
            <a:ext cx="9976104" cy="596074"/>
          </a:xfrm>
          <a:prstGeom prst="rect">
            <a:avLst/>
          </a:prstGeom>
          <a:noFill/>
        </p:spPr>
        <p:txBody>
          <a:bodyPr wrap="none" lIns="0" rIns="0" tIns="0" bIns="0" anchor="ctr">
            <a:spAutoFit/>
          </a:bodyPr>
          <a:lstStyle/>
          <a:p>
            <a:pPr algn="ctr"/>
            <a:r>
              <a:rPr sz="3600" b="1">
                <a:solidFill>
                  <a:srgbClr val="000000"/>
                </a:solidFill>
                <a:latin typeface="Noto Sans SC"/>
              </a:rPr>
              <a:t>过拟合</a:t>
            </a:r>
          </a:p>
        </p:txBody>
      </p:sp>
      <p:sp>
        <p:nvSpPr>
          <p:cNvPr id="613" name="Restored Text Placeholder 3"/>
          <p:cNvSpPr txBox="1"/>
          <p:nvPr/>
        </p:nvSpPr>
        <p:spPr>
          <a:xfrm>
            <a:off x="530716" y="1088136"/>
            <a:ext cx="9976104" cy="525463"/>
          </a:xfrm>
          <a:prstGeom prst="rect">
            <a:avLst/>
          </a:prstGeom>
          <a:noFill/>
        </p:spPr>
        <p:txBody>
          <a:bodyPr wrap="none" lIns="0" rIns="0" tIns="0" bIns="0" anchor="t">
            <a:spAutoFit/>
          </a:bodyPr>
          <a:lstStyle/>
          <a:p>
            <a:pPr algn="l" marL="342900" indent="-171450">
              <a:buChar char="•"/>
            </a:pPr>
            <a:r>
              <a:rPr sz="2400" b="0">
                <a:solidFill>
                  <a:srgbClr val="000000"/>
                </a:solidFill>
                <a:latin typeface="Noto Sans SC"/>
              </a:rPr>
              <a:t>哪条趋势线更好</a:t>
            </a:r>
            <a:r>
              <a:rPr sz="2400" b="0">
                <a:solidFill>
                  <a:srgbClr val="000000"/>
                </a:solidFill>
                <a:latin typeface="Open Sans"/>
              </a:rPr>
              <a:t>？</a:t>
            </a:r>
          </a:p>
        </p:txBody>
      </p:sp>
      <p:sp xmlns:p="http://schemas.openxmlformats.org/presentationml/2006/main" xmlns:a="http://schemas.openxmlformats.org/drawingml/2006/main">
        <p:nvSpPr>
          <p:cNvPr id="61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14" name="Shape 614"/>
        <p:cNvGrpSpPr/>
        <p:nvPr/>
      </p:nvGrpSpPr>
      <p:grpSpPr>
        <a:xfrm>
          <a:off x="0" y="0"/>
          <a:ext cx="0" cy="0"/>
          <a:chOff x="0" y="0"/>
          <a:chExt cx="0" cy="0"/>
        </a:xfrm>
      </p:grpSpPr>
      <p:graphicFrame>
        <p:nvGraphicFramePr>
          <p:cNvPr id="615" name="Google Shape;615;p129"/>
          <p:cNvGraphicFramePr/>
          <p:nvPr/>
        </p:nvGraphicFramePr>
        <p:xfrm>
          <a:off x="609601" y="1765879"/>
          <a:ext cx="4448175" cy="3745093"/>
        </p:xfrm>
        <a:graphic>
          <a:graphicData uri="http://schemas.openxmlformats.org/drawingml/2006/chart">
            <c:chart r:id="rId3"/>
          </a:graphicData>
        </a:graphic>
      </p:graphicFrame>
      <p:graphicFrame>
        <p:nvGraphicFramePr>
          <p:cNvPr id="616" name="Google Shape;616;p129"/>
          <p:cNvGraphicFramePr/>
          <p:nvPr/>
        </p:nvGraphicFramePr>
        <p:xfrm>
          <a:off x="5915025" y="1765880"/>
          <a:ext cx="4448175" cy="3745093"/>
        </p:xfrm>
        <a:graphic>
          <a:graphicData uri="http://schemas.openxmlformats.org/drawingml/2006/chart">
            <c:chart r:id="rId4"/>
          </a:graphicData>
        </a:graphic>
      </p:graphicFrame>
      <p:sp>
        <p:nvSpPr>
          <p:cNvPr id="617" name="Google Shape;617;p129"/>
          <p:cNvSpPr txBox="1"/>
          <p:nvPr/>
        </p:nvSpPr>
        <p:spPr>
          <a:xfrm>
            <a:off x="3290132" y="4496372"/>
            <a:ext cx="1510470"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C00000"/>
              </a:buClr>
              <a:buSzPts val="1800"/>
              <a:buFont typeface="Open Sans"/>
              <a:buNone/>
            </a:pPr>
            <a:r>
              <a:rPr b="1" i="0" lang="en-US" sz="1800" u="none" cap="none" strike="noStrike">
                <a:solidFill>
                  <a:srgbClr val="C00000"/>
                </a:solidFill>
                <a:latin typeface="Open Sans"/>
                <a:ea typeface="Noto Sans SC"/>
                <a:cs typeface="Open Sans"/>
                <a:sym typeface="Open Sans"/>
              </a:rPr>
              <a:t>MSE = .0308</a:t>
            </a:r>
            <a:endParaRPr b="1" i="0" sz="1800" u="none" cap="none" strike="noStrike">
              <a:solidFill>
                <a:srgbClr val="C00000"/>
              </a:solidFill>
              <a:latin typeface="Open Sans"/>
              <a:ea typeface="Noto Sans SC"/>
              <a:cs typeface="Open Sans"/>
              <a:sym typeface="Open Sans"/>
            </a:endParaRPr>
          </a:p>
        </p:txBody>
      </p:sp>
      <p:sp>
        <p:nvSpPr>
          <p:cNvPr id="618" name="Google Shape;618;p129"/>
          <p:cNvSpPr txBox="1"/>
          <p:nvPr/>
        </p:nvSpPr>
        <p:spPr>
          <a:xfrm>
            <a:off x="8629829" y="4496372"/>
            <a:ext cx="1510470"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C00000"/>
              </a:buClr>
              <a:buSzPts val="1800"/>
              <a:buFont typeface="Open Sans"/>
              <a:buNone/>
            </a:pPr>
            <a:r>
              <a:rPr b="1" i="0" lang="en-US" sz="1800" u="none" cap="none" strike="noStrike">
                <a:solidFill>
                  <a:srgbClr val="C00000"/>
                </a:solidFill>
                <a:latin typeface="Open Sans"/>
                <a:ea typeface="Noto Sans SC"/>
                <a:cs typeface="Open Sans"/>
                <a:sym typeface="Open Sans"/>
              </a:rPr>
              <a:t>MSE = .0062</a:t>
            </a:r>
            <a:endParaRPr b="1" i="0" sz="1800" u="none" cap="none" strike="noStrike">
              <a:solidFill>
                <a:srgbClr val="C00000"/>
              </a:solidFill>
              <a:latin typeface="Open Sans"/>
              <a:ea typeface="Noto Sans SC"/>
              <a:cs typeface="Open Sans"/>
              <a:sym typeface="Open Sans"/>
            </a:endParaRPr>
          </a:p>
        </p:txBody>
      </p:sp>
      <p:cxnSp>
        <p:nvCxnSpPr>
          <p:cNvPr id="619" name="Google Shape;619;p129"/>
          <p:cNvCxnSpPr/>
          <p:nvPr/>
        </p:nvCxnSpPr>
        <p:spPr>
          <a:xfrm flipH="1" rot="10800000">
            <a:off x="6734278" y="2209602"/>
            <a:ext cx="3064320" cy="2621880"/>
          </a:xfrm>
          <a:prstGeom prst="straightConnector1">
            <a:avLst/>
          </a:prstGeom>
          <a:noFill/>
          <a:ln cap="flat" cmpd="sng" w="57150">
            <a:solidFill>
              <a:schemeClr val="dk2"/>
            </a:solidFill>
            <a:prstDash val="solid"/>
            <a:round/>
            <a:headEnd len="sm" w="sm" type="none"/>
            <a:tailEnd len="sm" w="sm" type="none"/>
          </a:ln>
        </p:spPr>
      </p:cxnSp>
      <p:sp>
        <p:nvSpPr>
          <p:cNvPr id="620" name="Google Shape;620;p129"/>
          <p:cNvSpPr/>
          <p:nvPr/>
        </p:nvSpPr>
        <p:spPr>
          <a:xfrm>
            <a:off x="1413803" y="2229314"/>
            <a:ext cx="3073791" cy="2574921"/>
          </a:xfrm>
          <a:custGeom>
            <a:rect b="b" l="l" r="r" t="t"/>
            <a:pathLst>
              <a:path extrusionOk="0" h="2574921" w="3073791">
                <a:moveTo>
                  <a:pt x="0" y="2173874"/>
                </a:moveTo>
                <a:cubicBezTo>
                  <a:pt x="116644" y="2371994"/>
                  <a:pt x="233289" y="2570114"/>
                  <a:pt x="365760" y="2574803"/>
                </a:cubicBezTo>
                <a:cubicBezTo>
                  <a:pt x="498231" y="2579492"/>
                  <a:pt x="664699" y="2444677"/>
                  <a:pt x="794825" y="2202009"/>
                </a:cubicBezTo>
                <a:cubicBezTo>
                  <a:pt x="924951" y="1959341"/>
                  <a:pt x="1021080" y="1182102"/>
                  <a:pt x="1146517" y="1118797"/>
                </a:cubicBezTo>
                <a:cubicBezTo>
                  <a:pt x="1271954" y="1055492"/>
                  <a:pt x="1451317" y="1824526"/>
                  <a:pt x="1547446" y="1822181"/>
                </a:cubicBezTo>
                <a:cubicBezTo>
                  <a:pt x="1643575" y="1819836"/>
                  <a:pt x="1654126" y="1347397"/>
                  <a:pt x="1723292" y="1104729"/>
                </a:cubicBezTo>
                <a:cubicBezTo>
                  <a:pt x="1792458" y="862061"/>
                  <a:pt x="1866314" y="550227"/>
                  <a:pt x="1962443" y="366175"/>
                </a:cubicBezTo>
                <a:cubicBezTo>
                  <a:pt x="2058572" y="182123"/>
                  <a:pt x="2180493" y="-10136"/>
                  <a:pt x="2300068" y="415"/>
                </a:cubicBezTo>
                <a:cubicBezTo>
                  <a:pt x="2419643" y="10966"/>
                  <a:pt x="2550941" y="424791"/>
                  <a:pt x="2679895" y="429480"/>
                </a:cubicBezTo>
                <a:cubicBezTo>
                  <a:pt x="2808849" y="434169"/>
                  <a:pt x="2941320" y="231360"/>
                  <a:pt x="3073791" y="28551"/>
                </a:cubicBezTo>
              </a:path>
            </a:pathLst>
          </a:custGeom>
          <a:noFill/>
          <a:ln cap="flat" cmpd="sng" w="571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622" name="Restored Title 1"/>
          <p:cNvSpPr txBox="1"/>
          <p:nvPr/>
        </p:nvSpPr>
        <p:spPr>
          <a:xfrm>
            <a:off x="568888" y="444689"/>
            <a:ext cx="9976104" cy="596074"/>
          </a:xfrm>
          <a:prstGeom prst="rect">
            <a:avLst/>
          </a:prstGeom>
          <a:noFill/>
        </p:spPr>
        <p:txBody>
          <a:bodyPr wrap="none" lIns="0" rIns="0" tIns="0" bIns="0" anchor="ctr">
            <a:spAutoFit/>
          </a:bodyPr>
          <a:lstStyle/>
          <a:p>
            <a:pPr algn="ctr"/>
            <a:r>
              <a:rPr sz="3600" b="1">
                <a:solidFill>
                  <a:srgbClr val="000000"/>
                </a:solidFill>
                <a:latin typeface="Noto Sans SC"/>
              </a:rPr>
              <a:t>过拟合</a:t>
            </a:r>
          </a:p>
        </p:txBody>
      </p:sp>
      <p:sp>
        <p:nvSpPr>
          <p:cNvPr id="623" name="Restored Text Placeholder 3"/>
          <p:cNvSpPr txBox="1"/>
          <p:nvPr/>
        </p:nvSpPr>
        <p:spPr>
          <a:xfrm>
            <a:off x="530716" y="1088136"/>
            <a:ext cx="9976104" cy="525463"/>
          </a:xfrm>
          <a:prstGeom prst="rect">
            <a:avLst/>
          </a:prstGeom>
          <a:noFill/>
        </p:spPr>
        <p:txBody>
          <a:bodyPr wrap="none" lIns="0" rIns="0" tIns="0" bIns="0" anchor="t">
            <a:spAutoFit/>
          </a:bodyPr>
          <a:lstStyle/>
          <a:p>
            <a:pPr algn="l" marL="342900" indent="-171450">
              <a:buChar char="•"/>
            </a:pPr>
            <a:r>
              <a:rPr sz="2400" b="0">
                <a:solidFill>
                  <a:srgbClr val="000000"/>
                </a:solidFill>
                <a:latin typeface="Noto Sans SC"/>
              </a:rPr>
              <a:t>哪条趋势线更好</a:t>
            </a:r>
            <a:r>
              <a:rPr sz="2400" b="0">
                <a:solidFill>
                  <a:srgbClr val="000000"/>
                </a:solidFill>
                <a:latin typeface="Open Sans"/>
              </a:rPr>
              <a:t>？</a:t>
            </a:r>
          </a:p>
        </p:txBody>
      </p:sp>
      <p:sp xmlns:p="http://schemas.openxmlformats.org/presentationml/2006/main" xmlns:a="http://schemas.openxmlformats.org/drawingml/2006/main">
        <p:nvSpPr>
          <p:cNvPr id="62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24" name="Shape 624"/>
        <p:cNvGrpSpPr/>
        <p:nvPr/>
      </p:nvGrpSpPr>
      <p:grpSpPr>
        <a:xfrm>
          <a:off x="0" y="0"/>
          <a:ext cx="0" cy="0"/>
          <a:chOff x="0" y="0"/>
          <a:chExt cx="0" cy="0"/>
        </a:xfrm>
      </p:grpSpPr>
      <p:grpSp>
        <p:nvGrpSpPr>
          <p:cNvPr id="625" name="Google Shape;625;p130"/>
          <p:cNvGrpSpPr/>
          <p:nvPr/>
        </p:nvGrpSpPr>
        <p:grpSpPr>
          <a:xfrm>
            <a:off x="512065" y="1812561"/>
            <a:ext cx="4974335" cy="3901950"/>
            <a:chOff x="0" y="84122"/>
            <a:chExt cx="4974335" cy="3901950"/>
          </a:xfrm>
        </p:grpSpPr>
        <p:sp>
          <p:nvSpPr>
            <p:cNvPr id="626" name="Google Shape;626;p130"/>
            <p:cNvSpPr/>
            <p:nvPr/>
          </p:nvSpPr>
          <p:spPr>
            <a:xfrm>
              <a:off x="0" y="84122"/>
              <a:ext cx="4974335" cy="578565"/>
            </a:xfrm>
            <a:prstGeom prst="roundRect">
              <a:avLst>
                <a:gd fmla="val 16667"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30"/>
            <p:cNvSpPr txBox="1"/>
            <p:nvPr/>
          </p:nvSpPr>
          <p:spPr>
            <a:xfrm>
              <a:off x="28243" y="112365"/>
              <a:ext cx="4917849" cy="522079"/>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Open Sans"/>
                <a:buNone/>
              </a:pPr>
              <a:r>
                <a:rPr b="0" i="0" lang="en-US" sz="2300" u="none" cap="none" strike="noStrike">
                  <a:solidFill>
                    <a:schemeClr val="lt1"/>
                  </a:solidFill>
                  <a:latin typeface="Noto Sans SC"/>
                  <a:ea typeface="Noto Sans SC"/>
                  <a:cs typeface="Open Sans"/>
                  <a:sym typeface="Open Sans"/>
                </a:rPr>
                <a:t>训练数据</a:t>
              </a:r>
              <a:endParaRPr b="0" i="0" sz="2300" u="none" cap="none" strike="noStrike">
                <a:solidFill>
                  <a:schemeClr val="lt1"/>
                </a:solidFill>
                <a:latin typeface="Open Sans"/>
                <a:ea typeface="Noto Sans SC"/>
                <a:cs typeface="Open Sans"/>
                <a:sym typeface="Open Sans"/>
              </a:endParaRPr>
            </a:p>
          </p:txBody>
        </p:sp>
        <p:sp>
          <p:nvSpPr>
            <p:cNvPr id="628" name="Google Shape;628;p130"/>
            <p:cNvSpPr/>
            <p:nvPr/>
          </p:nvSpPr>
          <p:spPr>
            <a:xfrm>
              <a:off x="0" y="662687"/>
              <a:ext cx="4974335" cy="3808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30"/>
            <p:cNvSpPr txBox="1"/>
            <p:nvPr/>
          </p:nvSpPr>
          <p:spPr>
            <a:xfrm>
              <a:off x="0" y="662687"/>
              <a:ext cx="4974335" cy="380880"/>
            </a:xfrm>
            <a:prstGeom prst="rect">
              <a:avLst/>
            </a:prstGeom>
            <a:noFill/>
            <a:ln>
              <a:noFill/>
            </a:ln>
          </p:spPr>
          <p:txBody>
            <a:bodyPr anchorCtr="0" anchor="t" bIns="29200" lIns="157925" spcFirstLastPara="1" rIns="163575" wrap="square" tIns="29200">
              <a:noAutofit/>
            </a:bodyPr>
            <a:lstStyle/>
            <a:p>
              <a:pPr indent="-171450" lvl="1" marL="171450" marR="0" rtl="0" algn="l">
                <a:lnSpc>
                  <a:spcPct val="90000"/>
                </a:lnSpc>
                <a:spcBef>
                  <a:spcPts val="0"/>
                </a:spcBef>
                <a:spcAft>
                  <a:spcPts val="0"/>
                </a:spcAft>
                <a:buClr>
                  <a:srgbClr val="000000"/>
                </a:buClr>
                <a:buSzPts val="1800"/>
                <a:buFont typeface="Open Sans"/>
                <a:buChar char="•"/>
              </a:pPr>
              <a:r>
                <a:rPr b="0" i="0" lang="en-US" sz="1800" u="none" cap="none" strike="noStrike">
                  <a:solidFill>
                    <a:schemeClr val="dk2"/>
                  </a:solidFill>
                  <a:latin typeface="Noto Sans SC"/>
                  <a:ea typeface="Noto Sans SC"/>
                  <a:cs typeface="Open Sans"/>
                  <a:sym typeface="Open Sans"/>
                </a:rPr>
                <a:t>模型学习所用的核心数据集</a:t>
              </a:r>
              <a:endParaRPr b="0" i="0" sz="1800" u="none" cap="none" strike="noStrike">
                <a:solidFill>
                  <a:schemeClr val="dk2"/>
                </a:solidFill>
                <a:latin typeface="Open Sans"/>
                <a:ea typeface="Noto Sans SC"/>
                <a:cs typeface="Open Sans"/>
                <a:sym typeface="Open Sans"/>
              </a:endParaRPr>
            </a:p>
          </p:txBody>
        </p:sp>
        <p:sp>
          <p:nvSpPr>
            <p:cNvPr id="630" name="Google Shape;630;p130"/>
            <p:cNvSpPr/>
            <p:nvPr/>
          </p:nvSpPr>
          <p:spPr>
            <a:xfrm>
              <a:off x="0" y="1043567"/>
              <a:ext cx="4974335" cy="578565"/>
            </a:xfrm>
            <a:prstGeom prst="roundRect">
              <a:avLst>
                <a:gd fmla="val 16667"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30"/>
            <p:cNvSpPr txBox="1"/>
            <p:nvPr/>
          </p:nvSpPr>
          <p:spPr>
            <a:xfrm>
              <a:off x="28243" y="1071810"/>
              <a:ext cx="4917849" cy="522079"/>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Open Sans"/>
                <a:buNone/>
              </a:pPr>
              <a:r>
                <a:rPr b="0" i="0" lang="en-US" sz="2300" u="none" cap="none" strike="noStrike">
                  <a:solidFill>
                    <a:schemeClr val="lt1"/>
                  </a:solidFill>
                  <a:latin typeface="Noto Sans SC"/>
                  <a:ea typeface="Noto Sans SC"/>
                  <a:cs typeface="Open Sans"/>
                  <a:sym typeface="Open Sans"/>
                </a:rPr>
                <a:t>验证数据</a:t>
              </a:r>
              <a:endParaRPr b="0" i="0" sz="2300" u="none" cap="none" strike="noStrike">
                <a:solidFill>
                  <a:schemeClr val="lt1"/>
                </a:solidFill>
                <a:latin typeface="Open Sans"/>
                <a:ea typeface="Noto Sans SC"/>
                <a:cs typeface="Open Sans"/>
                <a:sym typeface="Open Sans"/>
              </a:endParaRPr>
            </a:p>
          </p:txBody>
        </p:sp>
        <p:sp>
          <p:nvSpPr>
            <p:cNvPr id="632" name="Google Shape;632;p130"/>
            <p:cNvSpPr/>
            <p:nvPr/>
          </p:nvSpPr>
          <p:spPr>
            <a:xfrm>
              <a:off x="0" y="1622132"/>
              <a:ext cx="4974335" cy="5951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30"/>
            <p:cNvSpPr txBox="1"/>
            <p:nvPr/>
          </p:nvSpPr>
          <p:spPr>
            <a:xfrm>
              <a:off x="0" y="1622132"/>
              <a:ext cx="4974335" cy="595125"/>
            </a:xfrm>
            <a:prstGeom prst="rect">
              <a:avLst/>
            </a:prstGeom>
            <a:noFill/>
            <a:ln>
              <a:noFill/>
            </a:ln>
          </p:spPr>
          <p:txBody>
            <a:bodyPr anchorCtr="0" anchor="t" bIns="29200" lIns="157925" spcFirstLastPara="1" rIns="163575" wrap="square" tIns="29200">
              <a:noAutofit/>
            </a:bodyPr>
            <a:lstStyle/>
            <a:p>
              <a:pPr indent="-171450" lvl="1" marL="171450" marR="0" rtl="0" algn="l">
                <a:lnSpc>
                  <a:spcPct val="90000"/>
                </a:lnSpc>
                <a:spcBef>
                  <a:spcPts val="0"/>
                </a:spcBef>
                <a:spcAft>
                  <a:spcPts val="0"/>
                </a:spcAft>
                <a:buClr>
                  <a:srgbClr val="000000"/>
                </a:buClr>
                <a:buSzPts val="1800"/>
                <a:buFont typeface="Open Sans"/>
                <a:buChar char="•"/>
              </a:pPr>
              <a:r>
                <a:rPr b="0" i="0" lang="en-US" sz="1800" u="none" cap="none" strike="noStrike">
                  <a:solidFill>
                    <a:schemeClr val="dk2"/>
                  </a:solidFill>
                  <a:latin typeface="Noto Sans SC"/>
                  <a:ea typeface="Noto Sans SC"/>
                  <a:cs typeface="Open Sans"/>
                  <a:sym typeface="Open Sans"/>
                </a:rPr>
                <a:t>新数据</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用于验证模型是否已能真正作出理解</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可进行泛化</a:t>
              </a:r>
              <a:r>
                <a:rPr b="0" i="0" lang="en-US" sz="1800" u="none" cap="none" strike="noStrike">
                  <a:solidFill>
                    <a:schemeClr val="dk2"/>
                  </a:solidFill>
                  <a:latin typeface="Open Sans"/>
                  <a:ea typeface="Noto Sans SC"/>
                  <a:cs typeface="Open Sans"/>
                  <a:sym typeface="Open Sans"/>
                </a:rPr>
                <a:t>）</a:t>
              </a:r>
              <a:endParaRPr b="0" i="0" sz="1800" u="none" cap="none" strike="noStrike">
                <a:solidFill>
                  <a:schemeClr val="dk2"/>
                </a:solidFill>
                <a:latin typeface="Open Sans"/>
                <a:ea typeface="Noto Sans SC"/>
                <a:cs typeface="Open Sans"/>
                <a:sym typeface="Open Sans"/>
              </a:endParaRPr>
            </a:p>
          </p:txBody>
        </p:sp>
        <p:sp>
          <p:nvSpPr>
            <p:cNvPr id="634" name="Google Shape;634;p130"/>
            <p:cNvSpPr/>
            <p:nvPr/>
          </p:nvSpPr>
          <p:spPr>
            <a:xfrm>
              <a:off x="0" y="2217257"/>
              <a:ext cx="4974335" cy="578565"/>
            </a:xfrm>
            <a:prstGeom prst="roundRect">
              <a:avLst>
                <a:gd fmla="val 16667"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30"/>
            <p:cNvSpPr txBox="1"/>
            <p:nvPr/>
          </p:nvSpPr>
          <p:spPr>
            <a:xfrm>
              <a:off x="28243" y="2245500"/>
              <a:ext cx="4917849" cy="522079"/>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Open Sans"/>
                <a:buNone/>
              </a:pPr>
              <a:r>
                <a:rPr b="0" i="0" lang="en-US" sz="2300" u="none" cap="none" strike="noStrike">
                  <a:solidFill>
                    <a:schemeClr val="lt1"/>
                  </a:solidFill>
                  <a:latin typeface="Noto Sans SC"/>
                  <a:ea typeface="Noto Sans SC"/>
                  <a:cs typeface="Open Sans"/>
                  <a:sym typeface="Open Sans"/>
                </a:rPr>
                <a:t>过拟合</a:t>
              </a:r>
              <a:endParaRPr b="0" i="0" sz="2300" u="none" cap="none" strike="noStrike">
                <a:solidFill>
                  <a:schemeClr val="lt1"/>
                </a:solidFill>
                <a:latin typeface="Open Sans"/>
                <a:ea typeface="Noto Sans SC"/>
                <a:cs typeface="Open Sans"/>
                <a:sym typeface="Open Sans"/>
              </a:endParaRPr>
            </a:p>
          </p:txBody>
        </p:sp>
        <p:sp>
          <p:nvSpPr>
            <p:cNvPr id="636" name="Google Shape;636;p130"/>
            <p:cNvSpPr/>
            <p:nvPr/>
          </p:nvSpPr>
          <p:spPr>
            <a:xfrm>
              <a:off x="0" y="2795822"/>
              <a:ext cx="4974335" cy="11902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30"/>
            <p:cNvSpPr txBox="1"/>
            <p:nvPr/>
          </p:nvSpPr>
          <p:spPr>
            <a:xfrm>
              <a:off x="0" y="2795822"/>
              <a:ext cx="4974335" cy="1190250"/>
            </a:xfrm>
            <a:prstGeom prst="rect">
              <a:avLst/>
            </a:prstGeom>
            <a:noFill/>
            <a:ln>
              <a:noFill/>
            </a:ln>
          </p:spPr>
          <p:txBody>
            <a:bodyPr anchorCtr="0" anchor="t" bIns="29200" lIns="157925" spcFirstLastPara="1" rIns="163575" wrap="square" tIns="29200">
              <a:noAutofit/>
            </a:bodyPr>
            <a:lstStyle/>
            <a:p>
              <a:pPr indent="-171450" lvl="1" marL="171450" marR="0" rtl="0" algn="l">
                <a:lnSpc>
                  <a:spcPct val="90000"/>
                </a:lnSpc>
                <a:spcBef>
                  <a:spcPts val="0"/>
                </a:spcBef>
                <a:spcAft>
                  <a:spcPts val="0"/>
                </a:spcAft>
                <a:buClr>
                  <a:srgbClr val="000000"/>
                </a:buClr>
                <a:buSzPts val="1800"/>
                <a:buFont typeface="Open Sans"/>
                <a:buChar char="•"/>
              </a:pPr>
              <a:r>
                <a:rPr b="0" i="0" lang="en-US" sz="1800" u="none" cap="none" strike="noStrike">
                  <a:solidFill>
                    <a:schemeClr val="dk2"/>
                  </a:solidFill>
                  <a:latin typeface="Noto Sans SC"/>
                  <a:ea typeface="Noto Sans SC"/>
                  <a:cs typeface="Open Sans"/>
                  <a:sym typeface="Open Sans"/>
                </a:rPr>
                <a:t>模型在训练数据上表现出色</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但对于验证数据表现不佳</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表明模型只是在记忆数据</a:t>
              </a:r>
              <a:r>
                <a:rPr b="0" i="0" lang="en-US" sz="1800" u="none" cap="none" strike="noStrike">
                  <a:solidFill>
                    <a:schemeClr val="dk2"/>
                  </a:solidFill>
                  <a:latin typeface="Open Sans"/>
                  <a:ea typeface="Noto Sans SC"/>
                  <a:cs typeface="Open Sans"/>
                  <a:sym typeface="Open Sans"/>
                </a:rPr>
                <a:t>）</a:t>
              </a:r>
              <a:endParaRPr b="0" i="0" sz="1800" u="none" cap="none" strike="noStrike">
                <a:solidFill>
                  <a:schemeClr val="dk2"/>
                </a:solidFill>
                <a:latin typeface="Open Sans"/>
                <a:ea typeface="Noto Sans SC"/>
                <a:cs typeface="Open Sans"/>
                <a:sym typeface="Open Sans"/>
              </a:endParaRPr>
            </a:p>
            <a:p>
              <a:pPr indent="-171450" lvl="1" marL="171450" marR="0" rtl="0" algn="l">
                <a:lnSpc>
                  <a:spcPct val="90000"/>
                </a:lnSpc>
                <a:spcBef>
                  <a:spcPts val="360"/>
                </a:spcBef>
                <a:spcAft>
                  <a:spcPts val="0"/>
                </a:spcAft>
                <a:buClr>
                  <a:srgbClr val="000000"/>
                </a:buClr>
                <a:buSzPts val="1800"/>
                <a:buFont typeface="Open Sans"/>
                <a:buChar char="•"/>
              </a:pPr>
              <a:r>
                <a:rPr b="0" i="0" lang="en-US" sz="1800" u="none" cap="none" strike="noStrike">
                  <a:solidFill>
                    <a:schemeClr val="dk2"/>
                  </a:solidFill>
                  <a:latin typeface="Noto Sans SC"/>
                  <a:ea typeface="Noto Sans SC"/>
                  <a:cs typeface="Open Sans"/>
                  <a:sym typeface="Open Sans"/>
                </a:rPr>
                <a:t>理想情况下</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模型在这两个数据集上表现出的准确性和损失应该相似</a:t>
              </a:r>
              <a:endParaRPr b="0" i="0" sz="1800" u="none" cap="none" strike="noStrike">
                <a:solidFill>
                  <a:schemeClr val="dk2"/>
                </a:solidFill>
                <a:latin typeface="Open Sans"/>
                <a:ea typeface="Noto Sans SC"/>
                <a:cs typeface="Open Sans"/>
                <a:sym typeface="Open Sans"/>
              </a:endParaRPr>
            </a:p>
          </p:txBody>
        </p:sp>
      </p:grpSp>
      <p:graphicFrame>
        <p:nvGraphicFramePr>
          <p:cNvPr id="638" name="Google Shape;638;p130"/>
          <p:cNvGraphicFramePr/>
          <p:nvPr/>
        </p:nvGraphicFramePr>
        <p:xfrm>
          <a:off x="5867399" y="1844916"/>
          <a:ext cx="4593336" cy="3693758"/>
        </p:xfrm>
        <a:graphic>
          <a:graphicData uri="http://schemas.openxmlformats.org/drawingml/2006/chart">
            <c:chart r:id="rId3"/>
          </a:graphicData>
        </a:graphic>
      </p:graphicFrame>
      <p:sp>
        <p:nvSpPr>
          <p:cNvPr id="640" name="Restored Title 1"/>
          <p:cNvSpPr txBox="1"/>
          <p:nvPr/>
        </p:nvSpPr>
        <p:spPr>
          <a:xfrm>
            <a:off x="498348" y="584974"/>
            <a:ext cx="5922117" cy="618631"/>
          </a:xfrm>
          <a:prstGeom prst="rect">
            <a:avLst/>
          </a:prstGeom>
          <a:noFill/>
        </p:spPr>
        <p:txBody>
          <a:bodyPr wrap="none" lIns="0" rIns="0" tIns="0" bIns="0" anchor="ctr">
            <a:spAutoFit/>
          </a:bodyPr>
          <a:lstStyle/>
          <a:p>
            <a:pPr algn="ctr"/>
            <a:r>
              <a:rPr sz="3600" b="1">
                <a:solidFill>
                  <a:srgbClr val="000000"/>
                </a:solidFill>
                <a:latin typeface="Noto Sans SC"/>
              </a:rPr>
              <a:t>训练数据和验证数据对比</a:t>
            </a:r>
          </a:p>
        </p:txBody>
      </p:sp>
      <p:sp>
        <p:nvSpPr>
          <p:cNvPr id="641" name="Restored Text Placeholder 3"/>
          <p:cNvSpPr txBox="1"/>
          <p:nvPr/>
        </p:nvSpPr>
        <p:spPr>
          <a:xfrm>
            <a:off x="498348" y="1183333"/>
            <a:ext cx="5922117" cy="525463"/>
          </a:xfrm>
          <a:prstGeom prst="rect">
            <a:avLst/>
          </a:prstGeom>
          <a:noFill/>
        </p:spPr>
        <p:txBody>
          <a:bodyPr wrap="none" lIns="0" rIns="0" tIns="0" bIns="0" anchor="t">
            <a:spAutoFit/>
          </a:bodyPr>
          <a:lstStyle/>
          <a:p>
            <a:pPr algn="l" marL="342900" indent="-171450">
              <a:buChar char="•"/>
            </a:pPr>
            <a:r>
              <a:rPr sz="2600" b="0">
                <a:solidFill>
                  <a:srgbClr val="000000"/>
                </a:solidFill>
                <a:latin typeface="Noto Sans SC"/>
              </a:rPr>
              <a:t>避免记忆数据</a:t>
            </a:r>
          </a:p>
        </p:txBody>
      </p:sp>
      <p:sp xmlns:p="http://schemas.openxmlformats.org/presentationml/2006/main" xmlns:a="http://schemas.openxmlformats.org/drawingml/2006/main">
        <p:nvSpPr>
          <p:cNvPr id="63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42" name="Shape 642"/>
        <p:cNvGrpSpPr/>
        <p:nvPr/>
      </p:nvGrpSpPr>
      <p:grpSpPr>
        <a:xfrm>
          <a:off x="0" y="0"/>
          <a:ext cx="0" cy="0"/>
          <a:chOff x="0" y="0"/>
          <a:chExt cx="0" cy="0"/>
        </a:xfrm>
      </p:grpSpPr>
      <p:sp>
        <p:nvSpPr>
          <p:cNvPr id="643" name="Google Shape;643;p34"/>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从回归到分类</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64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47" name="Shape 647"/>
        <p:cNvGrpSpPr/>
        <p:nvPr/>
      </p:nvGrpSpPr>
      <p:grpSpPr>
        <a:xfrm>
          <a:off x="0" y="0"/>
          <a:ext cx="0" cy="0"/>
          <a:chOff x="0" y="0"/>
          <a:chExt cx="0" cy="0"/>
        </a:xfrm>
      </p:grpSpPr>
      <p:sp>
        <p:nvSpPr>
          <p:cNvPr id="648" name="Google Shape;648;p35"/>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Open Sans"/>
                <a:ea typeface="Noto Sans SC"/>
                <a:cs typeface="Open Sans"/>
                <a:sym typeface="Open Sans"/>
              </a:rPr>
              <a:t>MNIST </a:t>
            </a:r>
            <a:r>
              <a:rPr b="1" i="0" lang="en-US" sz="3600" u="none" cap="none" strike="noStrike">
                <a:solidFill>
                  <a:schemeClr val="dk2"/>
                </a:solidFill>
                <a:latin typeface="Noto Sans SC"/>
                <a:ea typeface="Noto Sans SC"/>
                <a:cs typeface="Open Sans"/>
                <a:sym typeface="Open Sans"/>
              </a:rPr>
              <a:t>模型</a:t>
            </a:r>
            <a:endParaRPr b="1" i="0" sz="3600" u="none" cap="none" strike="noStrike">
              <a:solidFill>
                <a:schemeClr val="dk2"/>
              </a:solidFill>
              <a:latin typeface="Open Sans"/>
              <a:ea typeface="Noto Sans SC"/>
              <a:cs typeface="Open Sans"/>
              <a:sym typeface="Open Sans"/>
            </a:endParaRPr>
          </a:p>
        </p:txBody>
      </p:sp>
      <p:sp>
        <p:nvSpPr>
          <p:cNvPr id="649" name="Google Shape;649;p35"/>
          <p:cNvSpPr/>
          <p:nvPr/>
        </p:nvSpPr>
        <p:spPr>
          <a:xfrm rot="5400000">
            <a:off x="7089571" y="3239018"/>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50" name="Google Shape;650;p35"/>
          <p:cNvSpPr/>
          <p:nvPr/>
        </p:nvSpPr>
        <p:spPr>
          <a:xfrm rot="5400000">
            <a:off x="2966106" y="32343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51" name="Google Shape;651;p35"/>
          <p:cNvSpPr/>
          <p:nvPr/>
        </p:nvSpPr>
        <p:spPr>
          <a:xfrm rot="5400000">
            <a:off x="2575223" y="32343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52" name="Google Shape;652;p35"/>
          <p:cNvSpPr/>
          <p:nvPr/>
        </p:nvSpPr>
        <p:spPr>
          <a:xfrm rot="5400000">
            <a:off x="7089571" y="405393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53" name="Google Shape;653;p35"/>
          <p:cNvSpPr/>
          <p:nvPr/>
        </p:nvSpPr>
        <p:spPr>
          <a:xfrm rot="5400000">
            <a:off x="2966106" y="404923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54" name="Google Shape;654;p35"/>
          <p:cNvSpPr/>
          <p:nvPr/>
        </p:nvSpPr>
        <p:spPr>
          <a:xfrm rot="5400000">
            <a:off x="2575223" y="404923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55" name="Google Shape;655;p35"/>
          <p:cNvSpPr/>
          <p:nvPr/>
        </p:nvSpPr>
        <p:spPr>
          <a:xfrm rot="5400000">
            <a:off x="2116306"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656" name="Google Shape;656;p35"/>
          <p:cNvCxnSpPr>
            <a:stCxn id="652" idx="6"/>
            <a:endCxn id="655" idx="2"/>
          </p:cNvCxnSpPr>
          <p:nvPr/>
        </p:nvCxnSpPr>
        <p:spPr>
          <a:xfrm flipH="1">
            <a:off x="2279128" y="4378853"/>
            <a:ext cx="4973400" cy="672900"/>
          </a:xfrm>
          <a:prstGeom prst="straightConnector1">
            <a:avLst/>
          </a:prstGeom>
          <a:noFill/>
          <a:ln cap="flat" cmpd="sng" w="28575">
            <a:solidFill>
              <a:srgbClr val="7F7F7F"/>
            </a:solidFill>
            <a:prstDash val="solid"/>
            <a:round/>
            <a:headEnd len="sm" w="sm" type="none"/>
            <a:tailEnd len="sm" w="sm" type="none"/>
          </a:ln>
        </p:spPr>
      </p:cxnSp>
      <p:cxnSp>
        <p:nvCxnSpPr>
          <p:cNvPr id="657" name="Google Shape;657;p35"/>
          <p:cNvCxnSpPr>
            <a:stCxn id="653" idx="6"/>
            <a:endCxn id="655" idx="2"/>
          </p:cNvCxnSpPr>
          <p:nvPr/>
        </p:nvCxnSpPr>
        <p:spPr>
          <a:xfrm flipH="1">
            <a:off x="2279163" y="4374151"/>
            <a:ext cx="849900" cy="677700"/>
          </a:xfrm>
          <a:prstGeom prst="straightConnector1">
            <a:avLst/>
          </a:prstGeom>
          <a:noFill/>
          <a:ln cap="flat" cmpd="sng" w="28575">
            <a:solidFill>
              <a:srgbClr val="7F7F7F"/>
            </a:solidFill>
            <a:prstDash val="solid"/>
            <a:round/>
            <a:headEnd len="sm" w="sm" type="none"/>
            <a:tailEnd len="sm" w="sm" type="none"/>
          </a:ln>
        </p:spPr>
      </p:cxnSp>
      <p:cxnSp>
        <p:nvCxnSpPr>
          <p:cNvPr id="658" name="Google Shape;658;p35"/>
          <p:cNvCxnSpPr>
            <a:stCxn id="654" idx="6"/>
            <a:endCxn id="655" idx="2"/>
          </p:cNvCxnSpPr>
          <p:nvPr/>
        </p:nvCxnSpPr>
        <p:spPr>
          <a:xfrm flipH="1">
            <a:off x="2279180" y="4374151"/>
            <a:ext cx="459000" cy="677700"/>
          </a:xfrm>
          <a:prstGeom prst="straightConnector1">
            <a:avLst/>
          </a:prstGeom>
          <a:noFill/>
          <a:ln cap="flat" cmpd="sng" w="28575">
            <a:solidFill>
              <a:srgbClr val="7F7F7F"/>
            </a:solidFill>
            <a:prstDash val="solid"/>
            <a:round/>
            <a:headEnd len="sm" w="sm" type="none"/>
            <a:tailEnd len="sm" w="sm" type="none"/>
          </a:ln>
        </p:spPr>
      </p:cxnSp>
      <p:cxnSp>
        <p:nvCxnSpPr>
          <p:cNvPr id="659" name="Google Shape;659;p35"/>
          <p:cNvCxnSpPr>
            <a:stCxn id="651" idx="6"/>
            <a:endCxn id="652" idx="2"/>
          </p:cNvCxnSpPr>
          <p:nvPr/>
        </p:nvCxnSpPr>
        <p:spPr>
          <a:xfrm>
            <a:off x="2738180" y="3559237"/>
            <a:ext cx="4514400" cy="493800"/>
          </a:xfrm>
          <a:prstGeom prst="straightConnector1">
            <a:avLst/>
          </a:prstGeom>
          <a:noFill/>
          <a:ln cap="flat" cmpd="sng" w="28575">
            <a:solidFill>
              <a:srgbClr val="7F7F7F"/>
            </a:solidFill>
            <a:prstDash val="solid"/>
            <a:round/>
            <a:headEnd len="sm" w="sm" type="none"/>
            <a:tailEnd len="sm" w="sm" type="none"/>
          </a:ln>
        </p:spPr>
      </p:cxnSp>
      <p:cxnSp>
        <p:nvCxnSpPr>
          <p:cNvPr id="660" name="Google Shape;660;p35"/>
          <p:cNvCxnSpPr>
            <a:stCxn id="651" idx="6"/>
            <a:endCxn id="653" idx="2"/>
          </p:cNvCxnSpPr>
          <p:nvPr/>
        </p:nvCxnSpPr>
        <p:spPr>
          <a:xfrm>
            <a:off x="2738180" y="3559237"/>
            <a:ext cx="390900" cy="489000"/>
          </a:xfrm>
          <a:prstGeom prst="straightConnector1">
            <a:avLst/>
          </a:prstGeom>
          <a:noFill/>
          <a:ln cap="flat" cmpd="sng" w="28575">
            <a:solidFill>
              <a:srgbClr val="7F7F7F"/>
            </a:solidFill>
            <a:prstDash val="solid"/>
            <a:round/>
            <a:headEnd len="sm" w="sm" type="none"/>
            <a:tailEnd len="sm" w="sm" type="none"/>
          </a:ln>
        </p:spPr>
      </p:cxnSp>
      <p:cxnSp>
        <p:nvCxnSpPr>
          <p:cNvPr id="661" name="Google Shape;661;p35"/>
          <p:cNvCxnSpPr>
            <a:stCxn id="651" idx="6"/>
            <a:endCxn id="654" idx="2"/>
          </p:cNvCxnSpPr>
          <p:nvPr/>
        </p:nvCxnSpPr>
        <p:spPr>
          <a:xfrm>
            <a:off x="2738180" y="3559237"/>
            <a:ext cx="0" cy="489000"/>
          </a:xfrm>
          <a:prstGeom prst="straightConnector1">
            <a:avLst/>
          </a:prstGeom>
          <a:noFill/>
          <a:ln cap="flat" cmpd="sng" w="28575">
            <a:solidFill>
              <a:srgbClr val="7F7F7F"/>
            </a:solidFill>
            <a:prstDash val="solid"/>
            <a:round/>
            <a:headEnd len="sm" w="sm" type="none"/>
            <a:tailEnd len="sm" w="sm" type="none"/>
          </a:ln>
        </p:spPr>
      </p:cxnSp>
      <p:cxnSp>
        <p:nvCxnSpPr>
          <p:cNvPr id="662" name="Google Shape;662;p35"/>
          <p:cNvCxnSpPr>
            <a:stCxn id="649" idx="6"/>
            <a:endCxn id="652" idx="2"/>
          </p:cNvCxnSpPr>
          <p:nvPr/>
        </p:nvCxnSpPr>
        <p:spPr>
          <a:xfrm>
            <a:off x="7252528" y="3563939"/>
            <a:ext cx="0" cy="489000"/>
          </a:xfrm>
          <a:prstGeom prst="straightConnector1">
            <a:avLst/>
          </a:prstGeom>
          <a:noFill/>
          <a:ln cap="flat" cmpd="sng" w="28575">
            <a:solidFill>
              <a:srgbClr val="7F7F7F"/>
            </a:solidFill>
            <a:prstDash val="solid"/>
            <a:round/>
            <a:headEnd len="sm" w="sm" type="none"/>
            <a:tailEnd len="sm" w="sm" type="none"/>
          </a:ln>
        </p:spPr>
      </p:cxnSp>
      <p:cxnSp>
        <p:nvCxnSpPr>
          <p:cNvPr id="663" name="Google Shape;663;p35"/>
          <p:cNvCxnSpPr>
            <a:stCxn id="649" idx="6"/>
            <a:endCxn id="653" idx="2"/>
          </p:cNvCxnSpPr>
          <p:nvPr/>
        </p:nvCxnSpPr>
        <p:spPr>
          <a:xfrm flipH="1">
            <a:off x="3129028" y="3563939"/>
            <a:ext cx="4123500" cy="484200"/>
          </a:xfrm>
          <a:prstGeom prst="straightConnector1">
            <a:avLst/>
          </a:prstGeom>
          <a:noFill/>
          <a:ln cap="flat" cmpd="sng" w="28575">
            <a:solidFill>
              <a:srgbClr val="7F7F7F"/>
            </a:solidFill>
            <a:prstDash val="solid"/>
            <a:round/>
            <a:headEnd len="sm" w="sm" type="none"/>
            <a:tailEnd len="sm" w="sm" type="none"/>
          </a:ln>
        </p:spPr>
      </p:cxnSp>
      <p:cxnSp>
        <p:nvCxnSpPr>
          <p:cNvPr id="664" name="Google Shape;664;p35"/>
          <p:cNvCxnSpPr>
            <a:stCxn id="649" idx="6"/>
            <a:endCxn id="654" idx="2"/>
          </p:cNvCxnSpPr>
          <p:nvPr/>
        </p:nvCxnSpPr>
        <p:spPr>
          <a:xfrm flipH="1">
            <a:off x="2738128" y="3563939"/>
            <a:ext cx="4514400" cy="484200"/>
          </a:xfrm>
          <a:prstGeom prst="straightConnector1">
            <a:avLst/>
          </a:prstGeom>
          <a:noFill/>
          <a:ln cap="flat" cmpd="sng" w="28575">
            <a:solidFill>
              <a:srgbClr val="7F7F7F"/>
            </a:solidFill>
            <a:prstDash val="solid"/>
            <a:round/>
            <a:headEnd len="sm" w="sm" type="none"/>
            <a:tailEnd len="sm" w="sm" type="none"/>
          </a:ln>
        </p:spPr>
      </p:cxnSp>
      <p:cxnSp>
        <p:nvCxnSpPr>
          <p:cNvPr id="665" name="Google Shape;665;p35"/>
          <p:cNvCxnSpPr>
            <a:stCxn id="650" idx="6"/>
            <a:endCxn id="652" idx="2"/>
          </p:cNvCxnSpPr>
          <p:nvPr/>
        </p:nvCxnSpPr>
        <p:spPr>
          <a:xfrm>
            <a:off x="3129063" y="3559237"/>
            <a:ext cx="4123500" cy="493800"/>
          </a:xfrm>
          <a:prstGeom prst="straightConnector1">
            <a:avLst/>
          </a:prstGeom>
          <a:noFill/>
          <a:ln cap="flat" cmpd="sng" w="28575">
            <a:solidFill>
              <a:srgbClr val="7F7F7F"/>
            </a:solidFill>
            <a:prstDash val="solid"/>
            <a:round/>
            <a:headEnd len="sm" w="sm" type="none"/>
            <a:tailEnd len="sm" w="sm" type="none"/>
          </a:ln>
        </p:spPr>
      </p:cxnSp>
      <p:cxnSp>
        <p:nvCxnSpPr>
          <p:cNvPr id="666" name="Google Shape;666;p35"/>
          <p:cNvCxnSpPr>
            <a:stCxn id="650" idx="6"/>
            <a:endCxn id="653" idx="2"/>
          </p:cNvCxnSpPr>
          <p:nvPr/>
        </p:nvCxnSpPr>
        <p:spPr>
          <a:xfrm>
            <a:off x="3129063" y="3559237"/>
            <a:ext cx="0" cy="489000"/>
          </a:xfrm>
          <a:prstGeom prst="straightConnector1">
            <a:avLst/>
          </a:prstGeom>
          <a:noFill/>
          <a:ln cap="flat" cmpd="sng" w="28575">
            <a:solidFill>
              <a:srgbClr val="7F7F7F"/>
            </a:solidFill>
            <a:prstDash val="solid"/>
            <a:round/>
            <a:headEnd len="sm" w="sm" type="none"/>
            <a:tailEnd len="sm" w="sm" type="none"/>
          </a:ln>
        </p:spPr>
      </p:cxnSp>
      <p:cxnSp>
        <p:nvCxnSpPr>
          <p:cNvPr id="667" name="Google Shape;667;p35"/>
          <p:cNvCxnSpPr>
            <a:stCxn id="650" idx="6"/>
            <a:endCxn id="654" idx="2"/>
          </p:cNvCxnSpPr>
          <p:nvPr/>
        </p:nvCxnSpPr>
        <p:spPr>
          <a:xfrm flipH="1">
            <a:off x="2738163" y="3559237"/>
            <a:ext cx="390900" cy="489000"/>
          </a:xfrm>
          <a:prstGeom prst="straightConnector1">
            <a:avLst/>
          </a:prstGeom>
          <a:noFill/>
          <a:ln cap="flat" cmpd="sng" w="28575">
            <a:solidFill>
              <a:srgbClr val="7F7F7F"/>
            </a:solidFill>
            <a:prstDash val="solid"/>
            <a:round/>
            <a:headEnd len="sm" w="sm" type="none"/>
            <a:tailEnd len="sm" w="sm" type="none"/>
          </a:ln>
        </p:spPr>
      </p:cxnSp>
      <p:sp>
        <p:nvSpPr>
          <p:cNvPr id="668" name="Google Shape;668;p35"/>
          <p:cNvSpPr/>
          <p:nvPr/>
        </p:nvSpPr>
        <p:spPr>
          <a:xfrm rot="5400000">
            <a:off x="2739222"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69" name="Google Shape;669;p35"/>
          <p:cNvSpPr/>
          <p:nvPr/>
        </p:nvSpPr>
        <p:spPr>
          <a:xfrm rot="5400000">
            <a:off x="3364441"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70" name="Google Shape;670;p35"/>
          <p:cNvSpPr/>
          <p:nvPr/>
        </p:nvSpPr>
        <p:spPr>
          <a:xfrm rot="5400000">
            <a:off x="3987357"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71" name="Google Shape;671;p35"/>
          <p:cNvSpPr/>
          <p:nvPr/>
        </p:nvSpPr>
        <p:spPr>
          <a:xfrm rot="5400000">
            <a:off x="4638524"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72" name="Google Shape;672;p35"/>
          <p:cNvSpPr/>
          <p:nvPr/>
        </p:nvSpPr>
        <p:spPr>
          <a:xfrm rot="5400000">
            <a:off x="5261440"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73" name="Google Shape;673;p35"/>
          <p:cNvSpPr/>
          <p:nvPr/>
        </p:nvSpPr>
        <p:spPr>
          <a:xfrm rot="5400000">
            <a:off x="5883344" y="5061344"/>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74" name="Google Shape;674;p35"/>
          <p:cNvSpPr/>
          <p:nvPr/>
        </p:nvSpPr>
        <p:spPr>
          <a:xfrm rot="5400000">
            <a:off x="6506260" y="5056719"/>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75" name="Google Shape;675;p35"/>
          <p:cNvSpPr/>
          <p:nvPr/>
        </p:nvSpPr>
        <p:spPr>
          <a:xfrm rot="5400000">
            <a:off x="7128164"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676" name="Google Shape;676;p35"/>
          <p:cNvSpPr/>
          <p:nvPr/>
        </p:nvSpPr>
        <p:spPr>
          <a:xfrm rot="5400000">
            <a:off x="7751080"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677" name="Google Shape;677;p35"/>
          <p:cNvCxnSpPr>
            <a:stCxn id="654" idx="6"/>
            <a:endCxn id="668" idx="2"/>
          </p:cNvCxnSpPr>
          <p:nvPr/>
        </p:nvCxnSpPr>
        <p:spPr>
          <a:xfrm>
            <a:off x="2738180" y="4374151"/>
            <a:ext cx="164100" cy="673200"/>
          </a:xfrm>
          <a:prstGeom prst="straightConnector1">
            <a:avLst/>
          </a:prstGeom>
          <a:noFill/>
          <a:ln cap="flat" cmpd="sng" w="28575">
            <a:solidFill>
              <a:srgbClr val="7F7F7F"/>
            </a:solidFill>
            <a:prstDash val="solid"/>
            <a:round/>
            <a:headEnd len="sm" w="sm" type="none"/>
            <a:tailEnd len="sm" w="sm" type="none"/>
          </a:ln>
        </p:spPr>
      </p:cxnSp>
      <p:cxnSp>
        <p:nvCxnSpPr>
          <p:cNvPr id="678" name="Google Shape;678;p35"/>
          <p:cNvCxnSpPr>
            <a:stCxn id="653" idx="6"/>
            <a:endCxn id="668" idx="2"/>
          </p:cNvCxnSpPr>
          <p:nvPr/>
        </p:nvCxnSpPr>
        <p:spPr>
          <a:xfrm flipH="1">
            <a:off x="2902263" y="4374151"/>
            <a:ext cx="226800" cy="673200"/>
          </a:xfrm>
          <a:prstGeom prst="straightConnector1">
            <a:avLst/>
          </a:prstGeom>
          <a:noFill/>
          <a:ln cap="flat" cmpd="sng" w="28575">
            <a:solidFill>
              <a:srgbClr val="7F7F7F"/>
            </a:solidFill>
            <a:prstDash val="solid"/>
            <a:round/>
            <a:headEnd len="sm" w="sm" type="none"/>
            <a:tailEnd len="sm" w="sm" type="none"/>
          </a:ln>
        </p:spPr>
      </p:cxnSp>
      <p:cxnSp>
        <p:nvCxnSpPr>
          <p:cNvPr id="679" name="Google Shape;679;p35"/>
          <p:cNvCxnSpPr>
            <a:stCxn id="652" idx="6"/>
            <a:endCxn id="668" idx="2"/>
          </p:cNvCxnSpPr>
          <p:nvPr/>
        </p:nvCxnSpPr>
        <p:spPr>
          <a:xfrm flipH="1">
            <a:off x="2902228" y="4378853"/>
            <a:ext cx="4350300" cy="668400"/>
          </a:xfrm>
          <a:prstGeom prst="straightConnector1">
            <a:avLst/>
          </a:prstGeom>
          <a:noFill/>
          <a:ln cap="flat" cmpd="sng" w="28575">
            <a:solidFill>
              <a:srgbClr val="7F7F7F"/>
            </a:solidFill>
            <a:prstDash val="solid"/>
            <a:round/>
            <a:headEnd len="sm" w="sm" type="none"/>
            <a:tailEnd len="sm" w="sm" type="none"/>
          </a:ln>
        </p:spPr>
      </p:cxnSp>
      <p:cxnSp>
        <p:nvCxnSpPr>
          <p:cNvPr id="680" name="Google Shape;680;p35"/>
          <p:cNvCxnSpPr>
            <a:stCxn id="653" idx="6"/>
            <a:endCxn id="669" idx="2"/>
          </p:cNvCxnSpPr>
          <p:nvPr/>
        </p:nvCxnSpPr>
        <p:spPr>
          <a:xfrm>
            <a:off x="3129063" y="4374151"/>
            <a:ext cx="398400" cy="677700"/>
          </a:xfrm>
          <a:prstGeom prst="straightConnector1">
            <a:avLst/>
          </a:prstGeom>
          <a:noFill/>
          <a:ln cap="flat" cmpd="sng" w="28575">
            <a:solidFill>
              <a:srgbClr val="7F7F7F"/>
            </a:solidFill>
            <a:prstDash val="solid"/>
            <a:round/>
            <a:headEnd len="sm" w="sm" type="none"/>
            <a:tailEnd len="sm" w="sm" type="none"/>
          </a:ln>
        </p:spPr>
      </p:cxnSp>
      <p:cxnSp>
        <p:nvCxnSpPr>
          <p:cNvPr id="681" name="Google Shape;681;p35"/>
          <p:cNvCxnSpPr>
            <a:stCxn id="654" idx="6"/>
            <a:endCxn id="669" idx="2"/>
          </p:cNvCxnSpPr>
          <p:nvPr/>
        </p:nvCxnSpPr>
        <p:spPr>
          <a:xfrm>
            <a:off x="2738180" y="4374151"/>
            <a:ext cx="789300" cy="677700"/>
          </a:xfrm>
          <a:prstGeom prst="straightConnector1">
            <a:avLst/>
          </a:prstGeom>
          <a:noFill/>
          <a:ln cap="flat" cmpd="sng" w="28575">
            <a:solidFill>
              <a:srgbClr val="7F7F7F"/>
            </a:solidFill>
            <a:prstDash val="solid"/>
            <a:round/>
            <a:headEnd len="sm" w="sm" type="none"/>
            <a:tailEnd len="sm" w="sm" type="none"/>
          </a:ln>
        </p:spPr>
      </p:cxnSp>
      <p:cxnSp>
        <p:nvCxnSpPr>
          <p:cNvPr id="682" name="Google Shape;682;p35"/>
          <p:cNvCxnSpPr>
            <a:stCxn id="652" idx="6"/>
            <a:endCxn id="669" idx="2"/>
          </p:cNvCxnSpPr>
          <p:nvPr/>
        </p:nvCxnSpPr>
        <p:spPr>
          <a:xfrm flipH="1">
            <a:off x="3527428" y="4378853"/>
            <a:ext cx="3725100" cy="672900"/>
          </a:xfrm>
          <a:prstGeom prst="straightConnector1">
            <a:avLst/>
          </a:prstGeom>
          <a:noFill/>
          <a:ln cap="flat" cmpd="sng" w="28575">
            <a:solidFill>
              <a:srgbClr val="7F7F7F"/>
            </a:solidFill>
            <a:prstDash val="solid"/>
            <a:round/>
            <a:headEnd len="sm" w="sm" type="none"/>
            <a:tailEnd len="sm" w="sm" type="none"/>
          </a:ln>
        </p:spPr>
      </p:cxnSp>
      <p:cxnSp>
        <p:nvCxnSpPr>
          <p:cNvPr id="683" name="Google Shape;683;p35"/>
          <p:cNvCxnSpPr>
            <a:stCxn id="654" idx="6"/>
            <a:endCxn id="670" idx="2"/>
          </p:cNvCxnSpPr>
          <p:nvPr/>
        </p:nvCxnSpPr>
        <p:spPr>
          <a:xfrm>
            <a:off x="2738180" y="4374151"/>
            <a:ext cx="1412100" cy="673200"/>
          </a:xfrm>
          <a:prstGeom prst="straightConnector1">
            <a:avLst/>
          </a:prstGeom>
          <a:noFill/>
          <a:ln cap="flat" cmpd="sng" w="28575">
            <a:solidFill>
              <a:srgbClr val="7F7F7F"/>
            </a:solidFill>
            <a:prstDash val="solid"/>
            <a:round/>
            <a:headEnd len="sm" w="sm" type="none"/>
            <a:tailEnd len="sm" w="sm" type="none"/>
          </a:ln>
        </p:spPr>
      </p:cxnSp>
      <p:cxnSp>
        <p:nvCxnSpPr>
          <p:cNvPr id="684" name="Google Shape;684;p35"/>
          <p:cNvCxnSpPr>
            <a:stCxn id="653" idx="6"/>
            <a:endCxn id="670" idx="2"/>
          </p:cNvCxnSpPr>
          <p:nvPr/>
        </p:nvCxnSpPr>
        <p:spPr>
          <a:xfrm>
            <a:off x="3129063" y="4374151"/>
            <a:ext cx="1021200" cy="673200"/>
          </a:xfrm>
          <a:prstGeom prst="straightConnector1">
            <a:avLst/>
          </a:prstGeom>
          <a:noFill/>
          <a:ln cap="flat" cmpd="sng" w="28575">
            <a:solidFill>
              <a:srgbClr val="7F7F7F"/>
            </a:solidFill>
            <a:prstDash val="solid"/>
            <a:round/>
            <a:headEnd len="sm" w="sm" type="none"/>
            <a:tailEnd len="sm" w="sm" type="none"/>
          </a:ln>
        </p:spPr>
      </p:cxnSp>
      <p:cxnSp>
        <p:nvCxnSpPr>
          <p:cNvPr id="685" name="Google Shape;685;p35"/>
          <p:cNvCxnSpPr>
            <a:stCxn id="652" idx="6"/>
            <a:endCxn id="670" idx="2"/>
          </p:cNvCxnSpPr>
          <p:nvPr/>
        </p:nvCxnSpPr>
        <p:spPr>
          <a:xfrm flipH="1">
            <a:off x="4150228" y="4378853"/>
            <a:ext cx="3102300" cy="668400"/>
          </a:xfrm>
          <a:prstGeom prst="straightConnector1">
            <a:avLst/>
          </a:prstGeom>
          <a:noFill/>
          <a:ln cap="flat" cmpd="sng" w="28575">
            <a:solidFill>
              <a:srgbClr val="7F7F7F"/>
            </a:solidFill>
            <a:prstDash val="solid"/>
            <a:round/>
            <a:headEnd len="sm" w="sm" type="none"/>
            <a:tailEnd len="sm" w="sm" type="none"/>
          </a:ln>
        </p:spPr>
      </p:cxnSp>
      <p:cxnSp>
        <p:nvCxnSpPr>
          <p:cNvPr id="686" name="Google Shape;686;p35"/>
          <p:cNvCxnSpPr>
            <a:stCxn id="654" idx="6"/>
            <a:endCxn id="671" idx="2"/>
          </p:cNvCxnSpPr>
          <p:nvPr/>
        </p:nvCxnSpPr>
        <p:spPr>
          <a:xfrm>
            <a:off x="2738180" y="4374151"/>
            <a:ext cx="2063400" cy="677700"/>
          </a:xfrm>
          <a:prstGeom prst="straightConnector1">
            <a:avLst/>
          </a:prstGeom>
          <a:noFill/>
          <a:ln cap="flat" cmpd="sng" w="28575">
            <a:solidFill>
              <a:srgbClr val="7F7F7F"/>
            </a:solidFill>
            <a:prstDash val="solid"/>
            <a:round/>
            <a:headEnd len="sm" w="sm" type="none"/>
            <a:tailEnd len="sm" w="sm" type="none"/>
          </a:ln>
        </p:spPr>
      </p:cxnSp>
      <p:cxnSp>
        <p:nvCxnSpPr>
          <p:cNvPr id="687" name="Google Shape;687;p35"/>
          <p:cNvCxnSpPr>
            <a:stCxn id="653" idx="6"/>
            <a:endCxn id="671" idx="2"/>
          </p:cNvCxnSpPr>
          <p:nvPr/>
        </p:nvCxnSpPr>
        <p:spPr>
          <a:xfrm>
            <a:off x="3129063" y="4374151"/>
            <a:ext cx="1672500" cy="677700"/>
          </a:xfrm>
          <a:prstGeom prst="straightConnector1">
            <a:avLst/>
          </a:prstGeom>
          <a:noFill/>
          <a:ln cap="flat" cmpd="sng" w="28575">
            <a:solidFill>
              <a:srgbClr val="7F7F7F"/>
            </a:solidFill>
            <a:prstDash val="solid"/>
            <a:round/>
            <a:headEnd len="sm" w="sm" type="none"/>
            <a:tailEnd len="sm" w="sm" type="none"/>
          </a:ln>
        </p:spPr>
      </p:cxnSp>
      <p:cxnSp>
        <p:nvCxnSpPr>
          <p:cNvPr id="688" name="Google Shape;688;p35"/>
          <p:cNvCxnSpPr>
            <a:stCxn id="652" idx="6"/>
            <a:endCxn id="671" idx="2"/>
          </p:cNvCxnSpPr>
          <p:nvPr/>
        </p:nvCxnSpPr>
        <p:spPr>
          <a:xfrm flipH="1">
            <a:off x="4801528" y="4378853"/>
            <a:ext cx="2451000" cy="672900"/>
          </a:xfrm>
          <a:prstGeom prst="straightConnector1">
            <a:avLst/>
          </a:prstGeom>
          <a:noFill/>
          <a:ln cap="flat" cmpd="sng" w="28575">
            <a:solidFill>
              <a:srgbClr val="7F7F7F"/>
            </a:solidFill>
            <a:prstDash val="solid"/>
            <a:round/>
            <a:headEnd len="sm" w="sm" type="none"/>
            <a:tailEnd len="sm" w="sm" type="none"/>
          </a:ln>
        </p:spPr>
      </p:cxnSp>
      <p:cxnSp>
        <p:nvCxnSpPr>
          <p:cNvPr id="689" name="Google Shape;689;p35"/>
          <p:cNvCxnSpPr>
            <a:stCxn id="653" idx="6"/>
            <a:endCxn id="672" idx="2"/>
          </p:cNvCxnSpPr>
          <p:nvPr/>
        </p:nvCxnSpPr>
        <p:spPr>
          <a:xfrm>
            <a:off x="3129063" y="4374151"/>
            <a:ext cx="2295300" cy="673200"/>
          </a:xfrm>
          <a:prstGeom prst="straightConnector1">
            <a:avLst/>
          </a:prstGeom>
          <a:noFill/>
          <a:ln cap="flat" cmpd="sng" w="28575">
            <a:solidFill>
              <a:srgbClr val="7F7F7F"/>
            </a:solidFill>
            <a:prstDash val="solid"/>
            <a:round/>
            <a:headEnd len="sm" w="sm" type="none"/>
            <a:tailEnd len="sm" w="sm" type="none"/>
          </a:ln>
        </p:spPr>
      </p:cxnSp>
      <p:cxnSp>
        <p:nvCxnSpPr>
          <p:cNvPr id="690" name="Google Shape;690;p35"/>
          <p:cNvCxnSpPr>
            <a:stCxn id="654" idx="6"/>
            <a:endCxn id="672" idx="2"/>
          </p:cNvCxnSpPr>
          <p:nvPr/>
        </p:nvCxnSpPr>
        <p:spPr>
          <a:xfrm>
            <a:off x="2738180" y="4374151"/>
            <a:ext cx="2686200" cy="673200"/>
          </a:xfrm>
          <a:prstGeom prst="straightConnector1">
            <a:avLst/>
          </a:prstGeom>
          <a:noFill/>
          <a:ln cap="flat" cmpd="sng" w="28575">
            <a:solidFill>
              <a:srgbClr val="7F7F7F"/>
            </a:solidFill>
            <a:prstDash val="solid"/>
            <a:round/>
            <a:headEnd len="sm" w="sm" type="none"/>
            <a:tailEnd len="sm" w="sm" type="none"/>
          </a:ln>
        </p:spPr>
      </p:cxnSp>
      <p:cxnSp>
        <p:nvCxnSpPr>
          <p:cNvPr id="691" name="Google Shape;691;p35"/>
          <p:cNvCxnSpPr>
            <a:stCxn id="652" idx="6"/>
            <a:endCxn id="672" idx="2"/>
          </p:cNvCxnSpPr>
          <p:nvPr/>
        </p:nvCxnSpPr>
        <p:spPr>
          <a:xfrm flipH="1">
            <a:off x="5424328" y="4378853"/>
            <a:ext cx="1828200" cy="668400"/>
          </a:xfrm>
          <a:prstGeom prst="straightConnector1">
            <a:avLst/>
          </a:prstGeom>
          <a:noFill/>
          <a:ln cap="flat" cmpd="sng" w="28575">
            <a:solidFill>
              <a:srgbClr val="7F7F7F"/>
            </a:solidFill>
            <a:prstDash val="solid"/>
            <a:round/>
            <a:headEnd len="sm" w="sm" type="none"/>
            <a:tailEnd len="sm" w="sm" type="none"/>
          </a:ln>
        </p:spPr>
      </p:cxnSp>
      <p:cxnSp>
        <p:nvCxnSpPr>
          <p:cNvPr id="692" name="Google Shape;692;p35"/>
          <p:cNvCxnSpPr>
            <a:stCxn id="654" idx="6"/>
            <a:endCxn id="673" idx="2"/>
          </p:cNvCxnSpPr>
          <p:nvPr/>
        </p:nvCxnSpPr>
        <p:spPr>
          <a:xfrm>
            <a:off x="2738180" y="4374151"/>
            <a:ext cx="3308100" cy="686100"/>
          </a:xfrm>
          <a:prstGeom prst="straightConnector1">
            <a:avLst/>
          </a:prstGeom>
          <a:noFill/>
          <a:ln cap="flat" cmpd="sng" w="28575">
            <a:solidFill>
              <a:srgbClr val="7F7F7F"/>
            </a:solidFill>
            <a:prstDash val="solid"/>
            <a:round/>
            <a:headEnd len="sm" w="sm" type="none"/>
            <a:tailEnd len="sm" w="sm" type="none"/>
          </a:ln>
        </p:spPr>
      </p:cxnSp>
      <p:cxnSp>
        <p:nvCxnSpPr>
          <p:cNvPr id="693" name="Google Shape;693;p35"/>
          <p:cNvCxnSpPr>
            <a:stCxn id="653" idx="6"/>
            <a:endCxn id="673" idx="2"/>
          </p:cNvCxnSpPr>
          <p:nvPr/>
        </p:nvCxnSpPr>
        <p:spPr>
          <a:xfrm>
            <a:off x="3129063" y="4374151"/>
            <a:ext cx="2917200" cy="686100"/>
          </a:xfrm>
          <a:prstGeom prst="straightConnector1">
            <a:avLst/>
          </a:prstGeom>
          <a:noFill/>
          <a:ln cap="flat" cmpd="sng" w="28575">
            <a:solidFill>
              <a:srgbClr val="7F7F7F"/>
            </a:solidFill>
            <a:prstDash val="solid"/>
            <a:round/>
            <a:headEnd len="sm" w="sm" type="none"/>
            <a:tailEnd len="sm" w="sm" type="none"/>
          </a:ln>
        </p:spPr>
      </p:cxnSp>
      <p:cxnSp>
        <p:nvCxnSpPr>
          <p:cNvPr id="694" name="Google Shape;694;p35"/>
          <p:cNvCxnSpPr>
            <a:stCxn id="652" idx="6"/>
            <a:endCxn id="673" idx="2"/>
          </p:cNvCxnSpPr>
          <p:nvPr/>
        </p:nvCxnSpPr>
        <p:spPr>
          <a:xfrm flipH="1">
            <a:off x="6046228" y="4378853"/>
            <a:ext cx="1206300" cy="681600"/>
          </a:xfrm>
          <a:prstGeom prst="straightConnector1">
            <a:avLst/>
          </a:prstGeom>
          <a:noFill/>
          <a:ln cap="flat" cmpd="sng" w="28575">
            <a:solidFill>
              <a:srgbClr val="7F7F7F"/>
            </a:solidFill>
            <a:prstDash val="solid"/>
            <a:round/>
            <a:headEnd len="sm" w="sm" type="none"/>
            <a:tailEnd len="sm" w="sm" type="none"/>
          </a:ln>
        </p:spPr>
      </p:cxnSp>
      <p:cxnSp>
        <p:nvCxnSpPr>
          <p:cNvPr id="695" name="Google Shape;695;p35"/>
          <p:cNvCxnSpPr>
            <a:stCxn id="654" idx="6"/>
            <a:endCxn id="674" idx="2"/>
          </p:cNvCxnSpPr>
          <p:nvPr/>
        </p:nvCxnSpPr>
        <p:spPr>
          <a:xfrm>
            <a:off x="2738180" y="4374151"/>
            <a:ext cx="3930900" cy="681600"/>
          </a:xfrm>
          <a:prstGeom prst="straightConnector1">
            <a:avLst/>
          </a:prstGeom>
          <a:noFill/>
          <a:ln cap="flat" cmpd="sng" w="28575">
            <a:solidFill>
              <a:srgbClr val="7F7F7F"/>
            </a:solidFill>
            <a:prstDash val="solid"/>
            <a:round/>
            <a:headEnd len="sm" w="sm" type="none"/>
            <a:tailEnd len="sm" w="sm" type="none"/>
          </a:ln>
        </p:spPr>
      </p:cxnSp>
      <p:cxnSp>
        <p:nvCxnSpPr>
          <p:cNvPr id="696" name="Google Shape;696;p35"/>
          <p:cNvCxnSpPr>
            <a:stCxn id="653" idx="6"/>
            <a:endCxn id="674" idx="2"/>
          </p:cNvCxnSpPr>
          <p:nvPr/>
        </p:nvCxnSpPr>
        <p:spPr>
          <a:xfrm>
            <a:off x="3129063" y="4374151"/>
            <a:ext cx="3540300" cy="681600"/>
          </a:xfrm>
          <a:prstGeom prst="straightConnector1">
            <a:avLst/>
          </a:prstGeom>
          <a:noFill/>
          <a:ln cap="flat" cmpd="sng" w="28575">
            <a:solidFill>
              <a:srgbClr val="7F7F7F"/>
            </a:solidFill>
            <a:prstDash val="solid"/>
            <a:round/>
            <a:headEnd len="sm" w="sm" type="none"/>
            <a:tailEnd len="sm" w="sm" type="none"/>
          </a:ln>
        </p:spPr>
      </p:cxnSp>
      <p:cxnSp>
        <p:nvCxnSpPr>
          <p:cNvPr id="697" name="Google Shape;697;p35"/>
          <p:cNvCxnSpPr>
            <a:stCxn id="652" idx="6"/>
            <a:endCxn id="674" idx="2"/>
          </p:cNvCxnSpPr>
          <p:nvPr/>
        </p:nvCxnSpPr>
        <p:spPr>
          <a:xfrm flipH="1">
            <a:off x="6669328" y="4378853"/>
            <a:ext cx="583200" cy="676800"/>
          </a:xfrm>
          <a:prstGeom prst="straightConnector1">
            <a:avLst/>
          </a:prstGeom>
          <a:noFill/>
          <a:ln cap="flat" cmpd="sng" w="28575">
            <a:solidFill>
              <a:srgbClr val="7F7F7F"/>
            </a:solidFill>
            <a:prstDash val="solid"/>
            <a:round/>
            <a:headEnd len="sm" w="sm" type="none"/>
            <a:tailEnd len="sm" w="sm" type="none"/>
          </a:ln>
        </p:spPr>
      </p:cxnSp>
      <p:cxnSp>
        <p:nvCxnSpPr>
          <p:cNvPr id="698" name="Google Shape;698;p35"/>
          <p:cNvCxnSpPr>
            <a:stCxn id="654" idx="6"/>
            <a:endCxn id="675" idx="2"/>
          </p:cNvCxnSpPr>
          <p:nvPr/>
        </p:nvCxnSpPr>
        <p:spPr>
          <a:xfrm>
            <a:off x="2738180" y="4374151"/>
            <a:ext cx="4552800" cy="677700"/>
          </a:xfrm>
          <a:prstGeom prst="straightConnector1">
            <a:avLst/>
          </a:prstGeom>
          <a:noFill/>
          <a:ln cap="flat" cmpd="sng" w="28575">
            <a:solidFill>
              <a:srgbClr val="7F7F7F"/>
            </a:solidFill>
            <a:prstDash val="solid"/>
            <a:round/>
            <a:headEnd len="sm" w="sm" type="none"/>
            <a:tailEnd len="sm" w="sm" type="none"/>
          </a:ln>
        </p:spPr>
      </p:cxnSp>
      <p:cxnSp>
        <p:nvCxnSpPr>
          <p:cNvPr id="699" name="Google Shape;699;p35"/>
          <p:cNvCxnSpPr>
            <a:stCxn id="653" idx="6"/>
            <a:endCxn id="675" idx="2"/>
          </p:cNvCxnSpPr>
          <p:nvPr/>
        </p:nvCxnSpPr>
        <p:spPr>
          <a:xfrm>
            <a:off x="3129063" y="4374151"/>
            <a:ext cx="4162200" cy="677700"/>
          </a:xfrm>
          <a:prstGeom prst="straightConnector1">
            <a:avLst/>
          </a:prstGeom>
          <a:noFill/>
          <a:ln cap="flat" cmpd="sng" w="28575">
            <a:solidFill>
              <a:srgbClr val="7F7F7F"/>
            </a:solidFill>
            <a:prstDash val="solid"/>
            <a:round/>
            <a:headEnd len="sm" w="sm" type="none"/>
            <a:tailEnd len="sm" w="sm" type="none"/>
          </a:ln>
        </p:spPr>
      </p:cxnSp>
      <p:cxnSp>
        <p:nvCxnSpPr>
          <p:cNvPr id="700" name="Google Shape;700;p35"/>
          <p:cNvCxnSpPr>
            <a:stCxn id="652" idx="6"/>
            <a:endCxn id="675" idx="2"/>
          </p:cNvCxnSpPr>
          <p:nvPr/>
        </p:nvCxnSpPr>
        <p:spPr>
          <a:xfrm>
            <a:off x="7252528" y="4378853"/>
            <a:ext cx="38700" cy="672900"/>
          </a:xfrm>
          <a:prstGeom prst="straightConnector1">
            <a:avLst/>
          </a:prstGeom>
          <a:noFill/>
          <a:ln cap="flat" cmpd="sng" w="28575">
            <a:solidFill>
              <a:srgbClr val="7F7F7F"/>
            </a:solidFill>
            <a:prstDash val="solid"/>
            <a:round/>
            <a:headEnd len="sm" w="sm" type="none"/>
            <a:tailEnd len="sm" w="sm" type="none"/>
          </a:ln>
        </p:spPr>
      </p:cxnSp>
      <p:cxnSp>
        <p:nvCxnSpPr>
          <p:cNvPr id="701" name="Google Shape;701;p35"/>
          <p:cNvCxnSpPr>
            <a:stCxn id="654" idx="6"/>
            <a:endCxn id="676" idx="2"/>
          </p:cNvCxnSpPr>
          <p:nvPr/>
        </p:nvCxnSpPr>
        <p:spPr>
          <a:xfrm>
            <a:off x="2738180" y="4374151"/>
            <a:ext cx="5175900" cy="673200"/>
          </a:xfrm>
          <a:prstGeom prst="straightConnector1">
            <a:avLst/>
          </a:prstGeom>
          <a:noFill/>
          <a:ln cap="flat" cmpd="sng" w="28575">
            <a:solidFill>
              <a:srgbClr val="7F7F7F"/>
            </a:solidFill>
            <a:prstDash val="solid"/>
            <a:round/>
            <a:headEnd len="sm" w="sm" type="none"/>
            <a:tailEnd len="sm" w="sm" type="none"/>
          </a:ln>
        </p:spPr>
      </p:cxnSp>
      <p:cxnSp>
        <p:nvCxnSpPr>
          <p:cNvPr id="702" name="Google Shape;702;p35"/>
          <p:cNvCxnSpPr>
            <a:stCxn id="653" idx="6"/>
            <a:endCxn id="676" idx="2"/>
          </p:cNvCxnSpPr>
          <p:nvPr/>
        </p:nvCxnSpPr>
        <p:spPr>
          <a:xfrm>
            <a:off x="3129063" y="4374151"/>
            <a:ext cx="4785000" cy="673200"/>
          </a:xfrm>
          <a:prstGeom prst="straightConnector1">
            <a:avLst/>
          </a:prstGeom>
          <a:noFill/>
          <a:ln cap="flat" cmpd="sng" w="28575">
            <a:solidFill>
              <a:srgbClr val="7F7F7F"/>
            </a:solidFill>
            <a:prstDash val="solid"/>
            <a:round/>
            <a:headEnd len="sm" w="sm" type="none"/>
            <a:tailEnd len="sm" w="sm" type="none"/>
          </a:ln>
        </p:spPr>
      </p:cxnSp>
      <p:cxnSp>
        <p:nvCxnSpPr>
          <p:cNvPr id="703" name="Google Shape;703;p35"/>
          <p:cNvCxnSpPr>
            <a:stCxn id="652" idx="6"/>
            <a:endCxn id="676" idx="2"/>
          </p:cNvCxnSpPr>
          <p:nvPr/>
        </p:nvCxnSpPr>
        <p:spPr>
          <a:xfrm>
            <a:off x="7252528" y="4378853"/>
            <a:ext cx="661500" cy="668400"/>
          </a:xfrm>
          <a:prstGeom prst="straightConnector1">
            <a:avLst/>
          </a:prstGeom>
          <a:noFill/>
          <a:ln cap="flat" cmpd="sng" w="28575">
            <a:solidFill>
              <a:srgbClr val="7F7F7F"/>
            </a:solidFill>
            <a:prstDash val="solid"/>
            <a:round/>
            <a:headEnd len="sm" w="sm" type="none"/>
            <a:tailEnd len="sm" w="sm" type="none"/>
          </a:ln>
        </p:spPr>
      </p:cxnSp>
      <p:pic>
        <p:nvPicPr>
          <p:cNvPr descr="A picture containing drawing  Description automatically generated" id="704" name="Google Shape;704;p35"/>
          <p:cNvPicPr preferRelativeResize="0"/>
          <p:nvPr/>
        </p:nvPicPr>
        <p:blipFill rotWithShape="1">
          <a:blip r:embed="rId3">
            <a:alphaModFix/>
          </a:blip>
          <a:srcRect b="0" l="0" r="0" t="0"/>
          <a:stretch/>
        </p:blipFill>
        <p:spPr>
          <a:xfrm>
            <a:off x="2910132" y="1745394"/>
            <a:ext cx="786731" cy="786731"/>
          </a:xfrm>
          <a:prstGeom prst="rect">
            <a:avLst/>
          </a:prstGeom>
          <a:noFill/>
          <a:ln>
            <a:noFill/>
          </a:ln>
        </p:spPr>
      </p:pic>
      <p:cxnSp>
        <p:nvCxnSpPr>
          <p:cNvPr id="705" name="Google Shape;705;p35"/>
          <p:cNvCxnSpPr/>
          <p:nvPr/>
        </p:nvCxnSpPr>
        <p:spPr>
          <a:xfrm>
            <a:off x="3777845" y="2161555"/>
            <a:ext cx="534433" cy="0"/>
          </a:xfrm>
          <a:prstGeom prst="straightConnector1">
            <a:avLst/>
          </a:prstGeom>
          <a:noFill/>
          <a:ln cap="flat" cmpd="sng" w="57150">
            <a:solidFill>
              <a:schemeClr val="accent4"/>
            </a:solidFill>
            <a:prstDash val="solid"/>
            <a:round/>
            <a:headEnd len="sm" w="sm" type="none"/>
            <a:tailEnd len="med" w="med" type="triangle"/>
          </a:ln>
        </p:spPr>
      </p:cxnSp>
      <p:sp>
        <p:nvSpPr>
          <p:cNvPr id="706" name="Google Shape;706;p35"/>
          <p:cNvSpPr txBox="1"/>
          <p:nvPr/>
        </p:nvSpPr>
        <p:spPr>
          <a:xfrm>
            <a:off x="4250852" y="1979511"/>
            <a:ext cx="1795449"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[ 0, 0, …, 0]</a:t>
            </a:r>
            <a:endParaRPr b="0" i="0" sz="2200" u="none" cap="none" strike="noStrike">
              <a:solidFill>
                <a:schemeClr val="dk2"/>
              </a:solidFill>
              <a:latin typeface="Open Sans"/>
              <a:ea typeface="Noto Sans SC"/>
              <a:cs typeface="Open Sans"/>
              <a:sym typeface="Open Sans"/>
            </a:endParaRPr>
          </a:p>
        </p:txBody>
      </p:sp>
      <p:cxnSp>
        <p:nvCxnSpPr>
          <p:cNvPr id="707" name="Google Shape;707;p35"/>
          <p:cNvCxnSpPr>
            <a:endCxn id="651" idx="2"/>
          </p:cNvCxnSpPr>
          <p:nvPr/>
        </p:nvCxnSpPr>
        <p:spPr>
          <a:xfrm flipH="1">
            <a:off x="2738180" y="2407123"/>
            <a:ext cx="1901400" cy="826200"/>
          </a:xfrm>
          <a:prstGeom prst="straightConnector1">
            <a:avLst/>
          </a:prstGeom>
          <a:noFill/>
          <a:ln cap="flat" cmpd="sng" w="28575">
            <a:solidFill>
              <a:srgbClr val="7F7F7F"/>
            </a:solidFill>
            <a:prstDash val="solid"/>
            <a:round/>
            <a:headEnd len="sm" w="sm" type="none"/>
            <a:tailEnd len="sm" w="sm" type="none"/>
          </a:ln>
        </p:spPr>
      </p:cxnSp>
      <p:cxnSp>
        <p:nvCxnSpPr>
          <p:cNvPr id="708" name="Google Shape;708;p35"/>
          <p:cNvCxnSpPr>
            <a:endCxn id="650" idx="2"/>
          </p:cNvCxnSpPr>
          <p:nvPr/>
        </p:nvCxnSpPr>
        <p:spPr>
          <a:xfrm flipH="1">
            <a:off x="3129063" y="2407123"/>
            <a:ext cx="1510500" cy="826200"/>
          </a:xfrm>
          <a:prstGeom prst="straightConnector1">
            <a:avLst/>
          </a:prstGeom>
          <a:noFill/>
          <a:ln cap="flat" cmpd="sng" w="28575">
            <a:solidFill>
              <a:srgbClr val="7F7F7F"/>
            </a:solidFill>
            <a:prstDash val="solid"/>
            <a:round/>
            <a:headEnd len="sm" w="sm" type="none"/>
            <a:tailEnd len="sm" w="sm" type="none"/>
          </a:ln>
        </p:spPr>
      </p:cxnSp>
      <p:cxnSp>
        <p:nvCxnSpPr>
          <p:cNvPr id="709" name="Google Shape;709;p35"/>
          <p:cNvCxnSpPr>
            <a:endCxn id="649" idx="2"/>
          </p:cNvCxnSpPr>
          <p:nvPr/>
        </p:nvCxnSpPr>
        <p:spPr>
          <a:xfrm>
            <a:off x="4639528" y="2407025"/>
            <a:ext cx="2613000" cy="831000"/>
          </a:xfrm>
          <a:prstGeom prst="straightConnector1">
            <a:avLst/>
          </a:prstGeom>
          <a:noFill/>
          <a:ln cap="flat" cmpd="sng" w="28575">
            <a:solidFill>
              <a:srgbClr val="7F7F7F"/>
            </a:solidFill>
            <a:prstDash val="solid"/>
            <a:round/>
            <a:headEnd len="sm" w="sm" type="none"/>
            <a:tailEnd len="sm" w="sm" type="none"/>
          </a:ln>
        </p:spPr>
      </p:cxnSp>
      <p:sp>
        <p:nvSpPr>
          <p:cNvPr id="710" name="Google Shape;710;p35"/>
          <p:cNvSpPr txBox="1"/>
          <p:nvPr/>
        </p:nvSpPr>
        <p:spPr>
          <a:xfrm>
            <a:off x="3282258" y="3974720"/>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sp>
        <p:nvSpPr>
          <p:cNvPr id="711" name="Google Shape;711;p35"/>
          <p:cNvSpPr txBox="1"/>
          <p:nvPr/>
        </p:nvSpPr>
        <p:spPr>
          <a:xfrm>
            <a:off x="3282258" y="3130891"/>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cxnSp>
        <p:nvCxnSpPr>
          <p:cNvPr id="712" name="Google Shape;712;p35"/>
          <p:cNvCxnSpPr>
            <a:endCxn id="651" idx="2"/>
          </p:cNvCxnSpPr>
          <p:nvPr/>
        </p:nvCxnSpPr>
        <p:spPr>
          <a:xfrm flipH="1">
            <a:off x="2738180" y="2415223"/>
            <a:ext cx="2216400" cy="818100"/>
          </a:xfrm>
          <a:prstGeom prst="straightConnector1">
            <a:avLst/>
          </a:prstGeom>
          <a:noFill/>
          <a:ln cap="flat" cmpd="sng" w="28575">
            <a:solidFill>
              <a:srgbClr val="7F7F7F"/>
            </a:solidFill>
            <a:prstDash val="solid"/>
            <a:round/>
            <a:headEnd len="sm" w="sm" type="none"/>
            <a:tailEnd len="sm" w="sm" type="none"/>
          </a:ln>
        </p:spPr>
      </p:cxnSp>
      <p:cxnSp>
        <p:nvCxnSpPr>
          <p:cNvPr id="713" name="Google Shape;713;p35"/>
          <p:cNvCxnSpPr>
            <a:endCxn id="650" idx="2"/>
          </p:cNvCxnSpPr>
          <p:nvPr/>
        </p:nvCxnSpPr>
        <p:spPr>
          <a:xfrm flipH="1">
            <a:off x="3129063" y="2415223"/>
            <a:ext cx="1834500" cy="818100"/>
          </a:xfrm>
          <a:prstGeom prst="straightConnector1">
            <a:avLst/>
          </a:prstGeom>
          <a:noFill/>
          <a:ln cap="flat" cmpd="sng" w="28575">
            <a:solidFill>
              <a:srgbClr val="7F7F7F"/>
            </a:solidFill>
            <a:prstDash val="solid"/>
            <a:round/>
            <a:headEnd len="sm" w="sm" type="none"/>
            <a:tailEnd len="sm" w="sm" type="none"/>
          </a:ln>
        </p:spPr>
      </p:cxnSp>
      <p:cxnSp>
        <p:nvCxnSpPr>
          <p:cNvPr id="714" name="Google Shape;714;p35"/>
          <p:cNvCxnSpPr>
            <a:endCxn id="649" idx="2"/>
          </p:cNvCxnSpPr>
          <p:nvPr/>
        </p:nvCxnSpPr>
        <p:spPr>
          <a:xfrm>
            <a:off x="4954528" y="2415125"/>
            <a:ext cx="2298000" cy="822900"/>
          </a:xfrm>
          <a:prstGeom prst="straightConnector1">
            <a:avLst/>
          </a:prstGeom>
          <a:noFill/>
          <a:ln cap="flat" cmpd="sng" w="28575">
            <a:solidFill>
              <a:srgbClr val="7F7F7F"/>
            </a:solidFill>
            <a:prstDash val="solid"/>
            <a:round/>
            <a:headEnd len="sm" w="sm" type="none"/>
            <a:tailEnd len="sm" w="sm" type="none"/>
          </a:ln>
        </p:spPr>
      </p:cxnSp>
      <p:cxnSp>
        <p:nvCxnSpPr>
          <p:cNvPr id="715" name="Google Shape;715;p35"/>
          <p:cNvCxnSpPr>
            <a:endCxn id="651" idx="2"/>
          </p:cNvCxnSpPr>
          <p:nvPr/>
        </p:nvCxnSpPr>
        <p:spPr>
          <a:xfrm flipH="1">
            <a:off x="2738180" y="2415223"/>
            <a:ext cx="2979300" cy="818100"/>
          </a:xfrm>
          <a:prstGeom prst="straightConnector1">
            <a:avLst/>
          </a:prstGeom>
          <a:noFill/>
          <a:ln cap="flat" cmpd="sng" w="28575">
            <a:solidFill>
              <a:srgbClr val="7F7F7F"/>
            </a:solidFill>
            <a:prstDash val="solid"/>
            <a:round/>
            <a:headEnd len="sm" w="sm" type="none"/>
            <a:tailEnd len="sm" w="sm" type="none"/>
          </a:ln>
        </p:spPr>
      </p:cxnSp>
      <p:cxnSp>
        <p:nvCxnSpPr>
          <p:cNvPr id="716" name="Google Shape;716;p35"/>
          <p:cNvCxnSpPr>
            <a:endCxn id="650" idx="2"/>
          </p:cNvCxnSpPr>
          <p:nvPr/>
        </p:nvCxnSpPr>
        <p:spPr>
          <a:xfrm flipH="1">
            <a:off x="3129063" y="2415223"/>
            <a:ext cx="2588400" cy="818100"/>
          </a:xfrm>
          <a:prstGeom prst="straightConnector1">
            <a:avLst/>
          </a:prstGeom>
          <a:noFill/>
          <a:ln cap="flat" cmpd="sng" w="28575">
            <a:solidFill>
              <a:srgbClr val="7F7F7F"/>
            </a:solidFill>
            <a:prstDash val="solid"/>
            <a:round/>
            <a:headEnd len="sm" w="sm" type="none"/>
            <a:tailEnd len="sm" w="sm" type="none"/>
          </a:ln>
        </p:spPr>
      </p:cxnSp>
      <p:cxnSp>
        <p:nvCxnSpPr>
          <p:cNvPr id="717" name="Google Shape;717;p35"/>
          <p:cNvCxnSpPr>
            <a:endCxn id="649" idx="2"/>
          </p:cNvCxnSpPr>
          <p:nvPr/>
        </p:nvCxnSpPr>
        <p:spPr>
          <a:xfrm>
            <a:off x="5717428" y="2415125"/>
            <a:ext cx="1535100" cy="822900"/>
          </a:xfrm>
          <a:prstGeom prst="straightConnector1">
            <a:avLst/>
          </a:prstGeom>
          <a:noFill/>
          <a:ln cap="flat" cmpd="sng" w="28575">
            <a:solidFill>
              <a:srgbClr val="7F7F7F"/>
            </a:solidFill>
            <a:prstDash val="solid"/>
            <a:round/>
            <a:headEnd len="sm" w="sm" type="none"/>
            <a:tailEnd len="sm" w="sm" type="none"/>
          </a:ln>
        </p:spPr>
      </p:cxnSp>
      <p:sp>
        <p:nvSpPr>
          <p:cNvPr id="718" name="Google Shape;718;p35"/>
          <p:cNvSpPr txBox="1"/>
          <p:nvPr/>
        </p:nvSpPr>
        <p:spPr>
          <a:xfrm>
            <a:off x="8232484" y="1986425"/>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(784,)</a:t>
            </a:r>
            <a:endParaRPr b="0" i="0" sz="1800" u="none" cap="none" strike="noStrike">
              <a:solidFill>
                <a:schemeClr val="dk2"/>
              </a:solidFill>
              <a:latin typeface="Open Sans"/>
              <a:ea typeface="Noto Sans SC"/>
              <a:cs typeface="Open Sans"/>
              <a:sym typeface="Open Sans"/>
            </a:endParaRPr>
          </a:p>
        </p:txBody>
      </p:sp>
      <p:sp>
        <p:nvSpPr>
          <p:cNvPr id="719" name="Google Shape;719;p35"/>
          <p:cNvSpPr txBox="1"/>
          <p:nvPr/>
        </p:nvSpPr>
        <p:spPr>
          <a:xfrm>
            <a:off x="8232484" y="3154257"/>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720" name="Google Shape;720;p35"/>
          <p:cNvSpPr txBox="1"/>
          <p:nvPr/>
        </p:nvSpPr>
        <p:spPr>
          <a:xfrm>
            <a:off x="8232484" y="4054293"/>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721" name="Google Shape;721;p35"/>
          <p:cNvSpPr txBox="1"/>
          <p:nvPr/>
        </p:nvSpPr>
        <p:spPr>
          <a:xfrm>
            <a:off x="8232484" y="5027186"/>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(10,)</a:t>
            </a:r>
            <a:endParaRPr b="0" i="0" sz="1800" u="none" cap="none" strike="noStrike">
              <a:solidFill>
                <a:schemeClr val="dk2"/>
              </a:solidFill>
              <a:latin typeface="Open Sans"/>
              <a:ea typeface="Noto Sans SC"/>
              <a:cs typeface="Open Sans"/>
              <a:sym typeface="Open Sans"/>
            </a:endParaRPr>
          </a:p>
        </p:txBody>
      </p:sp>
      <p:sp>
        <p:nvSpPr>
          <p:cNvPr id="722" name="Google Shape;722;p35"/>
          <p:cNvSpPr/>
          <p:nvPr/>
        </p:nvSpPr>
        <p:spPr>
          <a:xfrm>
            <a:off x="9215276" y="2157241"/>
            <a:ext cx="150690" cy="3052934"/>
          </a:xfrm>
          <a:prstGeom prst="rightBrace">
            <a:avLst>
              <a:gd fmla="val 8333" name="adj1"/>
              <a:gd fmla="val 50000" name="adj2"/>
            </a:avLst>
          </a:pr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723" name="Google Shape;723;p35"/>
          <p:cNvSpPr txBox="1"/>
          <p:nvPr/>
        </p:nvSpPr>
        <p:spPr>
          <a:xfrm>
            <a:off x="9522449" y="3264894"/>
            <a:ext cx="1025512" cy="830997"/>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层</a:t>
            </a:r>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大小</a:t>
            </a:r>
            <a:endParaRPr b="0" i="0" sz="24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72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27" name="Shape 727"/>
        <p:cNvGrpSpPr/>
        <p:nvPr/>
      </p:nvGrpSpPr>
      <p:grpSpPr>
        <a:xfrm>
          <a:off x="0" y="0"/>
          <a:ext cx="0" cy="0"/>
          <a:chOff x="0" y="0"/>
          <a:chExt cx="0" cy="0"/>
        </a:xfrm>
      </p:grpSpPr>
      <p:sp>
        <p:nvSpPr>
          <p:cNvPr id="728" name="Google Shape;728;p36"/>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Open Sans"/>
                <a:ea typeface="Noto Sans SC"/>
                <a:cs typeface="Open Sans"/>
                <a:sym typeface="Open Sans"/>
              </a:rPr>
              <a:t>MNIST </a:t>
            </a:r>
            <a:r>
              <a:rPr b="1" i="0" lang="en-US" sz="3600" u="none" cap="none" strike="noStrike">
                <a:solidFill>
                  <a:schemeClr val="dk2"/>
                </a:solidFill>
                <a:latin typeface="Noto Sans SC"/>
                <a:ea typeface="Noto Sans SC"/>
                <a:cs typeface="Open Sans"/>
                <a:sym typeface="Open Sans"/>
              </a:rPr>
              <a:t>模型</a:t>
            </a:r>
            <a:endParaRPr b="1" i="0" sz="3600" u="none" cap="none" strike="noStrike">
              <a:solidFill>
                <a:schemeClr val="dk2"/>
              </a:solidFill>
              <a:latin typeface="Open Sans"/>
              <a:ea typeface="Noto Sans SC"/>
              <a:cs typeface="Open Sans"/>
              <a:sym typeface="Open Sans"/>
            </a:endParaRPr>
          </a:p>
        </p:txBody>
      </p:sp>
      <p:sp>
        <p:nvSpPr>
          <p:cNvPr id="729" name="Google Shape;729;p36"/>
          <p:cNvSpPr/>
          <p:nvPr/>
        </p:nvSpPr>
        <p:spPr>
          <a:xfrm rot="5400000">
            <a:off x="7089571" y="3239018"/>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30" name="Google Shape;730;p36"/>
          <p:cNvSpPr/>
          <p:nvPr/>
        </p:nvSpPr>
        <p:spPr>
          <a:xfrm rot="5400000">
            <a:off x="2966106" y="32343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31" name="Google Shape;731;p36"/>
          <p:cNvSpPr/>
          <p:nvPr/>
        </p:nvSpPr>
        <p:spPr>
          <a:xfrm rot="5400000">
            <a:off x="2575223" y="32343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32" name="Google Shape;732;p36"/>
          <p:cNvSpPr/>
          <p:nvPr/>
        </p:nvSpPr>
        <p:spPr>
          <a:xfrm rot="5400000">
            <a:off x="7089571" y="405393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33" name="Google Shape;733;p36"/>
          <p:cNvSpPr/>
          <p:nvPr/>
        </p:nvSpPr>
        <p:spPr>
          <a:xfrm rot="5400000">
            <a:off x="2966106" y="404923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34" name="Google Shape;734;p36"/>
          <p:cNvSpPr/>
          <p:nvPr/>
        </p:nvSpPr>
        <p:spPr>
          <a:xfrm rot="5400000">
            <a:off x="2575223" y="404923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35" name="Google Shape;735;p36"/>
          <p:cNvSpPr/>
          <p:nvPr/>
        </p:nvSpPr>
        <p:spPr>
          <a:xfrm rot="5400000">
            <a:off x="2116306"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736" name="Google Shape;736;p36"/>
          <p:cNvCxnSpPr>
            <a:stCxn id="732" idx="6"/>
            <a:endCxn id="735" idx="2"/>
          </p:cNvCxnSpPr>
          <p:nvPr/>
        </p:nvCxnSpPr>
        <p:spPr>
          <a:xfrm flipH="1">
            <a:off x="2279128" y="4378853"/>
            <a:ext cx="4973400" cy="672900"/>
          </a:xfrm>
          <a:prstGeom prst="straightConnector1">
            <a:avLst/>
          </a:prstGeom>
          <a:noFill/>
          <a:ln cap="flat" cmpd="sng" w="28575">
            <a:solidFill>
              <a:srgbClr val="7F7F7F"/>
            </a:solidFill>
            <a:prstDash val="solid"/>
            <a:round/>
            <a:headEnd len="sm" w="sm" type="none"/>
            <a:tailEnd len="sm" w="sm" type="none"/>
          </a:ln>
        </p:spPr>
      </p:cxnSp>
      <p:cxnSp>
        <p:nvCxnSpPr>
          <p:cNvPr id="737" name="Google Shape;737;p36"/>
          <p:cNvCxnSpPr>
            <a:stCxn id="733" idx="6"/>
            <a:endCxn id="735" idx="2"/>
          </p:cNvCxnSpPr>
          <p:nvPr/>
        </p:nvCxnSpPr>
        <p:spPr>
          <a:xfrm flipH="1">
            <a:off x="2279163" y="4374151"/>
            <a:ext cx="849900" cy="677700"/>
          </a:xfrm>
          <a:prstGeom prst="straightConnector1">
            <a:avLst/>
          </a:prstGeom>
          <a:noFill/>
          <a:ln cap="flat" cmpd="sng" w="28575">
            <a:solidFill>
              <a:srgbClr val="7F7F7F"/>
            </a:solidFill>
            <a:prstDash val="solid"/>
            <a:round/>
            <a:headEnd len="sm" w="sm" type="none"/>
            <a:tailEnd len="sm" w="sm" type="none"/>
          </a:ln>
        </p:spPr>
      </p:cxnSp>
      <p:cxnSp>
        <p:nvCxnSpPr>
          <p:cNvPr id="738" name="Google Shape;738;p36"/>
          <p:cNvCxnSpPr>
            <a:stCxn id="734" idx="6"/>
            <a:endCxn id="735" idx="2"/>
          </p:cNvCxnSpPr>
          <p:nvPr/>
        </p:nvCxnSpPr>
        <p:spPr>
          <a:xfrm flipH="1">
            <a:off x="2279180" y="4374151"/>
            <a:ext cx="459000" cy="677700"/>
          </a:xfrm>
          <a:prstGeom prst="straightConnector1">
            <a:avLst/>
          </a:prstGeom>
          <a:noFill/>
          <a:ln cap="flat" cmpd="sng" w="28575">
            <a:solidFill>
              <a:srgbClr val="7F7F7F"/>
            </a:solidFill>
            <a:prstDash val="solid"/>
            <a:round/>
            <a:headEnd len="sm" w="sm" type="none"/>
            <a:tailEnd len="sm" w="sm" type="none"/>
          </a:ln>
        </p:spPr>
      </p:cxnSp>
      <p:cxnSp>
        <p:nvCxnSpPr>
          <p:cNvPr id="739" name="Google Shape;739;p36"/>
          <p:cNvCxnSpPr>
            <a:stCxn id="731" idx="6"/>
            <a:endCxn id="732" idx="2"/>
          </p:cNvCxnSpPr>
          <p:nvPr/>
        </p:nvCxnSpPr>
        <p:spPr>
          <a:xfrm>
            <a:off x="2738180" y="3559237"/>
            <a:ext cx="4514400" cy="493800"/>
          </a:xfrm>
          <a:prstGeom prst="straightConnector1">
            <a:avLst/>
          </a:prstGeom>
          <a:noFill/>
          <a:ln cap="flat" cmpd="sng" w="28575">
            <a:solidFill>
              <a:srgbClr val="7F7F7F"/>
            </a:solidFill>
            <a:prstDash val="solid"/>
            <a:round/>
            <a:headEnd len="sm" w="sm" type="none"/>
            <a:tailEnd len="sm" w="sm" type="none"/>
          </a:ln>
        </p:spPr>
      </p:cxnSp>
      <p:cxnSp>
        <p:nvCxnSpPr>
          <p:cNvPr id="740" name="Google Shape;740;p36"/>
          <p:cNvCxnSpPr>
            <a:stCxn id="731" idx="6"/>
            <a:endCxn id="733" idx="2"/>
          </p:cNvCxnSpPr>
          <p:nvPr/>
        </p:nvCxnSpPr>
        <p:spPr>
          <a:xfrm>
            <a:off x="2738180" y="3559237"/>
            <a:ext cx="390900" cy="489000"/>
          </a:xfrm>
          <a:prstGeom prst="straightConnector1">
            <a:avLst/>
          </a:prstGeom>
          <a:noFill/>
          <a:ln cap="flat" cmpd="sng" w="28575">
            <a:solidFill>
              <a:srgbClr val="7F7F7F"/>
            </a:solidFill>
            <a:prstDash val="solid"/>
            <a:round/>
            <a:headEnd len="sm" w="sm" type="none"/>
            <a:tailEnd len="sm" w="sm" type="none"/>
          </a:ln>
        </p:spPr>
      </p:cxnSp>
      <p:cxnSp>
        <p:nvCxnSpPr>
          <p:cNvPr id="741" name="Google Shape;741;p36"/>
          <p:cNvCxnSpPr>
            <a:stCxn id="731" idx="6"/>
            <a:endCxn id="734" idx="2"/>
          </p:cNvCxnSpPr>
          <p:nvPr/>
        </p:nvCxnSpPr>
        <p:spPr>
          <a:xfrm>
            <a:off x="2738180" y="3559237"/>
            <a:ext cx="0" cy="489000"/>
          </a:xfrm>
          <a:prstGeom prst="straightConnector1">
            <a:avLst/>
          </a:prstGeom>
          <a:noFill/>
          <a:ln cap="flat" cmpd="sng" w="28575">
            <a:solidFill>
              <a:srgbClr val="7F7F7F"/>
            </a:solidFill>
            <a:prstDash val="solid"/>
            <a:round/>
            <a:headEnd len="sm" w="sm" type="none"/>
            <a:tailEnd len="sm" w="sm" type="none"/>
          </a:ln>
        </p:spPr>
      </p:cxnSp>
      <p:cxnSp>
        <p:nvCxnSpPr>
          <p:cNvPr id="742" name="Google Shape;742;p36"/>
          <p:cNvCxnSpPr>
            <a:stCxn id="729" idx="6"/>
            <a:endCxn id="732" idx="2"/>
          </p:cNvCxnSpPr>
          <p:nvPr/>
        </p:nvCxnSpPr>
        <p:spPr>
          <a:xfrm>
            <a:off x="7252528" y="3563939"/>
            <a:ext cx="0" cy="489000"/>
          </a:xfrm>
          <a:prstGeom prst="straightConnector1">
            <a:avLst/>
          </a:prstGeom>
          <a:noFill/>
          <a:ln cap="flat" cmpd="sng" w="28575">
            <a:solidFill>
              <a:srgbClr val="7F7F7F"/>
            </a:solidFill>
            <a:prstDash val="solid"/>
            <a:round/>
            <a:headEnd len="sm" w="sm" type="none"/>
            <a:tailEnd len="sm" w="sm" type="none"/>
          </a:ln>
        </p:spPr>
      </p:cxnSp>
      <p:cxnSp>
        <p:nvCxnSpPr>
          <p:cNvPr id="743" name="Google Shape;743;p36"/>
          <p:cNvCxnSpPr>
            <a:stCxn id="729" idx="6"/>
            <a:endCxn id="733" idx="2"/>
          </p:cNvCxnSpPr>
          <p:nvPr/>
        </p:nvCxnSpPr>
        <p:spPr>
          <a:xfrm flipH="1">
            <a:off x="3129028" y="3563939"/>
            <a:ext cx="4123500" cy="484200"/>
          </a:xfrm>
          <a:prstGeom prst="straightConnector1">
            <a:avLst/>
          </a:prstGeom>
          <a:noFill/>
          <a:ln cap="flat" cmpd="sng" w="28575">
            <a:solidFill>
              <a:srgbClr val="7F7F7F"/>
            </a:solidFill>
            <a:prstDash val="solid"/>
            <a:round/>
            <a:headEnd len="sm" w="sm" type="none"/>
            <a:tailEnd len="sm" w="sm" type="none"/>
          </a:ln>
        </p:spPr>
      </p:cxnSp>
      <p:cxnSp>
        <p:nvCxnSpPr>
          <p:cNvPr id="744" name="Google Shape;744;p36"/>
          <p:cNvCxnSpPr>
            <a:stCxn id="729" idx="6"/>
            <a:endCxn id="734" idx="2"/>
          </p:cNvCxnSpPr>
          <p:nvPr/>
        </p:nvCxnSpPr>
        <p:spPr>
          <a:xfrm flipH="1">
            <a:off x="2738128" y="3563939"/>
            <a:ext cx="4514400" cy="484200"/>
          </a:xfrm>
          <a:prstGeom prst="straightConnector1">
            <a:avLst/>
          </a:prstGeom>
          <a:noFill/>
          <a:ln cap="flat" cmpd="sng" w="28575">
            <a:solidFill>
              <a:srgbClr val="7F7F7F"/>
            </a:solidFill>
            <a:prstDash val="solid"/>
            <a:round/>
            <a:headEnd len="sm" w="sm" type="none"/>
            <a:tailEnd len="sm" w="sm" type="none"/>
          </a:ln>
        </p:spPr>
      </p:cxnSp>
      <p:cxnSp>
        <p:nvCxnSpPr>
          <p:cNvPr id="745" name="Google Shape;745;p36"/>
          <p:cNvCxnSpPr>
            <a:stCxn id="730" idx="6"/>
            <a:endCxn id="732" idx="2"/>
          </p:cNvCxnSpPr>
          <p:nvPr/>
        </p:nvCxnSpPr>
        <p:spPr>
          <a:xfrm>
            <a:off x="3129063" y="3559237"/>
            <a:ext cx="4123500" cy="493800"/>
          </a:xfrm>
          <a:prstGeom prst="straightConnector1">
            <a:avLst/>
          </a:prstGeom>
          <a:noFill/>
          <a:ln cap="flat" cmpd="sng" w="28575">
            <a:solidFill>
              <a:srgbClr val="7F7F7F"/>
            </a:solidFill>
            <a:prstDash val="solid"/>
            <a:round/>
            <a:headEnd len="sm" w="sm" type="none"/>
            <a:tailEnd len="sm" w="sm" type="none"/>
          </a:ln>
        </p:spPr>
      </p:cxnSp>
      <p:cxnSp>
        <p:nvCxnSpPr>
          <p:cNvPr id="746" name="Google Shape;746;p36"/>
          <p:cNvCxnSpPr>
            <a:stCxn id="730" idx="6"/>
            <a:endCxn id="733" idx="2"/>
          </p:cNvCxnSpPr>
          <p:nvPr/>
        </p:nvCxnSpPr>
        <p:spPr>
          <a:xfrm>
            <a:off x="3129063" y="3559237"/>
            <a:ext cx="0" cy="489000"/>
          </a:xfrm>
          <a:prstGeom prst="straightConnector1">
            <a:avLst/>
          </a:prstGeom>
          <a:noFill/>
          <a:ln cap="flat" cmpd="sng" w="28575">
            <a:solidFill>
              <a:srgbClr val="7F7F7F"/>
            </a:solidFill>
            <a:prstDash val="solid"/>
            <a:round/>
            <a:headEnd len="sm" w="sm" type="none"/>
            <a:tailEnd len="sm" w="sm" type="none"/>
          </a:ln>
        </p:spPr>
      </p:cxnSp>
      <p:cxnSp>
        <p:nvCxnSpPr>
          <p:cNvPr id="747" name="Google Shape;747;p36"/>
          <p:cNvCxnSpPr>
            <a:stCxn id="730" idx="6"/>
            <a:endCxn id="734" idx="2"/>
          </p:cNvCxnSpPr>
          <p:nvPr/>
        </p:nvCxnSpPr>
        <p:spPr>
          <a:xfrm flipH="1">
            <a:off x="2738163" y="3559237"/>
            <a:ext cx="390900" cy="489000"/>
          </a:xfrm>
          <a:prstGeom prst="straightConnector1">
            <a:avLst/>
          </a:prstGeom>
          <a:noFill/>
          <a:ln cap="flat" cmpd="sng" w="28575">
            <a:solidFill>
              <a:srgbClr val="7F7F7F"/>
            </a:solidFill>
            <a:prstDash val="solid"/>
            <a:round/>
            <a:headEnd len="sm" w="sm" type="none"/>
            <a:tailEnd len="sm" w="sm" type="none"/>
          </a:ln>
        </p:spPr>
      </p:cxnSp>
      <p:sp>
        <p:nvSpPr>
          <p:cNvPr id="748" name="Google Shape;748;p36"/>
          <p:cNvSpPr/>
          <p:nvPr/>
        </p:nvSpPr>
        <p:spPr>
          <a:xfrm rot="5400000">
            <a:off x="2739222"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49" name="Google Shape;749;p36"/>
          <p:cNvSpPr/>
          <p:nvPr/>
        </p:nvSpPr>
        <p:spPr>
          <a:xfrm rot="5400000">
            <a:off x="3364441"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50" name="Google Shape;750;p36"/>
          <p:cNvSpPr/>
          <p:nvPr/>
        </p:nvSpPr>
        <p:spPr>
          <a:xfrm rot="5400000">
            <a:off x="3987357"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51" name="Google Shape;751;p36"/>
          <p:cNvSpPr/>
          <p:nvPr/>
        </p:nvSpPr>
        <p:spPr>
          <a:xfrm rot="5400000">
            <a:off x="4638524"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52" name="Google Shape;752;p36"/>
          <p:cNvSpPr/>
          <p:nvPr/>
        </p:nvSpPr>
        <p:spPr>
          <a:xfrm rot="5400000">
            <a:off x="5261440"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53" name="Google Shape;753;p36"/>
          <p:cNvSpPr/>
          <p:nvPr/>
        </p:nvSpPr>
        <p:spPr>
          <a:xfrm rot="5400000">
            <a:off x="5883344" y="5061344"/>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54" name="Google Shape;754;p36"/>
          <p:cNvSpPr/>
          <p:nvPr/>
        </p:nvSpPr>
        <p:spPr>
          <a:xfrm rot="5400000">
            <a:off x="6506260" y="5056719"/>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55" name="Google Shape;755;p36"/>
          <p:cNvSpPr/>
          <p:nvPr/>
        </p:nvSpPr>
        <p:spPr>
          <a:xfrm rot="5400000">
            <a:off x="7128164"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56" name="Google Shape;756;p36"/>
          <p:cNvSpPr/>
          <p:nvPr/>
        </p:nvSpPr>
        <p:spPr>
          <a:xfrm rot="5400000">
            <a:off x="7751080"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757" name="Google Shape;757;p36"/>
          <p:cNvCxnSpPr>
            <a:stCxn id="734" idx="6"/>
            <a:endCxn id="748" idx="2"/>
          </p:cNvCxnSpPr>
          <p:nvPr/>
        </p:nvCxnSpPr>
        <p:spPr>
          <a:xfrm>
            <a:off x="2738180" y="4374151"/>
            <a:ext cx="164100" cy="673200"/>
          </a:xfrm>
          <a:prstGeom prst="straightConnector1">
            <a:avLst/>
          </a:prstGeom>
          <a:noFill/>
          <a:ln cap="flat" cmpd="sng" w="28575">
            <a:solidFill>
              <a:srgbClr val="7F7F7F"/>
            </a:solidFill>
            <a:prstDash val="solid"/>
            <a:round/>
            <a:headEnd len="sm" w="sm" type="none"/>
            <a:tailEnd len="sm" w="sm" type="none"/>
          </a:ln>
        </p:spPr>
      </p:cxnSp>
      <p:cxnSp>
        <p:nvCxnSpPr>
          <p:cNvPr id="758" name="Google Shape;758;p36"/>
          <p:cNvCxnSpPr>
            <a:stCxn id="733" idx="6"/>
            <a:endCxn id="748" idx="2"/>
          </p:cNvCxnSpPr>
          <p:nvPr/>
        </p:nvCxnSpPr>
        <p:spPr>
          <a:xfrm flipH="1">
            <a:off x="2902263" y="4374151"/>
            <a:ext cx="226800" cy="673200"/>
          </a:xfrm>
          <a:prstGeom prst="straightConnector1">
            <a:avLst/>
          </a:prstGeom>
          <a:noFill/>
          <a:ln cap="flat" cmpd="sng" w="28575">
            <a:solidFill>
              <a:srgbClr val="7F7F7F"/>
            </a:solidFill>
            <a:prstDash val="solid"/>
            <a:round/>
            <a:headEnd len="sm" w="sm" type="none"/>
            <a:tailEnd len="sm" w="sm" type="none"/>
          </a:ln>
        </p:spPr>
      </p:cxnSp>
      <p:cxnSp>
        <p:nvCxnSpPr>
          <p:cNvPr id="759" name="Google Shape;759;p36"/>
          <p:cNvCxnSpPr>
            <a:stCxn id="732" idx="6"/>
            <a:endCxn id="748" idx="2"/>
          </p:cNvCxnSpPr>
          <p:nvPr/>
        </p:nvCxnSpPr>
        <p:spPr>
          <a:xfrm flipH="1">
            <a:off x="2902228" y="4378853"/>
            <a:ext cx="4350300" cy="668400"/>
          </a:xfrm>
          <a:prstGeom prst="straightConnector1">
            <a:avLst/>
          </a:prstGeom>
          <a:noFill/>
          <a:ln cap="flat" cmpd="sng" w="28575">
            <a:solidFill>
              <a:srgbClr val="7F7F7F"/>
            </a:solidFill>
            <a:prstDash val="solid"/>
            <a:round/>
            <a:headEnd len="sm" w="sm" type="none"/>
            <a:tailEnd len="sm" w="sm" type="none"/>
          </a:ln>
        </p:spPr>
      </p:cxnSp>
      <p:cxnSp>
        <p:nvCxnSpPr>
          <p:cNvPr id="760" name="Google Shape;760;p36"/>
          <p:cNvCxnSpPr>
            <a:stCxn id="733" idx="6"/>
            <a:endCxn id="749" idx="2"/>
          </p:cNvCxnSpPr>
          <p:nvPr/>
        </p:nvCxnSpPr>
        <p:spPr>
          <a:xfrm>
            <a:off x="3129063" y="4374151"/>
            <a:ext cx="398400" cy="677700"/>
          </a:xfrm>
          <a:prstGeom prst="straightConnector1">
            <a:avLst/>
          </a:prstGeom>
          <a:noFill/>
          <a:ln cap="flat" cmpd="sng" w="28575">
            <a:solidFill>
              <a:srgbClr val="7F7F7F"/>
            </a:solidFill>
            <a:prstDash val="solid"/>
            <a:round/>
            <a:headEnd len="sm" w="sm" type="none"/>
            <a:tailEnd len="sm" w="sm" type="none"/>
          </a:ln>
        </p:spPr>
      </p:cxnSp>
      <p:cxnSp>
        <p:nvCxnSpPr>
          <p:cNvPr id="761" name="Google Shape;761;p36"/>
          <p:cNvCxnSpPr>
            <a:stCxn id="734" idx="6"/>
            <a:endCxn id="749" idx="2"/>
          </p:cNvCxnSpPr>
          <p:nvPr/>
        </p:nvCxnSpPr>
        <p:spPr>
          <a:xfrm>
            <a:off x="2738180" y="4374151"/>
            <a:ext cx="789300" cy="677700"/>
          </a:xfrm>
          <a:prstGeom prst="straightConnector1">
            <a:avLst/>
          </a:prstGeom>
          <a:noFill/>
          <a:ln cap="flat" cmpd="sng" w="28575">
            <a:solidFill>
              <a:srgbClr val="7F7F7F"/>
            </a:solidFill>
            <a:prstDash val="solid"/>
            <a:round/>
            <a:headEnd len="sm" w="sm" type="none"/>
            <a:tailEnd len="sm" w="sm" type="none"/>
          </a:ln>
        </p:spPr>
      </p:cxnSp>
      <p:cxnSp>
        <p:nvCxnSpPr>
          <p:cNvPr id="762" name="Google Shape;762;p36"/>
          <p:cNvCxnSpPr>
            <a:stCxn id="732" idx="6"/>
            <a:endCxn id="749" idx="2"/>
          </p:cNvCxnSpPr>
          <p:nvPr/>
        </p:nvCxnSpPr>
        <p:spPr>
          <a:xfrm flipH="1">
            <a:off x="3527428" y="4378853"/>
            <a:ext cx="3725100" cy="672900"/>
          </a:xfrm>
          <a:prstGeom prst="straightConnector1">
            <a:avLst/>
          </a:prstGeom>
          <a:noFill/>
          <a:ln cap="flat" cmpd="sng" w="28575">
            <a:solidFill>
              <a:srgbClr val="7F7F7F"/>
            </a:solidFill>
            <a:prstDash val="solid"/>
            <a:round/>
            <a:headEnd len="sm" w="sm" type="none"/>
            <a:tailEnd len="sm" w="sm" type="none"/>
          </a:ln>
        </p:spPr>
      </p:cxnSp>
      <p:cxnSp>
        <p:nvCxnSpPr>
          <p:cNvPr id="763" name="Google Shape;763;p36"/>
          <p:cNvCxnSpPr>
            <a:stCxn id="734" idx="6"/>
            <a:endCxn id="750" idx="2"/>
          </p:cNvCxnSpPr>
          <p:nvPr/>
        </p:nvCxnSpPr>
        <p:spPr>
          <a:xfrm>
            <a:off x="2738180" y="4374151"/>
            <a:ext cx="1412100" cy="673200"/>
          </a:xfrm>
          <a:prstGeom prst="straightConnector1">
            <a:avLst/>
          </a:prstGeom>
          <a:noFill/>
          <a:ln cap="flat" cmpd="sng" w="28575">
            <a:solidFill>
              <a:srgbClr val="7F7F7F"/>
            </a:solidFill>
            <a:prstDash val="solid"/>
            <a:round/>
            <a:headEnd len="sm" w="sm" type="none"/>
            <a:tailEnd len="sm" w="sm" type="none"/>
          </a:ln>
        </p:spPr>
      </p:cxnSp>
      <p:cxnSp>
        <p:nvCxnSpPr>
          <p:cNvPr id="764" name="Google Shape;764;p36"/>
          <p:cNvCxnSpPr>
            <a:stCxn id="733" idx="6"/>
            <a:endCxn id="750" idx="2"/>
          </p:cNvCxnSpPr>
          <p:nvPr/>
        </p:nvCxnSpPr>
        <p:spPr>
          <a:xfrm>
            <a:off x="3129063" y="4374151"/>
            <a:ext cx="1021200" cy="673200"/>
          </a:xfrm>
          <a:prstGeom prst="straightConnector1">
            <a:avLst/>
          </a:prstGeom>
          <a:noFill/>
          <a:ln cap="flat" cmpd="sng" w="28575">
            <a:solidFill>
              <a:srgbClr val="7F7F7F"/>
            </a:solidFill>
            <a:prstDash val="solid"/>
            <a:round/>
            <a:headEnd len="sm" w="sm" type="none"/>
            <a:tailEnd len="sm" w="sm" type="none"/>
          </a:ln>
        </p:spPr>
      </p:cxnSp>
      <p:cxnSp>
        <p:nvCxnSpPr>
          <p:cNvPr id="765" name="Google Shape;765;p36"/>
          <p:cNvCxnSpPr>
            <a:stCxn id="732" idx="6"/>
            <a:endCxn id="750" idx="2"/>
          </p:cNvCxnSpPr>
          <p:nvPr/>
        </p:nvCxnSpPr>
        <p:spPr>
          <a:xfrm flipH="1">
            <a:off x="4150228" y="4378853"/>
            <a:ext cx="3102300" cy="668400"/>
          </a:xfrm>
          <a:prstGeom prst="straightConnector1">
            <a:avLst/>
          </a:prstGeom>
          <a:noFill/>
          <a:ln cap="flat" cmpd="sng" w="28575">
            <a:solidFill>
              <a:srgbClr val="7F7F7F"/>
            </a:solidFill>
            <a:prstDash val="solid"/>
            <a:round/>
            <a:headEnd len="sm" w="sm" type="none"/>
            <a:tailEnd len="sm" w="sm" type="none"/>
          </a:ln>
        </p:spPr>
      </p:cxnSp>
      <p:cxnSp>
        <p:nvCxnSpPr>
          <p:cNvPr id="766" name="Google Shape;766;p36"/>
          <p:cNvCxnSpPr>
            <a:stCxn id="734" idx="6"/>
            <a:endCxn id="751" idx="2"/>
          </p:cNvCxnSpPr>
          <p:nvPr/>
        </p:nvCxnSpPr>
        <p:spPr>
          <a:xfrm>
            <a:off x="2738180" y="4374151"/>
            <a:ext cx="2063400" cy="677700"/>
          </a:xfrm>
          <a:prstGeom prst="straightConnector1">
            <a:avLst/>
          </a:prstGeom>
          <a:noFill/>
          <a:ln cap="flat" cmpd="sng" w="28575">
            <a:solidFill>
              <a:srgbClr val="7F7F7F"/>
            </a:solidFill>
            <a:prstDash val="solid"/>
            <a:round/>
            <a:headEnd len="sm" w="sm" type="none"/>
            <a:tailEnd len="sm" w="sm" type="none"/>
          </a:ln>
        </p:spPr>
      </p:cxnSp>
      <p:cxnSp>
        <p:nvCxnSpPr>
          <p:cNvPr id="767" name="Google Shape;767;p36"/>
          <p:cNvCxnSpPr>
            <a:stCxn id="733" idx="6"/>
            <a:endCxn id="751" idx="2"/>
          </p:cNvCxnSpPr>
          <p:nvPr/>
        </p:nvCxnSpPr>
        <p:spPr>
          <a:xfrm>
            <a:off x="3129063" y="4374151"/>
            <a:ext cx="1672500" cy="677700"/>
          </a:xfrm>
          <a:prstGeom prst="straightConnector1">
            <a:avLst/>
          </a:prstGeom>
          <a:noFill/>
          <a:ln cap="flat" cmpd="sng" w="28575">
            <a:solidFill>
              <a:srgbClr val="7F7F7F"/>
            </a:solidFill>
            <a:prstDash val="solid"/>
            <a:round/>
            <a:headEnd len="sm" w="sm" type="none"/>
            <a:tailEnd len="sm" w="sm" type="none"/>
          </a:ln>
        </p:spPr>
      </p:cxnSp>
      <p:cxnSp>
        <p:nvCxnSpPr>
          <p:cNvPr id="768" name="Google Shape;768;p36"/>
          <p:cNvCxnSpPr>
            <a:stCxn id="732" idx="6"/>
            <a:endCxn id="751" idx="2"/>
          </p:cNvCxnSpPr>
          <p:nvPr/>
        </p:nvCxnSpPr>
        <p:spPr>
          <a:xfrm flipH="1">
            <a:off x="4801528" y="4378853"/>
            <a:ext cx="2451000" cy="672900"/>
          </a:xfrm>
          <a:prstGeom prst="straightConnector1">
            <a:avLst/>
          </a:prstGeom>
          <a:noFill/>
          <a:ln cap="flat" cmpd="sng" w="28575">
            <a:solidFill>
              <a:srgbClr val="7F7F7F"/>
            </a:solidFill>
            <a:prstDash val="solid"/>
            <a:round/>
            <a:headEnd len="sm" w="sm" type="none"/>
            <a:tailEnd len="sm" w="sm" type="none"/>
          </a:ln>
        </p:spPr>
      </p:cxnSp>
      <p:cxnSp>
        <p:nvCxnSpPr>
          <p:cNvPr id="769" name="Google Shape;769;p36"/>
          <p:cNvCxnSpPr>
            <a:stCxn id="733" idx="6"/>
            <a:endCxn id="752" idx="2"/>
          </p:cNvCxnSpPr>
          <p:nvPr/>
        </p:nvCxnSpPr>
        <p:spPr>
          <a:xfrm>
            <a:off x="3129063" y="4374151"/>
            <a:ext cx="2295300" cy="673200"/>
          </a:xfrm>
          <a:prstGeom prst="straightConnector1">
            <a:avLst/>
          </a:prstGeom>
          <a:noFill/>
          <a:ln cap="flat" cmpd="sng" w="28575">
            <a:solidFill>
              <a:srgbClr val="7F7F7F"/>
            </a:solidFill>
            <a:prstDash val="solid"/>
            <a:round/>
            <a:headEnd len="sm" w="sm" type="none"/>
            <a:tailEnd len="sm" w="sm" type="none"/>
          </a:ln>
        </p:spPr>
      </p:cxnSp>
      <p:cxnSp>
        <p:nvCxnSpPr>
          <p:cNvPr id="770" name="Google Shape;770;p36"/>
          <p:cNvCxnSpPr>
            <a:stCxn id="734" idx="6"/>
            <a:endCxn id="752" idx="2"/>
          </p:cNvCxnSpPr>
          <p:nvPr/>
        </p:nvCxnSpPr>
        <p:spPr>
          <a:xfrm>
            <a:off x="2738180" y="4374151"/>
            <a:ext cx="2686200" cy="673200"/>
          </a:xfrm>
          <a:prstGeom prst="straightConnector1">
            <a:avLst/>
          </a:prstGeom>
          <a:noFill/>
          <a:ln cap="flat" cmpd="sng" w="28575">
            <a:solidFill>
              <a:srgbClr val="7F7F7F"/>
            </a:solidFill>
            <a:prstDash val="solid"/>
            <a:round/>
            <a:headEnd len="sm" w="sm" type="none"/>
            <a:tailEnd len="sm" w="sm" type="none"/>
          </a:ln>
        </p:spPr>
      </p:cxnSp>
      <p:cxnSp>
        <p:nvCxnSpPr>
          <p:cNvPr id="771" name="Google Shape;771;p36"/>
          <p:cNvCxnSpPr>
            <a:stCxn id="732" idx="6"/>
            <a:endCxn id="752" idx="2"/>
          </p:cNvCxnSpPr>
          <p:nvPr/>
        </p:nvCxnSpPr>
        <p:spPr>
          <a:xfrm flipH="1">
            <a:off x="5424328" y="4378853"/>
            <a:ext cx="1828200" cy="668400"/>
          </a:xfrm>
          <a:prstGeom prst="straightConnector1">
            <a:avLst/>
          </a:prstGeom>
          <a:noFill/>
          <a:ln cap="flat" cmpd="sng" w="28575">
            <a:solidFill>
              <a:srgbClr val="7F7F7F"/>
            </a:solidFill>
            <a:prstDash val="solid"/>
            <a:round/>
            <a:headEnd len="sm" w="sm" type="none"/>
            <a:tailEnd len="sm" w="sm" type="none"/>
          </a:ln>
        </p:spPr>
      </p:cxnSp>
      <p:cxnSp>
        <p:nvCxnSpPr>
          <p:cNvPr id="772" name="Google Shape;772;p36"/>
          <p:cNvCxnSpPr>
            <a:stCxn id="734" idx="6"/>
            <a:endCxn id="753" idx="2"/>
          </p:cNvCxnSpPr>
          <p:nvPr/>
        </p:nvCxnSpPr>
        <p:spPr>
          <a:xfrm>
            <a:off x="2738180" y="4374151"/>
            <a:ext cx="3308100" cy="686100"/>
          </a:xfrm>
          <a:prstGeom prst="straightConnector1">
            <a:avLst/>
          </a:prstGeom>
          <a:noFill/>
          <a:ln cap="flat" cmpd="sng" w="28575">
            <a:solidFill>
              <a:srgbClr val="7F7F7F"/>
            </a:solidFill>
            <a:prstDash val="solid"/>
            <a:round/>
            <a:headEnd len="sm" w="sm" type="none"/>
            <a:tailEnd len="sm" w="sm" type="none"/>
          </a:ln>
        </p:spPr>
      </p:cxnSp>
      <p:cxnSp>
        <p:nvCxnSpPr>
          <p:cNvPr id="773" name="Google Shape;773;p36"/>
          <p:cNvCxnSpPr>
            <a:stCxn id="733" idx="6"/>
            <a:endCxn id="753" idx="2"/>
          </p:cNvCxnSpPr>
          <p:nvPr/>
        </p:nvCxnSpPr>
        <p:spPr>
          <a:xfrm>
            <a:off x="3129063" y="4374151"/>
            <a:ext cx="2917200" cy="686100"/>
          </a:xfrm>
          <a:prstGeom prst="straightConnector1">
            <a:avLst/>
          </a:prstGeom>
          <a:noFill/>
          <a:ln cap="flat" cmpd="sng" w="28575">
            <a:solidFill>
              <a:srgbClr val="7F7F7F"/>
            </a:solidFill>
            <a:prstDash val="solid"/>
            <a:round/>
            <a:headEnd len="sm" w="sm" type="none"/>
            <a:tailEnd len="sm" w="sm" type="none"/>
          </a:ln>
        </p:spPr>
      </p:cxnSp>
      <p:cxnSp>
        <p:nvCxnSpPr>
          <p:cNvPr id="774" name="Google Shape;774;p36"/>
          <p:cNvCxnSpPr>
            <a:stCxn id="732" idx="6"/>
            <a:endCxn id="753" idx="2"/>
          </p:cNvCxnSpPr>
          <p:nvPr/>
        </p:nvCxnSpPr>
        <p:spPr>
          <a:xfrm flipH="1">
            <a:off x="6046228" y="4378853"/>
            <a:ext cx="1206300" cy="681600"/>
          </a:xfrm>
          <a:prstGeom prst="straightConnector1">
            <a:avLst/>
          </a:prstGeom>
          <a:noFill/>
          <a:ln cap="flat" cmpd="sng" w="28575">
            <a:solidFill>
              <a:srgbClr val="7F7F7F"/>
            </a:solidFill>
            <a:prstDash val="solid"/>
            <a:round/>
            <a:headEnd len="sm" w="sm" type="none"/>
            <a:tailEnd len="sm" w="sm" type="none"/>
          </a:ln>
        </p:spPr>
      </p:cxnSp>
      <p:cxnSp>
        <p:nvCxnSpPr>
          <p:cNvPr id="775" name="Google Shape;775;p36"/>
          <p:cNvCxnSpPr>
            <a:stCxn id="734" idx="6"/>
            <a:endCxn id="754" idx="2"/>
          </p:cNvCxnSpPr>
          <p:nvPr/>
        </p:nvCxnSpPr>
        <p:spPr>
          <a:xfrm>
            <a:off x="2738180" y="4374151"/>
            <a:ext cx="3930900" cy="681600"/>
          </a:xfrm>
          <a:prstGeom prst="straightConnector1">
            <a:avLst/>
          </a:prstGeom>
          <a:noFill/>
          <a:ln cap="flat" cmpd="sng" w="28575">
            <a:solidFill>
              <a:srgbClr val="7F7F7F"/>
            </a:solidFill>
            <a:prstDash val="solid"/>
            <a:round/>
            <a:headEnd len="sm" w="sm" type="none"/>
            <a:tailEnd len="sm" w="sm" type="none"/>
          </a:ln>
        </p:spPr>
      </p:cxnSp>
      <p:cxnSp>
        <p:nvCxnSpPr>
          <p:cNvPr id="776" name="Google Shape;776;p36"/>
          <p:cNvCxnSpPr>
            <a:stCxn id="733" idx="6"/>
            <a:endCxn id="754" idx="2"/>
          </p:cNvCxnSpPr>
          <p:nvPr/>
        </p:nvCxnSpPr>
        <p:spPr>
          <a:xfrm>
            <a:off x="3129063" y="4374151"/>
            <a:ext cx="3540300" cy="681600"/>
          </a:xfrm>
          <a:prstGeom prst="straightConnector1">
            <a:avLst/>
          </a:prstGeom>
          <a:noFill/>
          <a:ln cap="flat" cmpd="sng" w="28575">
            <a:solidFill>
              <a:srgbClr val="7F7F7F"/>
            </a:solidFill>
            <a:prstDash val="solid"/>
            <a:round/>
            <a:headEnd len="sm" w="sm" type="none"/>
            <a:tailEnd len="sm" w="sm" type="none"/>
          </a:ln>
        </p:spPr>
      </p:cxnSp>
      <p:cxnSp>
        <p:nvCxnSpPr>
          <p:cNvPr id="777" name="Google Shape;777;p36"/>
          <p:cNvCxnSpPr>
            <a:stCxn id="732" idx="6"/>
            <a:endCxn id="754" idx="2"/>
          </p:cNvCxnSpPr>
          <p:nvPr/>
        </p:nvCxnSpPr>
        <p:spPr>
          <a:xfrm flipH="1">
            <a:off x="6669328" y="4378853"/>
            <a:ext cx="583200" cy="676800"/>
          </a:xfrm>
          <a:prstGeom prst="straightConnector1">
            <a:avLst/>
          </a:prstGeom>
          <a:noFill/>
          <a:ln cap="flat" cmpd="sng" w="28575">
            <a:solidFill>
              <a:srgbClr val="7F7F7F"/>
            </a:solidFill>
            <a:prstDash val="solid"/>
            <a:round/>
            <a:headEnd len="sm" w="sm" type="none"/>
            <a:tailEnd len="sm" w="sm" type="none"/>
          </a:ln>
        </p:spPr>
      </p:cxnSp>
      <p:cxnSp>
        <p:nvCxnSpPr>
          <p:cNvPr id="778" name="Google Shape;778;p36"/>
          <p:cNvCxnSpPr>
            <a:stCxn id="734" idx="6"/>
            <a:endCxn id="755" idx="2"/>
          </p:cNvCxnSpPr>
          <p:nvPr/>
        </p:nvCxnSpPr>
        <p:spPr>
          <a:xfrm>
            <a:off x="2738180" y="4374151"/>
            <a:ext cx="4552800" cy="677700"/>
          </a:xfrm>
          <a:prstGeom prst="straightConnector1">
            <a:avLst/>
          </a:prstGeom>
          <a:noFill/>
          <a:ln cap="flat" cmpd="sng" w="28575">
            <a:solidFill>
              <a:srgbClr val="7F7F7F"/>
            </a:solidFill>
            <a:prstDash val="solid"/>
            <a:round/>
            <a:headEnd len="sm" w="sm" type="none"/>
            <a:tailEnd len="sm" w="sm" type="none"/>
          </a:ln>
        </p:spPr>
      </p:cxnSp>
      <p:cxnSp>
        <p:nvCxnSpPr>
          <p:cNvPr id="779" name="Google Shape;779;p36"/>
          <p:cNvCxnSpPr>
            <a:stCxn id="733" idx="6"/>
            <a:endCxn id="755" idx="2"/>
          </p:cNvCxnSpPr>
          <p:nvPr/>
        </p:nvCxnSpPr>
        <p:spPr>
          <a:xfrm>
            <a:off x="3129063" y="4374151"/>
            <a:ext cx="4162200" cy="677700"/>
          </a:xfrm>
          <a:prstGeom prst="straightConnector1">
            <a:avLst/>
          </a:prstGeom>
          <a:noFill/>
          <a:ln cap="flat" cmpd="sng" w="28575">
            <a:solidFill>
              <a:srgbClr val="7F7F7F"/>
            </a:solidFill>
            <a:prstDash val="solid"/>
            <a:round/>
            <a:headEnd len="sm" w="sm" type="none"/>
            <a:tailEnd len="sm" w="sm" type="none"/>
          </a:ln>
        </p:spPr>
      </p:cxnSp>
      <p:cxnSp>
        <p:nvCxnSpPr>
          <p:cNvPr id="780" name="Google Shape;780;p36"/>
          <p:cNvCxnSpPr>
            <a:stCxn id="732" idx="6"/>
            <a:endCxn id="755" idx="2"/>
          </p:cNvCxnSpPr>
          <p:nvPr/>
        </p:nvCxnSpPr>
        <p:spPr>
          <a:xfrm>
            <a:off x="7252528" y="4378853"/>
            <a:ext cx="38700" cy="672900"/>
          </a:xfrm>
          <a:prstGeom prst="straightConnector1">
            <a:avLst/>
          </a:prstGeom>
          <a:noFill/>
          <a:ln cap="flat" cmpd="sng" w="28575">
            <a:solidFill>
              <a:srgbClr val="7F7F7F"/>
            </a:solidFill>
            <a:prstDash val="solid"/>
            <a:round/>
            <a:headEnd len="sm" w="sm" type="none"/>
            <a:tailEnd len="sm" w="sm" type="none"/>
          </a:ln>
        </p:spPr>
      </p:cxnSp>
      <p:cxnSp>
        <p:nvCxnSpPr>
          <p:cNvPr id="781" name="Google Shape;781;p36"/>
          <p:cNvCxnSpPr>
            <a:stCxn id="734" idx="6"/>
            <a:endCxn id="756" idx="2"/>
          </p:cNvCxnSpPr>
          <p:nvPr/>
        </p:nvCxnSpPr>
        <p:spPr>
          <a:xfrm>
            <a:off x="2738180" y="4374151"/>
            <a:ext cx="5175900" cy="673200"/>
          </a:xfrm>
          <a:prstGeom prst="straightConnector1">
            <a:avLst/>
          </a:prstGeom>
          <a:noFill/>
          <a:ln cap="flat" cmpd="sng" w="28575">
            <a:solidFill>
              <a:srgbClr val="7F7F7F"/>
            </a:solidFill>
            <a:prstDash val="solid"/>
            <a:round/>
            <a:headEnd len="sm" w="sm" type="none"/>
            <a:tailEnd len="sm" w="sm" type="none"/>
          </a:ln>
        </p:spPr>
      </p:cxnSp>
      <p:cxnSp>
        <p:nvCxnSpPr>
          <p:cNvPr id="782" name="Google Shape;782;p36"/>
          <p:cNvCxnSpPr>
            <a:stCxn id="733" idx="6"/>
            <a:endCxn id="756" idx="2"/>
          </p:cNvCxnSpPr>
          <p:nvPr/>
        </p:nvCxnSpPr>
        <p:spPr>
          <a:xfrm>
            <a:off x="3129063" y="4374151"/>
            <a:ext cx="4785000" cy="673200"/>
          </a:xfrm>
          <a:prstGeom prst="straightConnector1">
            <a:avLst/>
          </a:prstGeom>
          <a:noFill/>
          <a:ln cap="flat" cmpd="sng" w="28575">
            <a:solidFill>
              <a:srgbClr val="7F7F7F"/>
            </a:solidFill>
            <a:prstDash val="solid"/>
            <a:round/>
            <a:headEnd len="sm" w="sm" type="none"/>
            <a:tailEnd len="sm" w="sm" type="none"/>
          </a:ln>
        </p:spPr>
      </p:cxnSp>
      <p:cxnSp>
        <p:nvCxnSpPr>
          <p:cNvPr id="783" name="Google Shape;783;p36"/>
          <p:cNvCxnSpPr>
            <a:stCxn id="732" idx="6"/>
            <a:endCxn id="756" idx="2"/>
          </p:cNvCxnSpPr>
          <p:nvPr/>
        </p:nvCxnSpPr>
        <p:spPr>
          <a:xfrm>
            <a:off x="7252528" y="4378853"/>
            <a:ext cx="661500" cy="668400"/>
          </a:xfrm>
          <a:prstGeom prst="straightConnector1">
            <a:avLst/>
          </a:prstGeom>
          <a:noFill/>
          <a:ln cap="flat" cmpd="sng" w="28575">
            <a:solidFill>
              <a:srgbClr val="7F7F7F"/>
            </a:solidFill>
            <a:prstDash val="solid"/>
            <a:round/>
            <a:headEnd len="sm" w="sm" type="none"/>
            <a:tailEnd len="sm" w="sm" type="none"/>
          </a:ln>
        </p:spPr>
      </p:cxnSp>
      <p:pic>
        <p:nvPicPr>
          <p:cNvPr descr="A picture containing drawing  Description automatically generated" id="784" name="Google Shape;784;p36"/>
          <p:cNvPicPr preferRelativeResize="0"/>
          <p:nvPr/>
        </p:nvPicPr>
        <p:blipFill rotWithShape="1">
          <a:blip r:embed="rId3">
            <a:alphaModFix/>
          </a:blip>
          <a:srcRect b="0" l="0" r="0" t="0"/>
          <a:stretch/>
        </p:blipFill>
        <p:spPr>
          <a:xfrm>
            <a:off x="2910132" y="1745394"/>
            <a:ext cx="786731" cy="786731"/>
          </a:xfrm>
          <a:prstGeom prst="rect">
            <a:avLst/>
          </a:prstGeom>
          <a:noFill/>
          <a:ln>
            <a:noFill/>
          </a:ln>
        </p:spPr>
      </p:pic>
      <p:cxnSp>
        <p:nvCxnSpPr>
          <p:cNvPr id="785" name="Google Shape;785;p36"/>
          <p:cNvCxnSpPr/>
          <p:nvPr/>
        </p:nvCxnSpPr>
        <p:spPr>
          <a:xfrm>
            <a:off x="3777845" y="2161555"/>
            <a:ext cx="534433" cy="0"/>
          </a:xfrm>
          <a:prstGeom prst="straightConnector1">
            <a:avLst/>
          </a:prstGeom>
          <a:noFill/>
          <a:ln cap="flat" cmpd="sng" w="57150">
            <a:solidFill>
              <a:schemeClr val="accent4"/>
            </a:solidFill>
            <a:prstDash val="solid"/>
            <a:round/>
            <a:headEnd len="sm" w="sm" type="none"/>
            <a:tailEnd len="med" w="med" type="triangle"/>
          </a:ln>
        </p:spPr>
      </p:cxnSp>
      <p:sp>
        <p:nvSpPr>
          <p:cNvPr id="786" name="Google Shape;786;p36"/>
          <p:cNvSpPr txBox="1"/>
          <p:nvPr/>
        </p:nvSpPr>
        <p:spPr>
          <a:xfrm>
            <a:off x="4250852" y="1979511"/>
            <a:ext cx="1795449"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[ 0, 0, …, 0]</a:t>
            </a:r>
            <a:endParaRPr b="0" i="0" sz="2200" u="none" cap="none" strike="noStrike">
              <a:solidFill>
                <a:schemeClr val="dk2"/>
              </a:solidFill>
              <a:latin typeface="Open Sans"/>
              <a:ea typeface="Noto Sans SC"/>
              <a:cs typeface="Open Sans"/>
              <a:sym typeface="Open Sans"/>
            </a:endParaRPr>
          </a:p>
        </p:txBody>
      </p:sp>
      <p:cxnSp>
        <p:nvCxnSpPr>
          <p:cNvPr id="787" name="Google Shape;787;p36"/>
          <p:cNvCxnSpPr>
            <a:endCxn id="731" idx="2"/>
          </p:cNvCxnSpPr>
          <p:nvPr/>
        </p:nvCxnSpPr>
        <p:spPr>
          <a:xfrm flipH="1">
            <a:off x="2738180" y="2407123"/>
            <a:ext cx="1901400" cy="826200"/>
          </a:xfrm>
          <a:prstGeom prst="straightConnector1">
            <a:avLst/>
          </a:prstGeom>
          <a:noFill/>
          <a:ln cap="flat" cmpd="sng" w="28575">
            <a:solidFill>
              <a:srgbClr val="7F7F7F"/>
            </a:solidFill>
            <a:prstDash val="solid"/>
            <a:round/>
            <a:headEnd len="sm" w="sm" type="none"/>
            <a:tailEnd len="sm" w="sm" type="none"/>
          </a:ln>
        </p:spPr>
      </p:cxnSp>
      <p:cxnSp>
        <p:nvCxnSpPr>
          <p:cNvPr id="788" name="Google Shape;788;p36"/>
          <p:cNvCxnSpPr>
            <a:endCxn id="730" idx="2"/>
          </p:cNvCxnSpPr>
          <p:nvPr/>
        </p:nvCxnSpPr>
        <p:spPr>
          <a:xfrm flipH="1">
            <a:off x="3129063" y="2407123"/>
            <a:ext cx="1510500" cy="826200"/>
          </a:xfrm>
          <a:prstGeom prst="straightConnector1">
            <a:avLst/>
          </a:prstGeom>
          <a:noFill/>
          <a:ln cap="flat" cmpd="sng" w="28575">
            <a:solidFill>
              <a:srgbClr val="7F7F7F"/>
            </a:solidFill>
            <a:prstDash val="solid"/>
            <a:round/>
            <a:headEnd len="sm" w="sm" type="none"/>
            <a:tailEnd len="sm" w="sm" type="none"/>
          </a:ln>
        </p:spPr>
      </p:cxnSp>
      <p:cxnSp>
        <p:nvCxnSpPr>
          <p:cNvPr id="789" name="Google Shape;789;p36"/>
          <p:cNvCxnSpPr>
            <a:endCxn id="729" idx="2"/>
          </p:cNvCxnSpPr>
          <p:nvPr/>
        </p:nvCxnSpPr>
        <p:spPr>
          <a:xfrm>
            <a:off x="4639528" y="2407025"/>
            <a:ext cx="2613000" cy="831000"/>
          </a:xfrm>
          <a:prstGeom prst="straightConnector1">
            <a:avLst/>
          </a:prstGeom>
          <a:noFill/>
          <a:ln cap="flat" cmpd="sng" w="28575">
            <a:solidFill>
              <a:srgbClr val="7F7F7F"/>
            </a:solidFill>
            <a:prstDash val="solid"/>
            <a:round/>
            <a:headEnd len="sm" w="sm" type="none"/>
            <a:tailEnd len="sm" w="sm" type="none"/>
          </a:ln>
        </p:spPr>
      </p:cxnSp>
      <p:sp>
        <p:nvSpPr>
          <p:cNvPr id="790" name="Google Shape;790;p36"/>
          <p:cNvSpPr txBox="1"/>
          <p:nvPr/>
        </p:nvSpPr>
        <p:spPr>
          <a:xfrm>
            <a:off x="3282258" y="3974720"/>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sp>
        <p:nvSpPr>
          <p:cNvPr id="791" name="Google Shape;791;p36"/>
          <p:cNvSpPr txBox="1"/>
          <p:nvPr/>
        </p:nvSpPr>
        <p:spPr>
          <a:xfrm>
            <a:off x="3282258" y="3130891"/>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cxnSp>
        <p:nvCxnSpPr>
          <p:cNvPr id="792" name="Google Shape;792;p36"/>
          <p:cNvCxnSpPr>
            <a:endCxn id="731" idx="2"/>
          </p:cNvCxnSpPr>
          <p:nvPr/>
        </p:nvCxnSpPr>
        <p:spPr>
          <a:xfrm flipH="1">
            <a:off x="2738180" y="2415223"/>
            <a:ext cx="2216400" cy="818100"/>
          </a:xfrm>
          <a:prstGeom prst="straightConnector1">
            <a:avLst/>
          </a:prstGeom>
          <a:noFill/>
          <a:ln cap="flat" cmpd="sng" w="28575">
            <a:solidFill>
              <a:srgbClr val="7F7F7F"/>
            </a:solidFill>
            <a:prstDash val="solid"/>
            <a:round/>
            <a:headEnd len="sm" w="sm" type="none"/>
            <a:tailEnd len="sm" w="sm" type="none"/>
          </a:ln>
        </p:spPr>
      </p:cxnSp>
      <p:cxnSp>
        <p:nvCxnSpPr>
          <p:cNvPr id="793" name="Google Shape;793;p36"/>
          <p:cNvCxnSpPr>
            <a:endCxn id="730" idx="2"/>
          </p:cNvCxnSpPr>
          <p:nvPr/>
        </p:nvCxnSpPr>
        <p:spPr>
          <a:xfrm flipH="1">
            <a:off x="3129063" y="2415223"/>
            <a:ext cx="1834500" cy="818100"/>
          </a:xfrm>
          <a:prstGeom prst="straightConnector1">
            <a:avLst/>
          </a:prstGeom>
          <a:noFill/>
          <a:ln cap="flat" cmpd="sng" w="28575">
            <a:solidFill>
              <a:srgbClr val="7F7F7F"/>
            </a:solidFill>
            <a:prstDash val="solid"/>
            <a:round/>
            <a:headEnd len="sm" w="sm" type="none"/>
            <a:tailEnd len="sm" w="sm" type="none"/>
          </a:ln>
        </p:spPr>
      </p:cxnSp>
      <p:cxnSp>
        <p:nvCxnSpPr>
          <p:cNvPr id="794" name="Google Shape;794;p36"/>
          <p:cNvCxnSpPr>
            <a:endCxn id="729" idx="2"/>
          </p:cNvCxnSpPr>
          <p:nvPr/>
        </p:nvCxnSpPr>
        <p:spPr>
          <a:xfrm>
            <a:off x="4954528" y="2415125"/>
            <a:ext cx="2298000" cy="822900"/>
          </a:xfrm>
          <a:prstGeom prst="straightConnector1">
            <a:avLst/>
          </a:prstGeom>
          <a:noFill/>
          <a:ln cap="flat" cmpd="sng" w="28575">
            <a:solidFill>
              <a:srgbClr val="7F7F7F"/>
            </a:solidFill>
            <a:prstDash val="solid"/>
            <a:round/>
            <a:headEnd len="sm" w="sm" type="none"/>
            <a:tailEnd len="sm" w="sm" type="none"/>
          </a:ln>
        </p:spPr>
      </p:cxnSp>
      <p:cxnSp>
        <p:nvCxnSpPr>
          <p:cNvPr id="795" name="Google Shape;795;p36"/>
          <p:cNvCxnSpPr>
            <a:endCxn id="731" idx="2"/>
          </p:cNvCxnSpPr>
          <p:nvPr/>
        </p:nvCxnSpPr>
        <p:spPr>
          <a:xfrm flipH="1">
            <a:off x="2738180" y="2415223"/>
            <a:ext cx="2979300" cy="818100"/>
          </a:xfrm>
          <a:prstGeom prst="straightConnector1">
            <a:avLst/>
          </a:prstGeom>
          <a:noFill/>
          <a:ln cap="flat" cmpd="sng" w="28575">
            <a:solidFill>
              <a:srgbClr val="7F7F7F"/>
            </a:solidFill>
            <a:prstDash val="solid"/>
            <a:round/>
            <a:headEnd len="sm" w="sm" type="none"/>
            <a:tailEnd len="sm" w="sm" type="none"/>
          </a:ln>
        </p:spPr>
      </p:cxnSp>
      <p:cxnSp>
        <p:nvCxnSpPr>
          <p:cNvPr id="796" name="Google Shape;796;p36"/>
          <p:cNvCxnSpPr>
            <a:endCxn id="730" idx="2"/>
          </p:cNvCxnSpPr>
          <p:nvPr/>
        </p:nvCxnSpPr>
        <p:spPr>
          <a:xfrm flipH="1">
            <a:off x="3129063" y="2415223"/>
            <a:ext cx="2588400" cy="818100"/>
          </a:xfrm>
          <a:prstGeom prst="straightConnector1">
            <a:avLst/>
          </a:prstGeom>
          <a:noFill/>
          <a:ln cap="flat" cmpd="sng" w="28575">
            <a:solidFill>
              <a:srgbClr val="7F7F7F"/>
            </a:solidFill>
            <a:prstDash val="solid"/>
            <a:round/>
            <a:headEnd len="sm" w="sm" type="none"/>
            <a:tailEnd len="sm" w="sm" type="none"/>
          </a:ln>
        </p:spPr>
      </p:cxnSp>
      <p:cxnSp>
        <p:nvCxnSpPr>
          <p:cNvPr id="797" name="Google Shape;797;p36"/>
          <p:cNvCxnSpPr>
            <a:endCxn id="729" idx="2"/>
          </p:cNvCxnSpPr>
          <p:nvPr/>
        </p:nvCxnSpPr>
        <p:spPr>
          <a:xfrm>
            <a:off x="5717428" y="2415125"/>
            <a:ext cx="1535100" cy="822900"/>
          </a:xfrm>
          <a:prstGeom prst="straightConnector1">
            <a:avLst/>
          </a:prstGeom>
          <a:noFill/>
          <a:ln cap="flat" cmpd="sng" w="28575">
            <a:solidFill>
              <a:srgbClr val="7F7F7F"/>
            </a:solidFill>
            <a:prstDash val="solid"/>
            <a:round/>
            <a:headEnd len="sm" w="sm" type="none"/>
            <a:tailEnd len="sm" w="sm" type="none"/>
          </a:ln>
        </p:spPr>
      </p:cxnSp>
      <p:sp>
        <p:nvSpPr>
          <p:cNvPr id="798" name="Google Shape;798;p36"/>
          <p:cNvSpPr txBox="1"/>
          <p:nvPr/>
        </p:nvSpPr>
        <p:spPr>
          <a:xfrm>
            <a:off x="8232484" y="1986425"/>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(784,)</a:t>
            </a:r>
            <a:endParaRPr b="0" i="0" sz="1800" u="none" cap="none" strike="noStrike">
              <a:solidFill>
                <a:schemeClr val="dk2"/>
              </a:solidFill>
              <a:latin typeface="Open Sans"/>
              <a:ea typeface="Noto Sans SC"/>
              <a:cs typeface="Open Sans"/>
              <a:sym typeface="Open Sans"/>
            </a:endParaRPr>
          </a:p>
        </p:txBody>
      </p:sp>
      <p:sp>
        <p:nvSpPr>
          <p:cNvPr id="799" name="Google Shape;799;p36"/>
          <p:cNvSpPr txBox="1"/>
          <p:nvPr/>
        </p:nvSpPr>
        <p:spPr>
          <a:xfrm>
            <a:off x="8232484" y="3154257"/>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800" name="Google Shape;800;p36"/>
          <p:cNvSpPr txBox="1"/>
          <p:nvPr/>
        </p:nvSpPr>
        <p:spPr>
          <a:xfrm>
            <a:off x="8232484" y="4054293"/>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801" name="Google Shape;801;p36"/>
          <p:cNvSpPr txBox="1"/>
          <p:nvPr/>
        </p:nvSpPr>
        <p:spPr>
          <a:xfrm>
            <a:off x="8232484" y="5027186"/>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(10,)</a:t>
            </a:r>
            <a:endParaRPr b="0" i="0" sz="1800" u="none" cap="none" strike="noStrike">
              <a:solidFill>
                <a:schemeClr val="dk2"/>
              </a:solidFill>
              <a:latin typeface="Open Sans"/>
              <a:ea typeface="Noto Sans SC"/>
              <a:cs typeface="Open Sans"/>
              <a:sym typeface="Open Sans"/>
            </a:endParaRPr>
          </a:p>
        </p:txBody>
      </p:sp>
      <p:sp>
        <p:nvSpPr>
          <p:cNvPr id="802" name="Google Shape;802;p36"/>
          <p:cNvSpPr/>
          <p:nvPr/>
        </p:nvSpPr>
        <p:spPr>
          <a:xfrm>
            <a:off x="9215276" y="2157241"/>
            <a:ext cx="150690" cy="3052934"/>
          </a:xfrm>
          <a:prstGeom prst="rightBrace">
            <a:avLst>
              <a:gd fmla="val 8333" name="adj1"/>
              <a:gd fmla="val 50000" name="adj2"/>
            </a:avLst>
          </a:pr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803" name="Google Shape;803;p36"/>
          <p:cNvSpPr txBox="1"/>
          <p:nvPr/>
        </p:nvSpPr>
        <p:spPr>
          <a:xfrm>
            <a:off x="1361258" y="3224970"/>
            <a:ext cx="958509" cy="424732"/>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Open Sans"/>
              <a:buNone/>
            </a:pPr>
            <a:r>
              <a:rPr b="0" i="0" lang="en-US" sz="2400" u="none" cap="none" strike="noStrike">
                <a:solidFill>
                  <a:schemeClr val="lt1"/>
                </a:solidFill>
                <a:latin typeface="Open Sans"/>
                <a:ea typeface="Noto Sans SC"/>
                <a:cs typeface="Open Sans"/>
                <a:sym typeface="Open Sans"/>
              </a:rPr>
              <a:t>ReLU</a:t>
            </a:r>
            <a:endParaRPr b="0" i="0" sz="2400" u="none" cap="none" strike="noStrike">
              <a:solidFill>
                <a:schemeClr val="lt1"/>
              </a:solidFill>
              <a:latin typeface="Open Sans"/>
              <a:ea typeface="Noto Sans SC"/>
              <a:cs typeface="Open Sans"/>
              <a:sym typeface="Open Sans"/>
            </a:endParaRPr>
          </a:p>
        </p:txBody>
      </p:sp>
      <p:sp>
        <p:nvSpPr>
          <p:cNvPr id="804" name="Google Shape;804;p36"/>
          <p:cNvSpPr txBox="1"/>
          <p:nvPr/>
        </p:nvSpPr>
        <p:spPr>
          <a:xfrm>
            <a:off x="500729" y="5014334"/>
            <a:ext cx="1361282" cy="424732"/>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Open Sans"/>
              <a:buNone/>
            </a:pPr>
            <a:r>
              <a:rPr b="0" i="0" lang="en-US" sz="2400" u="none" cap="none" strike="noStrike">
                <a:solidFill>
                  <a:schemeClr val="lt1"/>
                </a:solidFill>
                <a:latin typeface="Open Sans"/>
                <a:ea typeface="Noto Sans SC"/>
                <a:cs typeface="Open Sans"/>
                <a:sym typeface="Open Sans"/>
              </a:rPr>
              <a:t>Sigmoid</a:t>
            </a:r>
            <a:endParaRPr b="0" i="0" sz="2400" u="none" cap="none" strike="noStrike">
              <a:solidFill>
                <a:schemeClr val="lt1"/>
              </a:solidFill>
              <a:latin typeface="Open Sans"/>
              <a:ea typeface="Noto Sans SC"/>
              <a:cs typeface="Open Sans"/>
              <a:sym typeface="Open Sans"/>
            </a:endParaRPr>
          </a:p>
        </p:txBody>
      </p:sp>
      <p:sp>
        <p:nvSpPr>
          <p:cNvPr id="805" name="Google Shape;805;p36"/>
          <p:cNvSpPr txBox="1"/>
          <p:nvPr/>
        </p:nvSpPr>
        <p:spPr>
          <a:xfrm>
            <a:off x="9522449" y="3264894"/>
            <a:ext cx="1025512" cy="830997"/>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层</a:t>
            </a:r>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大小</a:t>
            </a:r>
            <a:endParaRPr b="0" i="0" sz="2400" u="none" cap="none" strike="noStrike">
              <a:solidFill>
                <a:schemeClr val="lt1"/>
              </a:solidFill>
              <a:latin typeface="Open Sans"/>
              <a:ea typeface="Noto Sans SC"/>
              <a:cs typeface="Open Sans"/>
              <a:sym typeface="Open Sans"/>
            </a:endParaRPr>
          </a:p>
        </p:txBody>
      </p:sp>
      <p:sp>
        <p:nvSpPr>
          <p:cNvPr id="806" name="Google Shape;806;p36"/>
          <p:cNvSpPr txBox="1"/>
          <p:nvPr/>
        </p:nvSpPr>
        <p:spPr>
          <a:xfrm>
            <a:off x="1361258" y="3960346"/>
            <a:ext cx="958509" cy="424732"/>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Open Sans"/>
              <a:buNone/>
            </a:pPr>
            <a:r>
              <a:rPr b="0" i="0" lang="en-US" sz="2400" u="none" cap="none" strike="noStrike">
                <a:solidFill>
                  <a:schemeClr val="lt1"/>
                </a:solidFill>
                <a:latin typeface="Open Sans"/>
                <a:ea typeface="Noto Sans SC"/>
                <a:cs typeface="Open Sans"/>
                <a:sym typeface="Open Sans"/>
              </a:rPr>
              <a:t>ReLU</a:t>
            </a:r>
            <a:endParaRPr b="0" i="0" sz="24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80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810" name="Shape 810"/>
        <p:cNvGrpSpPr/>
        <p:nvPr/>
      </p:nvGrpSpPr>
      <p:grpSpPr>
        <a:xfrm>
          <a:off x="0" y="0"/>
          <a:ext cx="0" cy="0"/>
          <a:chOff x="0" y="0"/>
          <a:chExt cx="0" cy="0"/>
        </a:xfrm>
      </p:grpSpPr>
      <p:sp>
        <p:nvSpPr>
          <p:cNvPr id="811" name="Google Shape;811;p37"/>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Open Sans"/>
                <a:ea typeface="Noto Sans SC"/>
                <a:cs typeface="Open Sans"/>
                <a:sym typeface="Open Sans"/>
              </a:rPr>
              <a:t>MNIST </a:t>
            </a:r>
            <a:r>
              <a:rPr b="1" i="0" lang="en-US" sz="3600" u="none" cap="none" strike="noStrike">
                <a:solidFill>
                  <a:schemeClr val="dk2"/>
                </a:solidFill>
                <a:latin typeface="Noto Sans SC"/>
                <a:ea typeface="Noto Sans SC"/>
                <a:cs typeface="Open Sans"/>
                <a:sym typeface="Open Sans"/>
              </a:rPr>
              <a:t>模型</a:t>
            </a:r>
            <a:endParaRPr b="1" i="0" sz="3600" u="none" cap="none" strike="noStrike">
              <a:solidFill>
                <a:schemeClr val="dk2"/>
              </a:solidFill>
              <a:latin typeface="Open Sans"/>
              <a:ea typeface="Noto Sans SC"/>
              <a:cs typeface="Open Sans"/>
              <a:sym typeface="Open Sans"/>
            </a:endParaRPr>
          </a:p>
        </p:txBody>
      </p:sp>
      <p:sp>
        <p:nvSpPr>
          <p:cNvPr id="812" name="Google Shape;812;p37"/>
          <p:cNvSpPr/>
          <p:nvPr/>
        </p:nvSpPr>
        <p:spPr>
          <a:xfrm rot="5400000">
            <a:off x="7089571" y="3239018"/>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13" name="Google Shape;813;p37"/>
          <p:cNvSpPr/>
          <p:nvPr/>
        </p:nvSpPr>
        <p:spPr>
          <a:xfrm rot="5400000">
            <a:off x="2966106" y="32343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14" name="Google Shape;814;p37"/>
          <p:cNvSpPr/>
          <p:nvPr/>
        </p:nvSpPr>
        <p:spPr>
          <a:xfrm rot="5400000">
            <a:off x="2575223" y="323431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15" name="Google Shape;815;p37"/>
          <p:cNvSpPr/>
          <p:nvPr/>
        </p:nvSpPr>
        <p:spPr>
          <a:xfrm rot="5400000">
            <a:off x="7089571" y="405393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16" name="Google Shape;816;p37"/>
          <p:cNvSpPr/>
          <p:nvPr/>
        </p:nvSpPr>
        <p:spPr>
          <a:xfrm rot="5400000">
            <a:off x="2966106" y="404923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17" name="Google Shape;817;p37"/>
          <p:cNvSpPr/>
          <p:nvPr/>
        </p:nvSpPr>
        <p:spPr>
          <a:xfrm rot="5400000">
            <a:off x="2575223" y="404923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18" name="Google Shape;818;p37"/>
          <p:cNvSpPr/>
          <p:nvPr/>
        </p:nvSpPr>
        <p:spPr>
          <a:xfrm rot="5400000">
            <a:off x="2116306"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819" name="Google Shape;819;p37"/>
          <p:cNvCxnSpPr>
            <a:stCxn id="815" idx="6"/>
            <a:endCxn id="818" idx="2"/>
          </p:cNvCxnSpPr>
          <p:nvPr/>
        </p:nvCxnSpPr>
        <p:spPr>
          <a:xfrm flipH="1">
            <a:off x="2279128" y="4378853"/>
            <a:ext cx="4973400" cy="672900"/>
          </a:xfrm>
          <a:prstGeom prst="straightConnector1">
            <a:avLst/>
          </a:prstGeom>
          <a:noFill/>
          <a:ln cap="flat" cmpd="sng" w="28575">
            <a:solidFill>
              <a:srgbClr val="7F7F7F"/>
            </a:solidFill>
            <a:prstDash val="solid"/>
            <a:round/>
            <a:headEnd len="sm" w="sm" type="none"/>
            <a:tailEnd len="sm" w="sm" type="none"/>
          </a:ln>
        </p:spPr>
      </p:cxnSp>
      <p:cxnSp>
        <p:nvCxnSpPr>
          <p:cNvPr id="820" name="Google Shape;820;p37"/>
          <p:cNvCxnSpPr>
            <a:stCxn id="816" idx="6"/>
            <a:endCxn id="818" idx="2"/>
          </p:cNvCxnSpPr>
          <p:nvPr/>
        </p:nvCxnSpPr>
        <p:spPr>
          <a:xfrm flipH="1">
            <a:off x="2279163" y="4374151"/>
            <a:ext cx="849900" cy="677700"/>
          </a:xfrm>
          <a:prstGeom prst="straightConnector1">
            <a:avLst/>
          </a:prstGeom>
          <a:noFill/>
          <a:ln cap="flat" cmpd="sng" w="28575">
            <a:solidFill>
              <a:srgbClr val="7F7F7F"/>
            </a:solidFill>
            <a:prstDash val="solid"/>
            <a:round/>
            <a:headEnd len="sm" w="sm" type="none"/>
            <a:tailEnd len="sm" w="sm" type="none"/>
          </a:ln>
        </p:spPr>
      </p:cxnSp>
      <p:cxnSp>
        <p:nvCxnSpPr>
          <p:cNvPr id="821" name="Google Shape;821;p37"/>
          <p:cNvCxnSpPr>
            <a:stCxn id="817" idx="6"/>
            <a:endCxn id="818" idx="2"/>
          </p:cNvCxnSpPr>
          <p:nvPr/>
        </p:nvCxnSpPr>
        <p:spPr>
          <a:xfrm flipH="1">
            <a:off x="2279180" y="4374151"/>
            <a:ext cx="459000" cy="677700"/>
          </a:xfrm>
          <a:prstGeom prst="straightConnector1">
            <a:avLst/>
          </a:prstGeom>
          <a:noFill/>
          <a:ln cap="flat" cmpd="sng" w="28575">
            <a:solidFill>
              <a:srgbClr val="7F7F7F"/>
            </a:solidFill>
            <a:prstDash val="solid"/>
            <a:round/>
            <a:headEnd len="sm" w="sm" type="none"/>
            <a:tailEnd len="sm" w="sm" type="none"/>
          </a:ln>
        </p:spPr>
      </p:cxnSp>
      <p:cxnSp>
        <p:nvCxnSpPr>
          <p:cNvPr id="822" name="Google Shape;822;p37"/>
          <p:cNvCxnSpPr>
            <a:stCxn id="814" idx="6"/>
            <a:endCxn id="815" idx="2"/>
          </p:cNvCxnSpPr>
          <p:nvPr/>
        </p:nvCxnSpPr>
        <p:spPr>
          <a:xfrm>
            <a:off x="2738180" y="3559237"/>
            <a:ext cx="4514400" cy="493800"/>
          </a:xfrm>
          <a:prstGeom prst="straightConnector1">
            <a:avLst/>
          </a:prstGeom>
          <a:noFill/>
          <a:ln cap="flat" cmpd="sng" w="28575">
            <a:solidFill>
              <a:srgbClr val="7F7F7F"/>
            </a:solidFill>
            <a:prstDash val="solid"/>
            <a:round/>
            <a:headEnd len="sm" w="sm" type="none"/>
            <a:tailEnd len="sm" w="sm" type="none"/>
          </a:ln>
        </p:spPr>
      </p:cxnSp>
      <p:cxnSp>
        <p:nvCxnSpPr>
          <p:cNvPr id="823" name="Google Shape;823;p37"/>
          <p:cNvCxnSpPr>
            <a:stCxn id="814" idx="6"/>
            <a:endCxn id="816" idx="2"/>
          </p:cNvCxnSpPr>
          <p:nvPr/>
        </p:nvCxnSpPr>
        <p:spPr>
          <a:xfrm>
            <a:off x="2738180" y="3559237"/>
            <a:ext cx="390900" cy="489000"/>
          </a:xfrm>
          <a:prstGeom prst="straightConnector1">
            <a:avLst/>
          </a:prstGeom>
          <a:noFill/>
          <a:ln cap="flat" cmpd="sng" w="28575">
            <a:solidFill>
              <a:srgbClr val="7F7F7F"/>
            </a:solidFill>
            <a:prstDash val="solid"/>
            <a:round/>
            <a:headEnd len="sm" w="sm" type="none"/>
            <a:tailEnd len="sm" w="sm" type="none"/>
          </a:ln>
        </p:spPr>
      </p:cxnSp>
      <p:cxnSp>
        <p:nvCxnSpPr>
          <p:cNvPr id="824" name="Google Shape;824;p37"/>
          <p:cNvCxnSpPr>
            <a:stCxn id="814" idx="6"/>
            <a:endCxn id="817" idx="2"/>
          </p:cNvCxnSpPr>
          <p:nvPr/>
        </p:nvCxnSpPr>
        <p:spPr>
          <a:xfrm>
            <a:off x="2738180" y="3559237"/>
            <a:ext cx="0" cy="489000"/>
          </a:xfrm>
          <a:prstGeom prst="straightConnector1">
            <a:avLst/>
          </a:prstGeom>
          <a:noFill/>
          <a:ln cap="flat" cmpd="sng" w="28575">
            <a:solidFill>
              <a:srgbClr val="7F7F7F"/>
            </a:solidFill>
            <a:prstDash val="solid"/>
            <a:round/>
            <a:headEnd len="sm" w="sm" type="none"/>
            <a:tailEnd len="sm" w="sm" type="none"/>
          </a:ln>
        </p:spPr>
      </p:cxnSp>
      <p:cxnSp>
        <p:nvCxnSpPr>
          <p:cNvPr id="825" name="Google Shape;825;p37"/>
          <p:cNvCxnSpPr>
            <a:stCxn id="812" idx="6"/>
            <a:endCxn id="815" idx="2"/>
          </p:cNvCxnSpPr>
          <p:nvPr/>
        </p:nvCxnSpPr>
        <p:spPr>
          <a:xfrm>
            <a:off x="7252528" y="3563939"/>
            <a:ext cx="0" cy="489000"/>
          </a:xfrm>
          <a:prstGeom prst="straightConnector1">
            <a:avLst/>
          </a:prstGeom>
          <a:noFill/>
          <a:ln cap="flat" cmpd="sng" w="28575">
            <a:solidFill>
              <a:srgbClr val="7F7F7F"/>
            </a:solidFill>
            <a:prstDash val="solid"/>
            <a:round/>
            <a:headEnd len="sm" w="sm" type="none"/>
            <a:tailEnd len="sm" w="sm" type="none"/>
          </a:ln>
        </p:spPr>
      </p:cxnSp>
      <p:cxnSp>
        <p:nvCxnSpPr>
          <p:cNvPr id="826" name="Google Shape;826;p37"/>
          <p:cNvCxnSpPr>
            <a:stCxn id="812" idx="6"/>
            <a:endCxn id="816" idx="2"/>
          </p:cNvCxnSpPr>
          <p:nvPr/>
        </p:nvCxnSpPr>
        <p:spPr>
          <a:xfrm flipH="1">
            <a:off x="3129028" y="3563939"/>
            <a:ext cx="4123500" cy="484200"/>
          </a:xfrm>
          <a:prstGeom prst="straightConnector1">
            <a:avLst/>
          </a:prstGeom>
          <a:noFill/>
          <a:ln cap="flat" cmpd="sng" w="28575">
            <a:solidFill>
              <a:srgbClr val="7F7F7F"/>
            </a:solidFill>
            <a:prstDash val="solid"/>
            <a:round/>
            <a:headEnd len="sm" w="sm" type="none"/>
            <a:tailEnd len="sm" w="sm" type="none"/>
          </a:ln>
        </p:spPr>
      </p:cxnSp>
      <p:cxnSp>
        <p:nvCxnSpPr>
          <p:cNvPr id="827" name="Google Shape;827;p37"/>
          <p:cNvCxnSpPr>
            <a:stCxn id="812" idx="6"/>
            <a:endCxn id="817" idx="2"/>
          </p:cNvCxnSpPr>
          <p:nvPr/>
        </p:nvCxnSpPr>
        <p:spPr>
          <a:xfrm flipH="1">
            <a:off x="2738128" y="3563939"/>
            <a:ext cx="4514400" cy="484200"/>
          </a:xfrm>
          <a:prstGeom prst="straightConnector1">
            <a:avLst/>
          </a:prstGeom>
          <a:noFill/>
          <a:ln cap="flat" cmpd="sng" w="28575">
            <a:solidFill>
              <a:srgbClr val="7F7F7F"/>
            </a:solidFill>
            <a:prstDash val="solid"/>
            <a:round/>
            <a:headEnd len="sm" w="sm" type="none"/>
            <a:tailEnd len="sm" w="sm" type="none"/>
          </a:ln>
        </p:spPr>
      </p:cxnSp>
      <p:cxnSp>
        <p:nvCxnSpPr>
          <p:cNvPr id="828" name="Google Shape;828;p37"/>
          <p:cNvCxnSpPr>
            <a:stCxn id="813" idx="6"/>
            <a:endCxn id="815" idx="2"/>
          </p:cNvCxnSpPr>
          <p:nvPr/>
        </p:nvCxnSpPr>
        <p:spPr>
          <a:xfrm>
            <a:off x="3129063" y="3559237"/>
            <a:ext cx="4123500" cy="493800"/>
          </a:xfrm>
          <a:prstGeom prst="straightConnector1">
            <a:avLst/>
          </a:prstGeom>
          <a:noFill/>
          <a:ln cap="flat" cmpd="sng" w="28575">
            <a:solidFill>
              <a:srgbClr val="7F7F7F"/>
            </a:solidFill>
            <a:prstDash val="solid"/>
            <a:round/>
            <a:headEnd len="sm" w="sm" type="none"/>
            <a:tailEnd len="sm" w="sm" type="none"/>
          </a:ln>
        </p:spPr>
      </p:cxnSp>
      <p:cxnSp>
        <p:nvCxnSpPr>
          <p:cNvPr id="829" name="Google Shape;829;p37"/>
          <p:cNvCxnSpPr>
            <a:stCxn id="813" idx="6"/>
            <a:endCxn id="816" idx="2"/>
          </p:cNvCxnSpPr>
          <p:nvPr/>
        </p:nvCxnSpPr>
        <p:spPr>
          <a:xfrm>
            <a:off x="3129063" y="3559237"/>
            <a:ext cx="0" cy="489000"/>
          </a:xfrm>
          <a:prstGeom prst="straightConnector1">
            <a:avLst/>
          </a:prstGeom>
          <a:noFill/>
          <a:ln cap="flat" cmpd="sng" w="28575">
            <a:solidFill>
              <a:srgbClr val="7F7F7F"/>
            </a:solidFill>
            <a:prstDash val="solid"/>
            <a:round/>
            <a:headEnd len="sm" w="sm" type="none"/>
            <a:tailEnd len="sm" w="sm" type="none"/>
          </a:ln>
        </p:spPr>
      </p:cxnSp>
      <p:cxnSp>
        <p:nvCxnSpPr>
          <p:cNvPr id="830" name="Google Shape;830;p37"/>
          <p:cNvCxnSpPr>
            <a:stCxn id="813" idx="6"/>
            <a:endCxn id="817" idx="2"/>
          </p:cNvCxnSpPr>
          <p:nvPr/>
        </p:nvCxnSpPr>
        <p:spPr>
          <a:xfrm flipH="1">
            <a:off x="2738163" y="3559237"/>
            <a:ext cx="390900" cy="489000"/>
          </a:xfrm>
          <a:prstGeom prst="straightConnector1">
            <a:avLst/>
          </a:prstGeom>
          <a:noFill/>
          <a:ln cap="flat" cmpd="sng" w="28575">
            <a:solidFill>
              <a:srgbClr val="7F7F7F"/>
            </a:solidFill>
            <a:prstDash val="solid"/>
            <a:round/>
            <a:headEnd len="sm" w="sm" type="none"/>
            <a:tailEnd len="sm" w="sm" type="none"/>
          </a:ln>
        </p:spPr>
      </p:cxnSp>
      <p:sp>
        <p:nvSpPr>
          <p:cNvPr id="831" name="Google Shape;831;p37"/>
          <p:cNvSpPr/>
          <p:nvPr/>
        </p:nvSpPr>
        <p:spPr>
          <a:xfrm rot="5400000">
            <a:off x="2739222"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2" name="Google Shape;832;p37"/>
          <p:cNvSpPr/>
          <p:nvPr/>
        </p:nvSpPr>
        <p:spPr>
          <a:xfrm rot="5400000">
            <a:off x="3364441"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3" name="Google Shape;833;p37"/>
          <p:cNvSpPr/>
          <p:nvPr/>
        </p:nvSpPr>
        <p:spPr>
          <a:xfrm rot="5400000">
            <a:off x="3987357"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4" name="Google Shape;834;p37"/>
          <p:cNvSpPr/>
          <p:nvPr/>
        </p:nvSpPr>
        <p:spPr>
          <a:xfrm rot="5400000">
            <a:off x="4638524"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5" name="Google Shape;835;p37"/>
          <p:cNvSpPr/>
          <p:nvPr/>
        </p:nvSpPr>
        <p:spPr>
          <a:xfrm rot="5400000">
            <a:off x="5261440"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6" name="Google Shape;836;p37"/>
          <p:cNvSpPr/>
          <p:nvPr/>
        </p:nvSpPr>
        <p:spPr>
          <a:xfrm rot="5400000">
            <a:off x="5883344" y="5061344"/>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7" name="Google Shape;837;p37"/>
          <p:cNvSpPr/>
          <p:nvPr/>
        </p:nvSpPr>
        <p:spPr>
          <a:xfrm rot="5400000">
            <a:off x="6506260" y="5056719"/>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8" name="Google Shape;838;p37"/>
          <p:cNvSpPr/>
          <p:nvPr/>
        </p:nvSpPr>
        <p:spPr>
          <a:xfrm rot="5400000">
            <a:off x="7128164" y="5052836"/>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9" name="Google Shape;839;p37"/>
          <p:cNvSpPr/>
          <p:nvPr/>
        </p:nvSpPr>
        <p:spPr>
          <a:xfrm rot="5400000">
            <a:off x="7751080" y="5048211"/>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840" name="Google Shape;840;p37"/>
          <p:cNvCxnSpPr>
            <a:stCxn id="817" idx="6"/>
            <a:endCxn id="831" idx="2"/>
          </p:cNvCxnSpPr>
          <p:nvPr/>
        </p:nvCxnSpPr>
        <p:spPr>
          <a:xfrm>
            <a:off x="2738180" y="4374151"/>
            <a:ext cx="164100" cy="673200"/>
          </a:xfrm>
          <a:prstGeom prst="straightConnector1">
            <a:avLst/>
          </a:prstGeom>
          <a:noFill/>
          <a:ln cap="flat" cmpd="sng" w="28575">
            <a:solidFill>
              <a:srgbClr val="7F7F7F"/>
            </a:solidFill>
            <a:prstDash val="solid"/>
            <a:round/>
            <a:headEnd len="sm" w="sm" type="none"/>
            <a:tailEnd len="sm" w="sm" type="none"/>
          </a:ln>
        </p:spPr>
      </p:cxnSp>
      <p:cxnSp>
        <p:nvCxnSpPr>
          <p:cNvPr id="841" name="Google Shape;841;p37"/>
          <p:cNvCxnSpPr>
            <a:stCxn id="816" idx="6"/>
            <a:endCxn id="831" idx="2"/>
          </p:cNvCxnSpPr>
          <p:nvPr/>
        </p:nvCxnSpPr>
        <p:spPr>
          <a:xfrm flipH="1">
            <a:off x="2902263" y="4374151"/>
            <a:ext cx="226800" cy="673200"/>
          </a:xfrm>
          <a:prstGeom prst="straightConnector1">
            <a:avLst/>
          </a:prstGeom>
          <a:noFill/>
          <a:ln cap="flat" cmpd="sng" w="28575">
            <a:solidFill>
              <a:srgbClr val="7F7F7F"/>
            </a:solidFill>
            <a:prstDash val="solid"/>
            <a:round/>
            <a:headEnd len="sm" w="sm" type="none"/>
            <a:tailEnd len="sm" w="sm" type="none"/>
          </a:ln>
        </p:spPr>
      </p:cxnSp>
      <p:cxnSp>
        <p:nvCxnSpPr>
          <p:cNvPr id="842" name="Google Shape;842;p37"/>
          <p:cNvCxnSpPr>
            <a:stCxn id="815" idx="6"/>
            <a:endCxn id="831" idx="2"/>
          </p:cNvCxnSpPr>
          <p:nvPr/>
        </p:nvCxnSpPr>
        <p:spPr>
          <a:xfrm flipH="1">
            <a:off x="2902228" y="4378853"/>
            <a:ext cx="4350300" cy="668400"/>
          </a:xfrm>
          <a:prstGeom prst="straightConnector1">
            <a:avLst/>
          </a:prstGeom>
          <a:noFill/>
          <a:ln cap="flat" cmpd="sng" w="28575">
            <a:solidFill>
              <a:srgbClr val="7F7F7F"/>
            </a:solidFill>
            <a:prstDash val="solid"/>
            <a:round/>
            <a:headEnd len="sm" w="sm" type="none"/>
            <a:tailEnd len="sm" w="sm" type="none"/>
          </a:ln>
        </p:spPr>
      </p:cxnSp>
      <p:cxnSp>
        <p:nvCxnSpPr>
          <p:cNvPr id="843" name="Google Shape;843;p37"/>
          <p:cNvCxnSpPr>
            <a:stCxn id="816" idx="6"/>
            <a:endCxn id="832" idx="2"/>
          </p:cNvCxnSpPr>
          <p:nvPr/>
        </p:nvCxnSpPr>
        <p:spPr>
          <a:xfrm>
            <a:off x="3129063" y="4374151"/>
            <a:ext cx="398400" cy="677700"/>
          </a:xfrm>
          <a:prstGeom prst="straightConnector1">
            <a:avLst/>
          </a:prstGeom>
          <a:noFill/>
          <a:ln cap="flat" cmpd="sng" w="28575">
            <a:solidFill>
              <a:srgbClr val="7F7F7F"/>
            </a:solidFill>
            <a:prstDash val="solid"/>
            <a:round/>
            <a:headEnd len="sm" w="sm" type="none"/>
            <a:tailEnd len="sm" w="sm" type="none"/>
          </a:ln>
        </p:spPr>
      </p:cxnSp>
      <p:cxnSp>
        <p:nvCxnSpPr>
          <p:cNvPr id="844" name="Google Shape;844;p37"/>
          <p:cNvCxnSpPr>
            <a:stCxn id="817" idx="6"/>
            <a:endCxn id="832" idx="2"/>
          </p:cNvCxnSpPr>
          <p:nvPr/>
        </p:nvCxnSpPr>
        <p:spPr>
          <a:xfrm>
            <a:off x="2738180" y="4374151"/>
            <a:ext cx="789300" cy="677700"/>
          </a:xfrm>
          <a:prstGeom prst="straightConnector1">
            <a:avLst/>
          </a:prstGeom>
          <a:noFill/>
          <a:ln cap="flat" cmpd="sng" w="28575">
            <a:solidFill>
              <a:srgbClr val="7F7F7F"/>
            </a:solidFill>
            <a:prstDash val="solid"/>
            <a:round/>
            <a:headEnd len="sm" w="sm" type="none"/>
            <a:tailEnd len="sm" w="sm" type="none"/>
          </a:ln>
        </p:spPr>
      </p:cxnSp>
      <p:cxnSp>
        <p:nvCxnSpPr>
          <p:cNvPr id="845" name="Google Shape;845;p37"/>
          <p:cNvCxnSpPr>
            <a:stCxn id="815" idx="6"/>
            <a:endCxn id="832" idx="2"/>
          </p:cNvCxnSpPr>
          <p:nvPr/>
        </p:nvCxnSpPr>
        <p:spPr>
          <a:xfrm flipH="1">
            <a:off x="3527428" y="4378853"/>
            <a:ext cx="3725100" cy="672900"/>
          </a:xfrm>
          <a:prstGeom prst="straightConnector1">
            <a:avLst/>
          </a:prstGeom>
          <a:noFill/>
          <a:ln cap="flat" cmpd="sng" w="28575">
            <a:solidFill>
              <a:srgbClr val="7F7F7F"/>
            </a:solidFill>
            <a:prstDash val="solid"/>
            <a:round/>
            <a:headEnd len="sm" w="sm" type="none"/>
            <a:tailEnd len="sm" w="sm" type="none"/>
          </a:ln>
        </p:spPr>
      </p:cxnSp>
      <p:cxnSp>
        <p:nvCxnSpPr>
          <p:cNvPr id="846" name="Google Shape;846;p37"/>
          <p:cNvCxnSpPr>
            <a:stCxn id="817" idx="6"/>
            <a:endCxn id="833" idx="2"/>
          </p:cNvCxnSpPr>
          <p:nvPr/>
        </p:nvCxnSpPr>
        <p:spPr>
          <a:xfrm>
            <a:off x="2738180" y="4374151"/>
            <a:ext cx="1412100" cy="673200"/>
          </a:xfrm>
          <a:prstGeom prst="straightConnector1">
            <a:avLst/>
          </a:prstGeom>
          <a:noFill/>
          <a:ln cap="flat" cmpd="sng" w="28575">
            <a:solidFill>
              <a:srgbClr val="7F7F7F"/>
            </a:solidFill>
            <a:prstDash val="solid"/>
            <a:round/>
            <a:headEnd len="sm" w="sm" type="none"/>
            <a:tailEnd len="sm" w="sm" type="none"/>
          </a:ln>
        </p:spPr>
      </p:cxnSp>
      <p:cxnSp>
        <p:nvCxnSpPr>
          <p:cNvPr id="847" name="Google Shape;847;p37"/>
          <p:cNvCxnSpPr>
            <a:stCxn id="816" idx="6"/>
            <a:endCxn id="833" idx="2"/>
          </p:cNvCxnSpPr>
          <p:nvPr/>
        </p:nvCxnSpPr>
        <p:spPr>
          <a:xfrm>
            <a:off x="3129063" y="4374151"/>
            <a:ext cx="1021200" cy="673200"/>
          </a:xfrm>
          <a:prstGeom prst="straightConnector1">
            <a:avLst/>
          </a:prstGeom>
          <a:noFill/>
          <a:ln cap="flat" cmpd="sng" w="28575">
            <a:solidFill>
              <a:srgbClr val="7F7F7F"/>
            </a:solidFill>
            <a:prstDash val="solid"/>
            <a:round/>
            <a:headEnd len="sm" w="sm" type="none"/>
            <a:tailEnd len="sm" w="sm" type="none"/>
          </a:ln>
        </p:spPr>
      </p:cxnSp>
      <p:cxnSp>
        <p:nvCxnSpPr>
          <p:cNvPr id="848" name="Google Shape;848;p37"/>
          <p:cNvCxnSpPr>
            <a:stCxn id="815" idx="6"/>
            <a:endCxn id="833" idx="2"/>
          </p:cNvCxnSpPr>
          <p:nvPr/>
        </p:nvCxnSpPr>
        <p:spPr>
          <a:xfrm flipH="1">
            <a:off x="4150228" y="4378853"/>
            <a:ext cx="3102300" cy="668400"/>
          </a:xfrm>
          <a:prstGeom prst="straightConnector1">
            <a:avLst/>
          </a:prstGeom>
          <a:noFill/>
          <a:ln cap="flat" cmpd="sng" w="28575">
            <a:solidFill>
              <a:srgbClr val="7F7F7F"/>
            </a:solidFill>
            <a:prstDash val="solid"/>
            <a:round/>
            <a:headEnd len="sm" w="sm" type="none"/>
            <a:tailEnd len="sm" w="sm" type="none"/>
          </a:ln>
        </p:spPr>
      </p:cxnSp>
      <p:cxnSp>
        <p:nvCxnSpPr>
          <p:cNvPr id="849" name="Google Shape;849;p37"/>
          <p:cNvCxnSpPr>
            <a:stCxn id="817" idx="6"/>
            <a:endCxn id="834" idx="2"/>
          </p:cNvCxnSpPr>
          <p:nvPr/>
        </p:nvCxnSpPr>
        <p:spPr>
          <a:xfrm>
            <a:off x="2738180" y="4374151"/>
            <a:ext cx="2063400" cy="677700"/>
          </a:xfrm>
          <a:prstGeom prst="straightConnector1">
            <a:avLst/>
          </a:prstGeom>
          <a:noFill/>
          <a:ln cap="flat" cmpd="sng" w="28575">
            <a:solidFill>
              <a:srgbClr val="7F7F7F"/>
            </a:solidFill>
            <a:prstDash val="solid"/>
            <a:round/>
            <a:headEnd len="sm" w="sm" type="none"/>
            <a:tailEnd len="sm" w="sm" type="none"/>
          </a:ln>
        </p:spPr>
      </p:cxnSp>
      <p:cxnSp>
        <p:nvCxnSpPr>
          <p:cNvPr id="850" name="Google Shape;850;p37"/>
          <p:cNvCxnSpPr>
            <a:stCxn id="816" idx="6"/>
            <a:endCxn id="834" idx="2"/>
          </p:cNvCxnSpPr>
          <p:nvPr/>
        </p:nvCxnSpPr>
        <p:spPr>
          <a:xfrm>
            <a:off x="3129063" y="4374151"/>
            <a:ext cx="1672500" cy="677700"/>
          </a:xfrm>
          <a:prstGeom prst="straightConnector1">
            <a:avLst/>
          </a:prstGeom>
          <a:noFill/>
          <a:ln cap="flat" cmpd="sng" w="28575">
            <a:solidFill>
              <a:srgbClr val="7F7F7F"/>
            </a:solidFill>
            <a:prstDash val="solid"/>
            <a:round/>
            <a:headEnd len="sm" w="sm" type="none"/>
            <a:tailEnd len="sm" w="sm" type="none"/>
          </a:ln>
        </p:spPr>
      </p:cxnSp>
      <p:cxnSp>
        <p:nvCxnSpPr>
          <p:cNvPr id="851" name="Google Shape;851;p37"/>
          <p:cNvCxnSpPr>
            <a:stCxn id="815" idx="6"/>
            <a:endCxn id="834" idx="2"/>
          </p:cNvCxnSpPr>
          <p:nvPr/>
        </p:nvCxnSpPr>
        <p:spPr>
          <a:xfrm flipH="1">
            <a:off x="4801528" y="4378853"/>
            <a:ext cx="2451000" cy="672900"/>
          </a:xfrm>
          <a:prstGeom prst="straightConnector1">
            <a:avLst/>
          </a:prstGeom>
          <a:noFill/>
          <a:ln cap="flat" cmpd="sng" w="28575">
            <a:solidFill>
              <a:srgbClr val="7F7F7F"/>
            </a:solidFill>
            <a:prstDash val="solid"/>
            <a:round/>
            <a:headEnd len="sm" w="sm" type="none"/>
            <a:tailEnd len="sm" w="sm" type="none"/>
          </a:ln>
        </p:spPr>
      </p:cxnSp>
      <p:cxnSp>
        <p:nvCxnSpPr>
          <p:cNvPr id="852" name="Google Shape;852;p37"/>
          <p:cNvCxnSpPr>
            <a:stCxn id="816" idx="6"/>
            <a:endCxn id="835" idx="2"/>
          </p:cNvCxnSpPr>
          <p:nvPr/>
        </p:nvCxnSpPr>
        <p:spPr>
          <a:xfrm>
            <a:off x="3129063" y="4374151"/>
            <a:ext cx="2295300" cy="673200"/>
          </a:xfrm>
          <a:prstGeom prst="straightConnector1">
            <a:avLst/>
          </a:prstGeom>
          <a:noFill/>
          <a:ln cap="flat" cmpd="sng" w="28575">
            <a:solidFill>
              <a:srgbClr val="7F7F7F"/>
            </a:solidFill>
            <a:prstDash val="solid"/>
            <a:round/>
            <a:headEnd len="sm" w="sm" type="none"/>
            <a:tailEnd len="sm" w="sm" type="none"/>
          </a:ln>
        </p:spPr>
      </p:cxnSp>
      <p:cxnSp>
        <p:nvCxnSpPr>
          <p:cNvPr id="853" name="Google Shape;853;p37"/>
          <p:cNvCxnSpPr>
            <a:stCxn id="817" idx="6"/>
            <a:endCxn id="835" idx="2"/>
          </p:cNvCxnSpPr>
          <p:nvPr/>
        </p:nvCxnSpPr>
        <p:spPr>
          <a:xfrm>
            <a:off x="2738180" y="4374151"/>
            <a:ext cx="2686200" cy="673200"/>
          </a:xfrm>
          <a:prstGeom prst="straightConnector1">
            <a:avLst/>
          </a:prstGeom>
          <a:noFill/>
          <a:ln cap="flat" cmpd="sng" w="28575">
            <a:solidFill>
              <a:srgbClr val="7F7F7F"/>
            </a:solidFill>
            <a:prstDash val="solid"/>
            <a:round/>
            <a:headEnd len="sm" w="sm" type="none"/>
            <a:tailEnd len="sm" w="sm" type="none"/>
          </a:ln>
        </p:spPr>
      </p:cxnSp>
      <p:cxnSp>
        <p:nvCxnSpPr>
          <p:cNvPr id="854" name="Google Shape;854;p37"/>
          <p:cNvCxnSpPr>
            <a:stCxn id="815" idx="6"/>
            <a:endCxn id="835" idx="2"/>
          </p:cNvCxnSpPr>
          <p:nvPr/>
        </p:nvCxnSpPr>
        <p:spPr>
          <a:xfrm flipH="1">
            <a:off x="5424328" y="4378853"/>
            <a:ext cx="1828200" cy="668400"/>
          </a:xfrm>
          <a:prstGeom prst="straightConnector1">
            <a:avLst/>
          </a:prstGeom>
          <a:noFill/>
          <a:ln cap="flat" cmpd="sng" w="28575">
            <a:solidFill>
              <a:srgbClr val="7F7F7F"/>
            </a:solidFill>
            <a:prstDash val="solid"/>
            <a:round/>
            <a:headEnd len="sm" w="sm" type="none"/>
            <a:tailEnd len="sm" w="sm" type="none"/>
          </a:ln>
        </p:spPr>
      </p:cxnSp>
      <p:cxnSp>
        <p:nvCxnSpPr>
          <p:cNvPr id="855" name="Google Shape;855;p37"/>
          <p:cNvCxnSpPr>
            <a:stCxn id="817" idx="6"/>
            <a:endCxn id="836" idx="2"/>
          </p:cNvCxnSpPr>
          <p:nvPr/>
        </p:nvCxnSpPr>
        <p:spPr>
          <a:xfrm>
            <a:off x="2738180" y="4374151"/>
            <a:ext cx="3308100" cy="686100"/>
          </a:xfrm>
          <a:prstGeom prst="straightConnector1">
            <a:avLst/>
          </a:prstGeom>
          <a:noFill/>
          <a:ln cap="flat" cmpd="sng" w="28575">
            <a:solidFill>
              <a:srgbClr val="7F7F7F"/>
            </a:solidFill>
            <a:prstDash val="solid"/>
            <a:round/>
            <a:headEnd len="sm" w="sm" type="none"/>
            <a:tailEnd len="sm" w="sm" type="none"/>
          </a:ln>
        </p:spPr>
      </p:cxnSp>
      <p:cxnSp>
        <p:nvCxnSpPr>
          <p:cNvPr id="856" name="Google Shape;856;p37"/>
          <p:cNvCxnSpPr>
            <a:stCxn id="816" idx="6"/>
            <a:endCxn id="836" idx="2"/>
          </p:cNvCxnSpPr>
          <p:nvPr/>
        </p:nvCxnSpPr>
        <p:spPr>
          <a:xfrm>
            <a:off x="3129063" y="4374151"/>
            <a:ext cx="2917200" cy="686100"/>
          </a:xfrm>
          <a:prstGeom prst="straightConnector1">
            <a:avLst/>
          </a:prstGeom>
          <a:noFill/>
          <a:ln cap="flat" cmpd="sng" w="28575">
            <a:solidFill>
              <a:srgbClr val="7F7F7F"/>
            </a:solidFill>
            <a:prstDash val="solid"/>
            <a:round/>
            <a:headEnd len="sm" w="sm" type="none"/>
            <a:tailEnd len="sm" w="sm" type="none"/>
          </a:ln>
        </p:spPr>
      </p:cxnSp>
      <p:cxnSp>
        <p:nvCxnSpPr>
          <p:cNvPr id="857" name="Google Shape;857;p37"/>
          <p:cNvCxnSpPr>
            <a:stCxn id="815" idx="6"/>
            <a:endCxn id="836" idx="2"/>
          </p:cNvCxnSpPr>
          <p:nvPr/>
        </p:nvCxnSpPr>
        <p:spPr>
          <a:xfrm flipH="1">
            <a:off x="6046228" y="4378853"/>
            <a:ext cx="1206300" cy="681600"/>
          </a:xfrm>
          <a:prstGeom prst="straightConnector1">
            <a:avLst/>
          </a:prstGeom>
          <a:noFill/>
          <a:ln cap="flat" cmpd="sng" w="28575">
            <a:solidFill>
              <a:srgbClr val="7F7F7F"/>
            </a:solidFill>
            <a:prstDash val="solid"/>
            <a:round/>
            <a:headEnd len="sm" w="sm" type="none"/>
            <a:tailEnd len="sm" w="sm" type="none"/>
          </a:ln>
        </p:spPr>
      </p:cxnSp>
      <p:cxnSp>
        <p:nvCxnSpPr>
          <p:cNvPr id="858" name="Google Shape;858;p37"/>
          <p:cNvCxnSpPr>
            <a:stCxn id="817" idx="6"/>
            <a:endCxn id="837" idx="2"/>
          </p:cNvCxnSpPr>
          <p:nvPr/>
        </p:nvCxnSpPr>
        <p:spPr>
          <a:xfrm>
            <a:off x="2738180" y="4374151"/>
            <a:ext cx="3930900" cy="681600"/>
          </a:xfrm>
          <a:prstGeom prst="straightConnector1">
            <a:avLst/>
          </a:prstGeom>
          <a:noFill/>
          <a:ln cap="flat" cmpd="sng" w="28575">
            <a:solidFill>
              <a:srgbClr val="7F7F7F"/>
            </a:solidFill>
            <a:prstDash val="solid"/>
            <a:round/>
            <a:headEnd len="sm" w="sm" type="none"/>
            <a:tailEnd len="sm" w="sm" type="none"/>
          </a:ln>
        </p:spPr>
      </p:cxnSp>
      <p:cxnSp>
        <p:nvCxnSpPr>
          <p:cNvPr id="859" name="Google Shape;859;p37"/>
          <p:cNvCxnSpPr>
            <a:stCxn id="816" idx="6"/>
            <a:endCxn id="837" idx="2"/>
          </p:cNvCxnSpPr>
          <p:nvPr/>
        </p:nvCxnSpPr>
        <p:spPr>
          <a:xfrm>
            <a:off x="3129063" y="4374151"/>
            <a:ext cx="3540300" cy="681600"/>
          </a:xfrm>
          <a:prstGeom prst="straightConnector1">
            <a:avLst/>
          </a:prstGeom>
          <a:noFill/>
          <a:ln cap="flat" cmpd="sng" w="28575">
            <a:solidFill>
              <a:srgbClr val="7F7F7F"/>
            </a:solidFill>
            <a:prstDash val="solid"/>
            <a:round/>
            <a:headEnd len="sm" w="sm" type="none"/>
            <a:tailEnd len="sm" w="sm" type="none"/>
          </a:ln>
        </p:spPr>
      </p:cxnSp>
      <p:cxnSp>
        <p:nvCxnSpPr>
          <p:cNvPr id="860" name="Google Shape;860;p37"/>
          <p:cNvCxnSpPr>
            <a:stCxn id="815" idx="6"/>
            <a:endCxn id="837" idx="2"/>
          </p:cNvCxnSpPr>
          <p:nvPr/>
        </p:nvCxnSpPr>
        <p:spPr>
          <a:xfrm flipH="1">
            <a:off x="6669328" y="4378853"/>
            <a:ext cx="583200" cy="676800"/>
          </a:xfrm>
          <a:prstGeom prst="straightConnector1">
            <a:avLst/>
          </a:prstGeom>
          <a:noFill/>
          <a:ln cap="flat" cmpd="sng" w="28575">
            <a:solidFill>
              <a:srgbClr val="7F7F7F"/>
            </a:solidFill>
            <a:prstDash val="solid"/>
            <a:round/>
            <a:headEnd len="sm" w="sm" type="none"/>
            <a:tailEnd len="sm" w="sm" type="none"/>
          </a:ln>
        </p:spPr>
      </p:cxnSp>
      <p:cxnSp>
        <p:nvCxnSpPr>
          <p:cNvPr id="861" name="Google Shape;861;p37"/>
          <p:cNvCxnSpPr>
            <a:stCxn id="817" idx="6"/>
            <a:endCxn id="838" idx="2"/>
          </p:cNvCxnSpPr>
          <p:nvPr/>
        </p:nvCxnSpPr>
        <p:spPr>
          <a:xfrm>
            <a:off x="2738180" y="4374151"/>
            <a:ext cx="4552800" cy="677700"/>
          </a:xfrm>
          <a:prstGeom prst="straightConnector1">
            <a:avLst/>
          </a:prstGeom>
          <a:noFill/>
          <a:ln cap="flat" cmpd="sng" w="28575">
            <a:solidFill>
              <a:srgbClr val="7F7F7F"/>
            </a:solidFill>
            <a:prstDash val="solid"/>
            <a:round/>
            <a:headEnd len="sm" w="sm" type="none"/>
            <a:tailEnd len="sm" w="sm" type="none"/>
          </a:ln>
        </p:spPr>
      </p:cxnSp>
      <p:cxnSp>
        <p:nvCxnSpPr>
          <p:cNvPr id="862" name="Google Shape;862;p37"/>
          <p:cNvCxnSpPr>
            <a:stCxn id="816" idx="6"/>
            <a:endCxn id="838" idx="2"/>
          </p:cNvCxnSpPr>
          <p:nvPr/>
        </p:nvCxnSpPr>
        <p:spPr>
          <a:xfrm>
            <a:off x="3129063" y="4374151"/>
            <a:ext cx="4162200" cy="677700"/>
          </a:xfrm>
          <a:prstGeom prst="straightConnector1">
            <a:avLst/>
          </a:prstGeom>
          <a:noFill/>
          <a:ln cap="flat" cmpd="sng" w="28575">
            <a:solidFill>
              <a:srgbClr val="7F7F7F"/>
            </a:solidFill>
            <a:prstDash val="solid"/>
            <a:round/>
            <a:headEnd len="sm" w="sm" type="none"/>
            <a:tailEnd len="sm" w="sm" type="none"/>
          </a:ln>
        </p:spPr>
      </p:cxnSp>
      <p:cxnSp>
        <p:nvCxnSpPr>
          <p:cNvPr id="863" name="Google Shape;863;p37"/>
          <p:cNvCxnSpPr>
            <a:stCxn id="815" idx="6"/>
            <a:endCxn id="838" idx="2"/>
          </p:cNvCxnSpPr>
          <p:nvPr/>
        </p:nvCxnSpPr>
        <p:spPr>
          <a:xfrm>
            <a:off x="7252528" y="4378853"/>
            <a:ext cx="38700" cy="672900"/>
          </a:xfrm>
          <a:prstGeom prst="straightConnector1">
            <a:avLst/>
          </a:prstGeom>
          <a:noFill/>
          <a:ln cap="flat" cmpd="sng" w="28575">
            <a:solidFill>
              <a:srgbClr val="7F7F7F"/>
            </a:solidFill>
            <a:prstDash val="solid"/>
            <a:round/>
            <a:headEnd len="sm" w="sm" type="none"/>
            <a:tailEnd len="sm" w="sm" type="none"/>
          </a:ln>
        </p:spPr>
      </p:cxnSp>
      <p:cxnSp>
        <p:nvCxnSpPr>
          <p:cNvPr id="864" name="Google Shape;864;p37"/>
          <p:cNvCxnSpPr>
            <a:stCxn id="817" idx="6"/>
            <a:endCxn id="839" idx="2"/>
          </p:cNvCxnSpPr>
          <p:nvPr/>
        </p:nvCxnSpPr>
        <p:spPr>
          <a:xfrm>
            <a:off x="2738180" y="4374151"/>
            <a:ext cx="5175900" cy="673200"/>
          </a:xfrm>
          <a:prstGeom prst="straightConnector1">
            <a:avLst/>
          </a:prstGeom>
          <a:noFill/>
          <a:ln cap="flat" cmpd="sng" w="28575">
            <a:solidFill>
              <a:srgbClr val="7F7F7F"/>
            </a:solidFill>
            <a:prstDash val="solid"/>
            <a:round/>
            <a:headEnd len="sm" w="sm" type="none"/>
            <a:tailEnd len="sm" w="sm" type="none"/>
          </a:ln>
        </p:spPr>
      </p:cxnSp>
      <p:cxnSp>
        <p:nvCxnSpPr>
          <p:cNvPr id="865" name="Google Shape;865;p37"/>
          <p:cNvCxnSpPr>
            <a:stCxn id="816" idx="6"/>
            <a:endCxn id="839" idx="2"/>
          </p:cNvCxnSpPr>
          <p:nvPr/>
        </p:nvCxnSpPr>
        <p:spPr>
          <a:xfrm>
            <a:off x="3129063" y="4374151"/>
            <a:ext cx="4785000" cy="673200"/>
          </a:xfrm>
          <a:prstGeom prst="straightConnector1">
            <a:avLst/>
          </a:prstGeom>
          <a:noFill/>
          <a:ln cap="flat" cmpd="sng" w="28575">
            <a:solidFill>
              <a:srgbClr val="7F7F7F"/>
            </a:solidFill>
            <a:prstDash val="solid"/>
            <a:round/>
            <a:headEnd len="sm" w="sm" type="none"/>
            <a:tailEnd len="sm" w="sm" type="none"/>
          </a:ln>
        </p:spPr>
      </p:cxnSp>
      <p:cxnSp>
        <p:nvCxnSpPr>
          <p:cNvPr id="866" name="Google Shape;866;p37"/>
          <p:cNvCxnSpPr>
            <a:stCxn id="815" idx="6"/>
            <a:endCxn id="839" idx="2"/>
          </p:cNvCxnSpPr>
          <p:nvPr/>
        </p:nvCxnSpPr>
        <p:spPr>
          <a:xfrm>
            <a:off x="7252528" y="4378853"/>
            <a:ext cx="661500" cy="668400"/>
          </a:xfrm>
          <a:prstGeom prst="straightConnector1">
            <a:avLst/>
          </a:prstGeom>
          <a:noFill/>
          <a:ln cap="flat" cmpd="sng" w="28575">
            <a:solidFill>
              <a:srgbClr val="7F7F7F"/>
            </a:solidFill>
            <a:prstDash val="solid"/>
            <a:round/>
            <a:headEnd len="sm" w="sm" type="none"/>
            <a:tailEnd len="sm" w="sm" type="none"/>
          </a:ln>
        </p:spPr>
      </p:cxnSp>
      <p:pic>
        <p:nvPicPr>
          <p:cNvPr descr="A picture containing drawing  Description automatically generated" id="867" name="Google Shape;867;p37"/>
          <p:cNvPicPr preferRelativeResize="0"/>
          <p:nvPr/>
        </p:nvPicPr>
        <p:blipFill rotWithShape="1">
          <a:blip r:embed="rId3">
            <a:alphaModFix/>
          </a:blip>
          <a:srcRect b="0" l="0" r="0" t="0"/>
          <a:stretch/>
        </p:blipFill>
        <p:spPr>
          <a:xfrm>
            <a:off x="2910132" y="1745394"/>
            <a:ext cx="786731" cy="786731"/>
          </a:xfrm>
          <a:prstGeom prst="rect">
            <a:avLst/>
          </a:prstGeom>
          <a:noFill/>
          <a:ln>
            <a:noFill/>
          </a:ln>
        </p:spPr>
      </p:pic>
      <p:cxnSp>
        <p:nvCxnSpPr>
          <p:cNvPr id="868" name="Google Shape;868;p37"/>
          <p:cNvCxnSpPr/>
          <p:nvPr/>
        </p:nvCxnSpPr>
        <p:spPr>
          <a:xfrm>
            <a:off x="3777845" y="2161555"/>
            <a:ext cx="534433" cy="0"/>
          </a:xfrm>
          <a:prstGeom prst="straightConnector1">
            <a:avLst/>
          </a:prstGeom>
          <a:noFill/>
          <a:ln cap="flat" cmpd="sng" w="57150">
            <a:solidFill>
              <a:schemeClr val="accent4"/>
            </a:solidFill>
            <a:prstDash val="solid"/>
            <a:round/>
            <a:headEnd len="sm" w="sm" type="none"/>
            <a:tailEnd len="med" w="med" type="triangle"/>
          </a:ln>
        </p:spPr>
      </p:cxnSp>
      <p:sp>
        <p:nvSpPr>
          <p:cNvPr id="869" name="Google Shape;869;p37"/>
          <p:cNvSpPr txBox="1"/>
          <p:nvPr/>
        </p:nvSpPr>
        <p:spPr>
          <a:xfrm>
            <a:off x="4250852" y="1979511"/>
            <a:ext cx="1795449"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[ 0, 0, …, 0]</a:t>
            </a:r>
            <a:endParaRPr b="0" i="0" sz="2200" u="none" cap="none" strike="noStrike">
              <a:solidFill>
                <a:schemeClr val="dk2"/>
              </a:solidFill>
              <a:latin typeface="Open Sans"/>
              <a:ea typeface="Noto Sans SC"/>
              <a:cs typeface="Open Sans"/>
              <a:sym typeface="Open Sans"/>
            </a:endParaRPr>
          </a:p>
        </p:txBody>
      </p:sp>
      <p:cxnSp>
        <p:nvCxnSpPr>
          <p:cNvPr id="870" name="Google Shape;870;p37"/>
          <p:cNvCxnSpPr>
            <a:endCxn id="814" idx="2"/>
          </p:cNvCxnSpPr>
          <p:nvPr/>
        </p:nvCxnSpPr>
        <p:spPr>
          <a:xfrm flipH="1">
            <a:off x="2738180" y="2407123"/>
            <a:ext cx="1901400" cy="826200"/>
          </a:xfrm>
          <a:prstGeom prst="straightConnector1">
            <a:avLst/>
          </a:prstGeom>
          <a:noFill/>
          <a:ln cap="flat" cmpd="sng" w="28575">
            <a:solidFill>
              <a:srgbClr val="7F7F7F"/>
            </a:solidFill>
            <a:prstDash val="solid"/>
            <a:round/>
            <a:headEnd len="sm" w="sm" type="none"/>
            <a:tailEnd len="sm" w="sm" type="none"/>
          </a:ln>
        </p:spPr>
      </p:cxnSp>
      <p:cxnSp>
        <p:nvCxnSpPr>
          <p:cNvPr id="871" name="Google Shape;871;p37"/>
          <p:cNvCxnSpPr>
            <a:endCxn id="813" idx="2"/>
          </p:cNvCxnSpPr>
          <p:nvPr/>
        </p:nvCxnSpPr>
        <p:spPr>
          <a:xfrm flipH="1">
            <a:off x="3129063" y="2407123"/>
            <a:ext cx="1510500" cy="826200"/>
          </a:xfrm>
          <a:prstGeom prst="straightConnector1">
            <a:avLst/>
          </a:prstGeom>
          <a:noFill/>
          <a:ln cap="flat" cmpd="sng" w="28575">
            <a:solidFill>
              <a:srgbClr val="7F7F7F"/>
            </a:solidFill>
            <a:prstDash val="solid"/>
            <a:round/>
            <a:headEnd len="sm" w="sm" type="none"/>
            <a:tailEnd len="sm" w="sm" type="none"/>
          </a:ln>
        </p:spPr>
      </p:cxnSp>
      <p:cxnSp>
        <p:nvCxnSpPr>
          <p:cNvPr id="872" name="Google Shape;872;p37"/>
          <p:cNvCxnSpPr>
            <a:endCxn id="812" idx="2"/>
          </p:cNvCxnSpPr>
          <p:nvPr/>
        </p:nvCxnSpPr>
        <p:spPr>
          <a:xfrm>
            <a:off x="4639528" y="2407025"/>
            <a:ext cx="2613000" cy="831000"/>
          </a:xfrm>
          <a:prstGeom prst="straightConnector1">
            <a:avLst/>
          </a:prstGeom>
          <a:noFill/>
          <a:ln cap="flat" cmpd="sng" w="28575">
            <a:solidFill>
              <a:srgbClr val="7F7F7F"/>
            </a:solidFill>
            <a:prstDash val="solid"/>
            <a:round/>
            <a:headEnd len="sm" w="sm" type="none"/>
            <a:tailEnd len="sm" w="sm" type="none"/>
          </a:ln>
        </p:spPr>
      </p:cxnSp>
      <p:sp>
        <p:nvSpPr>
          <p:cNvPr id="873" name="Google Shape;873;p37"/>
          <p:cNvSpPr txBox="1"/>
          <p:nvPr/>
        </p:nvSpPr>
        <p:spPr>
          <a:xfrm>
            <a:off x="3282258" y="3974720"/>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sp>
        <p:nvSpPr>
          <p:cNvPr id="874" name="Google Shape;874;p37"/>
          <p:cNvSpPr txBox="1"/>
          <p:nvPr/>
        </p:nvSpPr>
        <p:spPr>
          <a:xfrm>
            <a:off x="3282258" y="3130891"/>
            <a:ext cx="3817074"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                 …</a:t>
            </a:r>
            <a:endParaRPr b="0" i="0" sz="2200" u="none" cap="none" strike="noStrike">
              <a:solidFill>
                <a:schemeClr val="dk2"/>
              </a:solidFill>
              <a:latin typeface="Open Sans"/>
              <a:ea typeface="Noto Sans SC"/>
              <a:cs typeface="Open Sans"/>
              <a:sym typeface="Open Sans"/>
            </a:endParaRPr>
          </a:p>
        </p:txBody>
      </p:sp>
      <p:cxnSp>
        <p:nvCxnSpPr>
          <p:cNvPr id="875" name="Google Shape;875;p37"/>
          <p:cNvCxnSpPr>
            <a:endCxn id="814" idx="2"/>
          </p:cNvCxnSpPr>
          <p:nvPr/>
        </p:nvCxnSpPr>
        <p:spPr>
          <a:xfrm flipH="1">
            <a:off x="2738180" y="2415223"/>
            <a:ext cx="2216400" cy="818100"/>
          </a:xfrm>
          <a:prstGeom prst="straightConnector1">
            <a:avLst/>
          </a:prstGeom>
          <a:noFill/>
          <a:ln cap="flat" cmpd="sng" w="28575">
            <a:solidFill>
              <a:srgbClr val="7F7F7F"/>
            </a:solidFill>
            <a:prstDash val="solid"/>
            <a:round/>
            <a:headEnd len="sm" w="sm" type="none"/>
            <a:tailEnd len="sm" w="sm" type="none"/>
          </a:ln>
        </p:spPr>
      </p:cxnSp>
      <p:cxnSp>
        <p:nvCxnSpPr>
          <p:cNvPr id="876" name="Google Shape;876;p37"/>
          <p:cNvCxnSpPr>
            <a:endCxn id="813" idx="2"/>
          </p:cNvCxnSpPr>
          <p:nvPr/>
        </p:nvCxnSpPr>
        <p:spPr>
          <a:xfrm flipH="1">
            <a:off x="3129063" y="2415223"/>
            <a:ext cx="1834500" cy="818100"/>
          </a:xfrm>
          <a:prstGeom prst="straightConnector1">
            <a:avLst/>
          </a:prstGeom>
          <a:noFill/>
          <a:ln cap="flat" cmpd="sng" w="28575">
            <a:solidFill>
              <a:srgbClr val="7F7F7F"/>
            </a:solidFill>
            <a:prstDash val="solid"/>
            <a:round/>
            <a:headEnd len="sm" w="sm" type="none"/>
            <a:tailEnd len="sm" w="sm" type="none"/>
          </a:ln>
        </p:spPr>
      </p:cxnSp>
      <p:cxnSp>
        <p:nvCxnSpPr>
          <p:cNvPr id="877" name="Google Shape;877;p37"/>
          <p:cNvCxnSpPr>
            <a:endCxn id="812" idx="2"/>
          </p:cNvCxnSpPr>
          <p:nvPr/>
        </p:nvCxnSpPr>
        <p:spPr>
          <a:xfrm>
            <a:off x="4954528" y="2415125"/>
            <a:ext cx="2298000" cy="822900"/>
          </a:xfrm>
          <a:prstGeom prst="straightConnector1">
            <a:avLst/>
          </a:prstGeom>
          <a:noFill/>
          <a:ln cap="flat" cmpd="sng" w="28575">
            <a:solidFill>
              <a:srgbClr val="7F7F7F"/>
            </a:solidFill>
            <a:prstDash val="solid"/>
            <a:round/>
            <a:headEnd len="sm" w="sm" type="none"/>
            <a:tailEnd len="sm" w="sm" type="none"/>
          </a:ln>
        </p:spPr>
      </p:cxnSp>
      <p:cxnSp>
        <p:nvCxnSpPr>
          <p:cNvPr id="878" name="Google Shape;878;p37"/>
          <p:cNvCxnSpPr>
            <a:endCxn id="814" idx="2"/>
          </p:cNvCxnSpPr>
          <p:nvPr/>
        </p:nvCxnSpPr>
        <p:spPr>
          <a:xfrm flipH="1">
            <a:off x="2738180" y="2415223"/>
            <a:ext cx="2979300" cy="818100"/>
          </a:xfrm>
          <a:prstGeom prst="straightConnector1">
            <a:avLst/>
          </a:prstGeom>
          <a:noFill/>
          <a:ln cap="flat" cmpd="sng" w="28575">
            <a:solidFill>
              <a:srgbClr val="7F7F7F"/>
            </a:solidFill>
            <a:prstDash val="solid"/>
            <a:round/>
            <a:headEnd len="sm" w="sm" type="none"/>
            <a:tailEnd len="sm" w="sm" type="none"/>
          </a:ln>
        </p:spPr>
      </p:cxnSp>
      <p:cxnSp>
        <p:nvCxnSpPr>
          <p:cNvPr id="879" name="Google Shape;879;p37"/>
          <p:cNvCxnSpPr>
            <a:endCxn id="813" idx="2"/>
          </p:cNvCxnSpPr>
          <p:nvPr/>
        </p:nvCxnSpPr>
        <p:spPr>
          <a:xfrm flipH="1">
            <a:off x="3129063" y="2415223"/>
            <a:ext cx="2588400" cy="818100"/>
          </a:xfrm>
          <a:prstGeom prst="straightConnector1">
            <a:avLst/>
          </a:prstGeom>
          <a:noFill/>
          <a:ln cap="flat" cmpd="sng" w="28575">
            <a:solidFill>
              <a:srgbClr val="7F7F7F"/>
            </a:solidFill>
            <a:prstDash val="solid"/>
            <a:round/>
            <a:headEnd len="sm" w="sm" type="none"/>
            <a:tailEnd len="sm" w="sm" type="none"/>
          </a:ln>
        </p:spPr>
      </p:cxnSp>
      <p:cxnSp>
        <p:nvCxnSpPr>
          <p:cNvPr id="880" name="Google Shape;880;p37"/>
          <p:cNvCxnSpPr>
            <a:endCxn id="812" idx="2"/>
          </p:cNvCxnSpPr>
          <p:nvPr/>
        </p:nvCxnSpPr>
        <p:spPr>
          <a:xfrm>
            <a:off x="5717428" y="2415125"/>
            <a:ext cx="1535100" cy="822900"/>
          </a:xfrm>
          <a:prstGeom prst="straightConnector1">
            <a:avLst/>
          </a:prstGeom>
          <a:noFill/>
          <a:ln cap="flat" cmpd="sng" w="28575">
            <a:solidFill>
              <a:srgbClr val="7F7F7F"/>
            </a:solidFill>
            <a:prstDash val="solid"/>
            <a:round/>
            <a:headEnd len="sm" w="sm" type="none"/>
            <a:tailEnd len="sm" w="sm" type="none"/>
          </a:ln>
        </p:spPr>
      </p:cxnSp>
      <p:sp>
        <p:nvSpPr>
          <p:cNvPr id="881" name="Google Shape;881;p37"/>
          <p:cNvSpPr txBox="1"/>
          <p:nvPr/>
        </p:nvSpPr>
        <p:spPr>
          <a:xfrm>
            <a:off x="8232484" y="1986425"/>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(784,)</a:t>
            </a:r>
            <a:endParaRPr b="0" i="0" sz="1800" u="none" cap="none" strike="noStrike">
              <a:solidFill>
                <a:schemeClr val="dk2"/>
              </a:solidFill>
              <a:latin typeface="Open Sans"/>
              <a:ea typeface="Noto Sans SC"/>
              <a:cs typeface="Open Sans"/>
              <a:sym typeface="Open Sans"/>
            </a:endParaRPr>
          </a:p>
        </p:txBody>
      </p:sp>
      <p:sp>
        <p:nvSpPr>
          <p:cNvPr id="882" name="Google Shape;882;p37"/>
          <p:cNvSpPr txBox="1"/>
          <p:nvPr/>
        </p:nvSpPr>
        <p:spPr>
          <a:xfrm>
            <a:off x="8232484" y="3154257"/>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883" name="Google Shape;883;p37"/>
          <p:cNvSpPr txBox="1"/>
          <p:nvPr/>
        </p:nvSpPr>
        <p:spPr>
          <a:xfrm>
            <a:off x="8232484" y="4054293"/>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(512,)</a:t>
            </a:r>
            <a:endParaRPr b="0" i="0" sz="1800" u="none" cap="none" strike="noStrike">
              <a:solidFill>
                <a:schemeClr val="dk2"/>
              </a:solidFill>
              <a:latin typeface="Open Sans"/>
              <a:ea typeface="Noto Sans SC"/>
              <a:cs typeface="Open Sans"/>
              <a:sym typeface="Open Sans"/>
            </a:endParaRPr>
          </a:p>
        </p:txBody>
      </p:sp>
      <p:sp>
        <p:nvSpPr>
          <p:cNvPr id="884" name="Google Shape;884;p37"/>
          <p:cNvSpPr txBox="1"/>
          <p:nvPr/>
        </p:nvSpPr>
        <p:spPr>
          <a:xfrm>
            <a:off x="8232484" y="5027186"/>
            <a:ext cx="982792"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(10,)</a:t>
            </a:r>
            <a:endParaRPr b="0" i="0" sz="1800" u="none" cap="none" strike="noStrike">
              <a:solidFill>
                <a:schemeClr val="dk2"/>
              </a:solidFill>
              <a:latin typeface="Open Sans"/>
              <a:ea typeface="Noto Sans SC"/>
              <a:cs typeface="Open Sans"/>
              <a:sym typeface="Open Sans"/>
            </a:endParaRPr>
          </a:p>
        </p:txBody>
      </p:sp>
      <p:sp>
        <p:nvSpPr>
          <p:cNvPr id="885" name="Google Shape;885;p37"/>
          <p:cNvSpPr/>
          <p:nvPr/>
        </p:nvSpPr>
        <p:spPr>
          <a:xfrm>
            <a:off x="9215276" y="2157241"/>
            <a:ext cx="150690" cy="3052934"/>
          </a:xfrm>
          <a:prstGeom prst="rightBrace">
            <a:avLst>
              <a:gd fmla="val 8333" name="adj1"/>
              <a:gd fmla="val 50000" name="adj2"/>
            </a:avLst>
          </a:prstGeom>
          <a:no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886" name="Google Shape;886;p37"/>
          <p:cNvSpPr txBox="1"/>
          <p:nvPr/>
        </p:nvSpPr>
        <p:spPr>
          <a:xfrm>
            <a:off x="1361258" y="3224970"/>
            <a:ext cx="958509" cy="424732"/>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Open Sans"/>
              <a:buNone/>
            </a:pPr>
            <a:r>
              <a:rPr b="0" i="0" lang="en-US" sz="2400" u="none" cap="none" strike="noStrike">
                <a:solidFill>
                  <a:schemeClr val="lt1"/>
                </a:solidFill>
                <a:latin typeface="Open Sans"/>
                <a:ea typeface="Noto Sans SC"/>
                <a:cs typeface="Open Sans"/>
                <a:sym typeface="Open Sans"/>
              </a:rPr>
              <a:t>ReLU</a:t>
            </a:r>
            <a:endParaRPr b="0" i="0" sz="2400" u="none" cap="none" strike="noStrike">
              <a:solidFill>
                <a:schemeClr val="lt1"/>
              </a:solidFill>
              <a:latin typeface="Open Sans"/>
              <a:ea typeface="Noto Sans SC"/>
              <a:cs typeface="Open Sans"/>
              <a:sym typeface="Open Sans"/>
            </a:endParaRPr>
          </a:p>
        </p:txBody>
      </p:sp>
      <p:sp>
        <p:nvSpPr>
          <p:cNvPr id="887" name="Google Shape;887;p37"/>
          <p:cNvSpPr txBox="1"/>
          <p:nvPr/>
        </p:nvSpPr>
        <p:spPr>
          <a:xfrm>
            <a:off x="500729" y="5014334"/>
            <a:ext cx="1361282" cy="424732"/>
          </a:xfrm>
          <a:prstGeom prst="rect">
            <a:avLst/>
          </a:prstGeom>
          <a:solidFill>
            <a:srgbClr val="733110"/>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Open Sans"/>
              <a:buNone/>
            </a:pPr>
            <a:r>
              <a:rPr b="0" i="0" lang="en-US" sz="2400" u="none" cap="none" strike="noStrike">
                <a:solidFill>
                  <a:schemeClr val="lt1"/>
                </a:solidFill>
                <a:latin typeface="Open Sans"/>
                <a:ea typeface="Noto Sans SC"/>
                <a:cs typeface="Open Sans"/>
                <a:sym typeface="Open Sans"/>
              </a:rPr>
              <a:t>Softmax</a:t>
            </a:r>
            <a:endParaRPr b="0" i="0" sz="2400" u="none" cap="none" strike="noStrike">
              <a:solidFill>
                <a:schemeClr val="lt1"/>
              </a:solidFill>
              <a:latin typeface="Open Sans"/>
              <a:ea typeface="Noto Sans SC"/>
              <a:cs typeface="Open Sans"/>
              <a:sym typeface="Open Sans"/>
            </a:endParaRPr>
          </a:p>
        </p:txBody>
      </p:sp>
      <p:sp>
        <p:nvSpPr>
          <p:cNvPr id="888" name="Google Shape;888;p37"/>
          <p:cNvSpPr txBox="1"/>
          <p:nvPr/>
        </p:nvSpPr>
        <p:spPr>
          <a:xfrm>
            <a:off x="9522449" y="3264894"/>
            <a:ext cx="1025512" cy="830997"/>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层</a:t>
            </a:r>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chemeClr val="lt1"/>
                </a:solidFill>
                <a:latin typeface="Noto Sans SC"/>
                <a:ea typeface="Noto Sans SC"/>
                <a:cs typeface="Open Sans"/>
                <a:sym typeface="Open Sans"/>
              </a:rPr>
              <a:t>大小</a:t>
            </a:r>
            <a:endParaRPr b="0" i="0" sz="2400" u="none" cap="none" strike="noStrike">
              <a:solidFill>
                <a:schemeClr val="lt1"/>
              </a:solidFill>
              <a:latin typeface="Open Sans"/>
              <a:ea typeface="Noto Sans SC"/>
              <a:cs typeface="Open Sans"/>
              <a:sym typeface="Open Sans"/>
            </a:endParaRPr>
          </a:p>
        </p:txBody>
      </p:sp>
      <p:sp>
        <p:nvSpPr>
          <p:cNvPr id="889" name="Google Shape;889;p37"/>
          <p:cNvSpPr txBox="1"/>
          <p:nvPr/>
        </p:nvSpPr>
        <p:spPr>
          <a:xfrm>
            <a:off x="1361258" y="3960346"/>
            <a:ext cx="958509" cy="424732"/>
          </a:xfrm>
          <a:prstGeom prst="rect">
            <a:avLst/>
          </a:prstGeom>
          <a:solidFill>
            <a:schemeClr val="lt2"/>
          </a:solidFill>
          <a:ln cap="flat" cmpd="sng" w="25400">
            <a:solidFill>
              <a:srgbClr val="86868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Open Sans"/>
              <a:buNone/>
            </a:pPr>
            <a:r>
              <a:rPr b="0" i="0" lang="en-US" sz="2400" u="none" cap="none" strike="noStrike">
                <a:solidFill>
                  <a:schemeClr val="lt1"/>
                </a:solidFill>
                <a:latin typeface="Open Sans"/>
                <a:ea typeface="Noto Sans SC"/>
                <a:cs typeface="Open Sans"/>
                <a:sym typeface="Open Sans"/>
              </a:rPr>
              <a:t>ReLU</a:t>
            </a:r>
            <a:endParaRPr b="0" i="0" sz="24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89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893" name="Shape 893"/>
        <p:cNvGrpSpPr/>
        <p:nvPr/>
      </p:nvGrpSpPr>
      <p:grpSpPr>
        <a:xfrm>
          <a:off x="0" y="0"/>
          <a:ext cx="0" cy="0"/>
          <a:chOff x="0" y="0"/>
          <a:chExt cx="0" cy="0"/>
        </a:xfrm>
      </p:grpSpPr>
      <p:graphicFrame>
        <p:nvGraphicFramePr>
          <p:cNvPr id="894" name="Google Shape;894;p131"/>
          <p:cNvGraphicFramePr/>
          <p:nvPr/>
        </p:nvGraphicFramePr>
        <p:xfrm>
          <a:off x="723014" y="1645154"/>
          <a:ext cx="6103088" cy="2565340"/>
        </p:xfrm>
        <a:graphic>
          <a:graphicData uri="http://schemas.openxmlformats.org/drawingml/2006/chart">
            <c:chart r:id="rId3"/>
          </a:graphicData>
        </a:graphic>
      </p:graphicFrame>
      <p:sp>
        <p:nvSpPr>
          <p:cNvPr id="896"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将</a:t>
            </a:r>
            <a:r>
              <a:rPr sz="3600" b="1">
                <a:solidFill>
                  <a:srgbClr val="000000"/>
                </a:solidFill>
                <a:latin typeface="Open Sans"/>
              </a:rPr>
              <a:t> RMSE </a:t>
            </a:r>
            <a:r>
              <a:rPr sz="3600" b="1">
                <a:solidFill>
                  <a:srgbClr val="000000"/>
                </a:solidFill>
                <a:latin typeface="Noto Sans SC"/>
              </a:rPr>
              <a:t>用于概率</a:t>
            </a:r>
            <a:r>
              <a:rPr sz="3600" b="1">
                <a:solidFill>
                  <a:srgbClr val="000000"/>
                </a:solidFill>
                <a:latin typeface="Open Sans"/>
              </a:rPr>
              <a:t> ？</a:t>
            </a:r>
          </a:p>
        </p:txBody>
      </p:sp>
      <p:sp xmlns:p="http://schemas.openxmlformats.org/presentationml/2006/main" xmlns:a="http://schemas.openxmlformats.org/drawingml/2006/main">
        <p:nvSpPr>
          <p:cNvPr id="89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898" name="Shape 898"/>
        <p:cNvGrpSpPr/>
        <p:nvPr/>
      </p:nvGrpSpPr>
      <p:grpSpPr>
        <a:xfrm>
          <a:off x="0" y="0"/>
          <a:ext cx="0" cy="0"/>
          <a:chOff x="0" y="0"/>
          <a:chExt cx="0" cy="0"/>
        </a:xfrm>
      </p:grpSpPr>
      <p:graphicFrame>
        <p:nvGraphicFramePr>
          <p:cNvPr id="899" name="Google Shape;899;p132"/>
          <p:cNvGraphicFramePr/>
          <p:nvPr/>
        </p:nvGraphicFramePr>
        <p:xfrm>
          <a:off x="723014" y="1645154"/>
          <a:ext cx="6103088" cy="2565340"/>
        </p:xfrm>
        <a:graphic>
          <a:graphicData uri="http://schemas.openxmlformats.org/drawingml/2006/chart">
            <c:chart r:id="rId3"/>
          </a:graphicData>
        </a:graphic>
      </p:graphicFrame>
      <p:cxnSp>
        <p:nvCxnSpPr>
          <p:cNvPr id="900" name="Google Shape;900;p132"/>
          <p:cNvCxnSpPr/>
          <p:nvPr/>
        </p:nvCxnSpPr>
        <p:spPr>
          <a:xfrm>
            <a:off x="1796902" y="1850065"/>
            <a:ext cx="3987210" cy="1850065"/>
          </a:xfrm>
          <a:prstGeom prst="straightConnector1">
            <a:avLst/>
          </a:prstGeom>
          <a:noFill/>
          <a:ln cap="flat" cmpd="sng" w="38100">
            <a:solidFill>
              <a:schemeClr val="dk2"/>
            </a:solidFill>
            <a:prstDash val="solid"/>
            <a:round/>
            <a:headEnd len="sm" w="sm" type="none"/>
            <a:tailEnd len="sm" w="sm" type="none"/>
          </a:ln>
        </p:spPr>
      </p:cxnSp>
      <p:sp>
        <p:nvSpPr>
          <p:cNvPr id="902"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将</a:t>
            </a:r>
            <a:r>
              <a:rPr sz="3600" b="1">
                <a:solidFill>
                  <a:srgbClr val="000000"/>
                </a:solidFill>
                <a:latin typeface="Open Sans"/>
              </a:rPr>
              <a:t> RMSE </a:t>
            </a:r>
            <a:r>
              <a:rPr sz="3600" b="1">
                <a:solidFill>
                  <a:srgbClr val="000000"/>
                </a:solidFill>
                <a:latin typeface="Noto Sans SC"/>
              </a:rPr>
              <a:t>用于概率</a:t>
            </a:r>
            <a:r>
              <a:rPr sz="3600" b="1">
                <a:solidFill>
                  <a:srgbClr val="000000"/>
                </a:solidFill>
                <a:latin typeface="Open Sans"/>
              </a:rPr>
              <a:t> ？</a:t>
            </a:r>
          </a:p>
        </p:txBody>
      </p:sp>
      <p:sp xmlns:p="http://schemas.openxmlformats.org/presentationml/2006/main" xmlns:a="http://schemas.openxmlformats.org/drawingml/2006/main">
        <p:nvSpPr>
          <p:cNvPr id="90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04" name="Shape 904"/>
        <p:cNvGrpSpPr/>
        <p:nvPr/>
      </p:nvGrpSpPr>
      <p:grpSpPr>
        <a:xfrm>
          <a:off x="0" y="0"/>
          <a:ext cx="0" cy="0"/>
          <a:chOff x="0" y="0"/>
          <a:chExt cx="0" cy="0"/>
        </a:xfrm>
      </p:grpSpPr>
      <p:graphicFrame>
        <p:nvGraphicFramePr>
          <p:cNvPr id="905" name="Google Shape;905;p133"/>
          <p:cNvGraphicFramePr/>
          <p:nvPr/>
        </p:nvGraphicFramePr>
        <p:xfrm>
          <a:off x="723014" y="1645154"/>
          <a:ext cx="6103088" cy="2565340"/>
        </p:xfrm>
        <a:graphic>
          <a:graphicData uri="http://schemas.openxmlformats.org/drawingml/2006/chart">
            <c:chart r:id="rId3"/>
          </a:graphicData>
        </a:graphic>
      </p:graphicFrame>
      <p:cxnSp>
        <p:nvCxnSpPr>
          <p:cNvPr id="906" name="Google Shape;906;p133"/>
          <p:cNvCxnSpPr/>
          <p:nvPr/>
        </p:nvCxnSpPr>
        <p:spPr>
          <a:xfrm>
            <a:off x="1796902" y="1850065"/>
            <a:ext cx="3987210" cy="1850065"/>
          </a:xfrm>
          <a:prstGeom prst="straightConnector1">
            <a:avLst/>
          </a:prstGeom>
          <a:noFill/>
          <a:ln cap="flat" cmpd="sng" w="38100">
            <a:solidFill>
              <a:schemeClr val="dk2"/>
            </a:solidFill>
            <a:prstDash val="solid"/>
            <a:round/>
            <a:headEnd len="sm" w="sm" type="none"/>
            <a:tailEnd len="sm" w="sm" type="none"/>
          </a:ln>
        </p:spPr>
      </p:cxnSp>
      <p:graphicFrame>
        <p:nvGraphicFramePr>
          <p:cNvPr id="907" name="Google Shape;907;p133"/>
          <p:cNvGraphicFramePr/>
          <p:nvPr/>
        </p:nvGraphicFramePr>
        <p:xfrm>
          <a:off x="7006856" y="1695422"/>
          <a:ext cx="3467596" cy="3815552"/>
        </p:xfrm>
        <a:graphic>
          <a:graphicData uri="http://schemas.openxmlformats.org/drawingml/2006/chart">
            <c:chart r:id="rId4"/>
          </a:graphicData>
        </a:graphic>
      </p:graphicFrame>
      <p:sp>
        <p:nvSpPr>
          <p:cNvPr id="909"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多分类交叉熵</a:t>
            </a:r>
          </a:p>
        </p:txBody>
      </p:sp>
      <p:sp xmlns:p="http://schemas.openxmlformats.org/presentationml/2006/main" xmlns:a="http://schemas.openxmlformats.org/drawingml/2006/main">
        <p:nvSpPr>
          <p:cNvPr id="90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11" name="Shape 911"/>
        <p:cNvGrpSpPr/>
        <p:nvPr/>
      </p:nvGrpSpPr>
      <p:grpSpPr>
        <a:xfrm>
          <a:off x="0" y="0"/>
          <a:ext cx="0" cy="0"/>
          <a:chOff x="0" y="0"/>
          <a:chExt cx="0" cy="0"/>
        </a:xfrm>
      </p:grpSpPr>
      <p:graphicFrame>
        <p:nvGraphicFramePr>
          <p:cNvPr id="912" name="Google Shape;912;p134"/>
          <p:cNvGraphicFramePr/>
          <p:nvPr/>
        </p:nvGraphicFramePr>
        <p:xfrm>
          <a:off x="723014" y="1645154"/>
          <a:ext cx="6103088" cy="2565340"/>
        </p:xfrm>
        <a:graphic>
          <a:graphicData uri="http://schemas.openxmlformats.org/drawingml/2006/chart">
            <c:chart r:id="rId3"/>
          </a:graphicData>
        </a:graphic>
      </p:graphicFrame>
      <p:cxnSp>
        <p:nvCxnSpPr>
          <p:cNvPr id="913" name="Google Shape;913;p134"/>
          <p:cNvCxnSpPr/>
          <p:nvPr/>
        </p:nvCxnSpPr>
        <p:spPr>
          <a:xfrm>
            <a:off x="1796902" y="1850065"/>
            <a:ext cx="3987210" cy="1850065"/>
          </a:xfrm>
          <a:prstGeom prst="straightConnector1">
            <a:avLst/>
          </a:prstGeom>
          <a:noFill/>
          <a:ln cap="flat" cmpd="sng" w="38100">
            <a:solidFill>
              <a:schemeClr val="dk2"/>
            </a:solidFill>
            <a:prstDash val="solid"/>
            <a:round/>
            <a:headEnd len="sm" w="sm" type="none"/>
            <a:tailEnd len="sm" w="sm" type="none"/>
          </a:ln>
        </p:spPr>
      </p:cxnSp>
      <p:sp>
        <p:nvSpPr>
          <p:cNvPr id="914" name="Google Shape;914;p134"/>
          <p:cNvSpPr txBox="1"/>
          <p:nvPr/>
        </p:nvSpPr>
        <p:spPr>
          <a:xfrm>
            <a:off x="454497" y="4481788"/>
            <a:ext cx="6672019" cy="343940"/>
          </a:xfrm>
          <a:prstGeom prst="rect">
            <a:avLst/>
          </a:prstGeom>
          <a:blipFill rotWithShape="1">
            <a:blip r:embed="rId4">
              <a:alphaModFix/>
            </a:blip>
            <a:stretch>
              <a:fillRect b="-29825" l="-823" r="-457" t="-17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15" name="Google Shape;915;p134"/>
          <p:cNvSpPr txBox="1"/>
          <p:nvPr/>
        </p:nvSpPr>
        <p:spPr>
          <a:xfrm>
            <a:off x="498348" y="5045332"/>
            <a:ext cx="4632871" cy="304699"/>
          </a:xfrm>
          <a:prstGeom prst="rect">
            <a:avLst/>
          </a:prstGeom>
          <a:blipFill rotWithShape="1">
            <a:blip r:embed="rId5">
              <a:alphaModFix/>
            </a:blip>
            <a:stretch>
              <a:fillRect b="-40000" l="-526" r="0" t="-79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16" name="Google Shape;916;p134"/>
          <p:cNvSpPr txBox="1"/>
          <p:nvPr/>
        </p:nvSpPr>
        <p:spPr>
          <a:xfrm>
            <a:off x="498348" y="5569635"/>
            <a:ext cx="5184240" cy="304699"/>
          </a:xfrm>
          <a:prstGeom prst="rect">
            <a:avLst/>
          </a:prstGeom>
          <a:blipFill rotWithShape="1">
            <a:blip r:embed="rId6">
              <a:alphaModFix/>
            </a:blip>
            <a:stretch>
              <a:fillRect b="-40000" l="-1294" r="0" t="-79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graphicFrame>
        <p:nvGraphicFramePr>
          <p:cNvPr id="917" name="Google Shape;917;p134"/>
          <p:cNvGraphicFramePr/>
          <p:nvPr/>
        </p:nvGraphicFramePr>
        <p:xfrm>
          <a:off x="7006856" y="1695422"/>
          <a:ext cx="3467596" cy="3815552"/>
        </p:xfrm>
        <a:graphic>
          <a:graphicData uri="http://schemas.openxmlformats.org/drawingml/2006/chart">
            <c:chart r:id="rId7"/>
          </a:graphicData>
        </a:graphic>
      </p:graphicFrame>
      <p:sp>
        <p:nvSpPr>
          <p:cNvPr id="919"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多分类交叉熵</a:t>
            </a:r>
          </a:p>
        </p:txBody>
      </p:sp>
      <p:sp xmlns:p="http://schemas.openxmlformats.org/presentationml/2006/main" xmlns:a="http://schemas.openxmlformats.org/drawingml/2006/main">
        <p:nvSpPr>
          <p:cNvPr id="91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21" name="Shape 921"/>
        <p:cNvGrpSpPr/>
        <p:nvPr/>
      </p:nvGrpSpPr>
      <p:grpSpPr>
        <a:xfrm>
          <a:off x="0" y="0"/>
          <a:ext cx="0" cy="0"/>
          <a:chOff x="0" y="0"/>
          <a:chExt cx="0" cy="0"/>
        </a:xfrm>
      </p:grpSpPr>
      <p:graphicFrame>
        <p:nvGraphicFramePr>
          <p:cNvPr id="922" name="Google Shape;922;p135"/>
          <p:cNvGraphicFramePr/>
          <p:nvPr/>
        </p:nvGraphicFramePr>
        <p:xfrm>
          <a:off x="723014" y="1645154"/>
          <a:ext cx="6103088" cy="2565340"/>
        </p:xfrm>
        <a:graphic>
          <a:graphicData uri="http://schemas.openxmlformats.org/drawingml/2006/chart">
            <c:chart r:id="rId3"/>
          </a:graphicData>
        </a:graphic>
      </p:graphicFrame>
      <p:cxnSp>
        <p:nvCxnSpPr>
          <p:cNvPr id="923" name="Google Shape;923;p135"/>
          <p:cNvCxnSpPr/>
          <p:nvPr/>
        </p:nvCxnSpPr>
        <p:spPr>
          <a:xfrm>
            <a:off x="1796902" y="1850065"/>
            <a:ext cx="3987210" cy="1850065"/>
          </a:xfrm>
          <a:prstGeom prst="straightConnector1">
            <a:avLst/>
          </a:prstGeom>
          <a:noFill/>
          <a:ln cap="flat" cmpd="sng" w="38100">
            <a:solidFill>
              <a:schemeClr val="dk2"/>
            </a:solidFill>
            <a:prstDash val="solid"/>
            <a:round/>
            <a:headEnd len="sm" w="sm" type="none"/>
            <a:tailEnd len="sm" w="sm" type="none"/>
          </a:ln>
        </p:spPr>
      </p:cxnSp>
      <p:pic>
        <p:nvPicPr>
          <p:cNvPr id="924" name="Google Shape;924;p135"/>
          <p:cNvPicPr preferRelativeResize="0"/>
          <p:nvPr/>
        </p:nvPicPr>
        <p:blipFill rotWithShape="1">
          <a:blip r:embed="rId4">
            <a:alphaModFix/>
          </a:blip>
          <a:srcRect b="75056" l="0" r="69444" t="17080"/>
          <a:stretch/>
        </p:blipFill>
        <p:spPr>
          <a:xfrm>
            <a:off x="723014" y="4559402"/>
            <a:ext cx="6103088" cy="883455"/>
          </a:xfrm>
          <a:prstGeom prst="rect">
            <a:avLst/>
          </a:prstGeom>
          <a:noFill/>
          <a:ln>
            <a:noFill/>
          </a:ln>
        </p:spPr>
      </p:pic>
      <p:graphicFrame>
        <p:nvGraphicFramePr>
          <p:cNvPr id="925" name="Google Shape;925;p135"/>
          <p:cNvGraphicFramePr/>
          <p:nvPr/>
        </p:nvGraphicFramePr>
        <p:xfrm>
          <a:off x="7006856" y="1695422"/>
          <a:ext cx="3467596" cy="3815552"/>
        </p:xfrm>
        <a:graphic>
          <a:graphicData uri="http://schemas.openxmlformats.org/drawingml/2006/chart">
            <c:chart r:id="rId5"/>
          </a:graphicData>
        </a:graphic>
      </p:graphicFrame>
      <p:sp>
        <p:nvSpPr>
          <p:cNvPr id="927" name="Restored Title 1"/>
          <p:cNvSpPr txBox="1"/>
          <p:nvPr/>
        </p:nvSpPr>
        <p:spPr>
          <a:xfrm>
            <a:off x="498348" y="661226"/>
            <a:ext cx="9976104" cy="590931"/>
          </a:xfrm>
          <a:prstGeom prst="rect">
            <a:avLst/>
          </a:prstGeom>
          <a:noFill/>
        </p:spPr>
        <p:txBody>
          <a:bodyPr wrap="none" lIns="0" rIns="0" tIns="0" bIns="0" anchor="ctr">
            <a:spAutoFit/>
          </a:bodyPr>
          <a:lstStyle/>
          <a:p>
            <a:pPr algn="ctr"/>
            <a:r>
              <a:rPr sz="3600" b="1">
                <a:solidFill>
                  <a:srgbClr val="000000"/>
                </a:solidFill>
                <a:latin typeface="Noto Sans SC"/>
              </a:rPr>
              <a:t>多分类交叉熵</a:t>
            </a:r>
          </a:p>
        </p:txBody>
      </p:sp>
      <p:sp xmlns:p="http://schemas.openxmlformats.org/presentationml/2006/main" xmlns:a="http://schemas.openxmlformats.org/drawingml/2006/main">
        <p:nvSpPr>
          <p:cNvPr id="92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29" name="Shape 929"/>
        <p:cNvGrpSpPr/>
        <p:nvPr/>
      </p:nvGrpSpPr>
      <p:grpSpPr>
        <a:xfrm>
          <a:off x="0" y="0"/>
          <a:ext cx="0" cy="0"/>
          <a:chOff x="0" y="0"/>
          <a:chExt cx="0" cy="0"/>
        </a:xfrm>
      </p:grpSpPr>
      <p:sp>
        <p:nvSpPr>
          <p:cNvPr id="930" name="Google Shape;930;p43"/>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融会贯通</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93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34" name="Shape 934"/>
        <p:cNvGrpSpPr/>
        <p:nvPr/>
      </p:nvGrpSpPr>
      <p:grpSpPr>
        <a:xfrm>
          <a:off x="0" y="0"/>
          <a:ext cx="0" cy="0"/>
          <a:chOff x="0" y="0"/>
          <a:chExt cx="0" cy="0"/>
        </a:xfrm>
      </p:grpSpPr>
      <p:sp>
        <p:nvSpPr>
          <p:cNvPr id="935" name="Google Shape;935;p44"/>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下一个练习</a:t>
            </a:r>
            <a:endParaRPr b="1" i="0" sz="3600" u="none" cap="none" strike="noStrike">
              <a:solidFill>
                <a:schemeClr val="dk2"/>
              </a:solidFill>
              <a:latin typeface="Open Sans"/>
              <a:ea typeface="Noto Sans SC"/>
              <a:cs typeface="Open Sans"/>
              <a:sym typeface="Open Sans"/>
            </a:endParaRPr>
          </a:p>
        </p:txBody>
      </p:sp>
      <p:sp>
        <p:nvSpPr>
          <p:cNvPr id="936" name="Google Shape;936;p44"/>
          <p:cNvSpPr txBox="1"/>
          <p:nvPr/>
        </p:nvSpPr>
        <p:spPr>
          <a:xfrm>
            <a:off x="498348" y="1774264"/>
            <a:ext cx="9948672" cy="37189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Open Sans"/>
              <a:buNone/>
            </a:pPr>
            <a:r>
              <a:t/>
            </a:r>
            <a:endParaRPr b="0" i="0" sz="2000" u="none" cap="none" strike="noStrike">
              <a:solidFill>
                <a:schemeClr val="dk2"/>
              </a:solidFill>
              <a:latin typeface="Open Sans"/>
              <a:ea typeface="Noto Sans SC"/>
              <a:cs typeface="Open Sans"/>
              <a:sym typeface="Open Sans"/>
            </a:endParaRPr>
          </a:p>
          <a:p>
            <a:pPr indent="-215900" lvl="0" marL="342900" marR="0" rtl="0" algn="l">
              <a:lnSpc>
                <a:spcPct val="90000"/>
              </a:lnSpc>
              <a:spcBef>
                <a:spcPts val="1800"/>
              </a:spcBef>
              <a:spcAft>
                <a:spcPts val="0"/>
              </a:spcAft>
              <a:buClr>
                <a:schemeClr val="dk1"/>
              </a:buClr>
              <a:buSzPts val="2000"/>
              <a:buFont typeface="Open Sans"/>
              <a:buNone/>
            </a:pPr>
            <a:r>
              <a:t/>
            </a:r>
            <a:endParaRPr b="0" i="0" sz="2000" u="none" cap="none" strike="noStrike">
              <a:solidFill>
                <a:schemeClr val="dk2"/>
              </a:solidFill>
              <a:latin typeface="Open Sans"/>
              <a:ea typeface="Noto Sans SC"/>
              <a:cs typeface="Open Sans"/>
              <a:sym typeface="Open Sans"/>
            </a:endParaRPr>
          </a:p>
        </p:txBody>
      </p:sp>
      <p:sp>
        <p:nvSpPr>
          <p:cNvPr id="937" name="Google Shape;937;p44"/>
          <p:cNvSpPr txBox="1"/>
          <p:nvPr/>
        </p:nvSpPr>
        <p:spPr>
          <a:xfrm>
            <a:off x="498348" y="1217839"/>
            <a:ext cx="9976104" cy="52546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400"/>
              <a:buFont typeface="Open Sans"/>
              <a:buNone/>
            </a:pPr>
            <a:r>
              <a:rPr b="0" i="0" lang="en-US" sz="2400" u="none" cap="none" strike="noStrike">
                <a:solidFill>
                  <a:schemeClr val="lt2"/>
                </a:solidFill>
                <a:latin typeface="Noto Sans SC"/>
                <a:ea typeface="Noto Sans SC"/>
                <a:cs typeface="Open Sans"/>
                <a:sym typeface="Open Sans"/>
              </a:rPr>
              <a:t>美国手语字母表</a:t>
            </a:r>
            <a:endParaRPr b="0" i="0" sz="2400" u="none" cap="none" strike="noStrike">
              <a:solidFill>
                <a:schemeClr val="lt2"/>
              </a:solidFill>
              <a:latin typeface="Open Sans"/>
              <a:ea typeface="Noto Sans SC"/>
              <a:cs typeface="Open Sans"/>
              <a:sym typeface="Open Sans"/>
            </a:endParaRPr>
          </a:p>
        </p:txBody>
      </p:sp>
      <p:pic>
        <p:nvPicPr>
          <p:cNvPr descr="A close up of text on a white background  Description automatically generated" id="938" name="Google Shape;938;p44"/>
          <p:cNvPicPr preferRelativeResize="0"/>
          <p:nvPr/>
        </p:nvPicPr>
        <p:blipFill rotWithShape="1">
          <a:blip r:embed="rId3">
            <a:alphaModFix/>
          </a:blip>
          <a:srcRect b="0" l="0" r="0" t="0"/>
          <a:stretch/>
        </p:blipFill>
        <p:spPr>
          <a:xfrm>
            <a:off x="2302885" y="1940519"/>
            <a:ext cx="6367030" cy="3718924"/>
          </a:xfrm>
          <a:prstGeom prst="rect">
            <a:avLst/>
          </a:prstGeom>
          <a:noFill/>
          <a:ln>
            <a:noFill/>
          </a:ln>
        </p:spPr>
      </p:pic>
      <p:sp xmlns:p="http://schemas.openxmlformats.org/presentationml/2006/main" xmlns:a="http://schemas.openxmlformats.org/drawingml/2006/main">
        <p:nvSpPr>
          <p:cNvPr id="93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42" name="Shape 942"/>
        <p:cNvGrpSpPr/>
        <p:nvPr/>
      </p:nvGrpSpPr>
      <p:grpSpPr>
        <a:xfrm>
          <a:off x="0" y="0"/>
          <a:ext cx="0" cy="0"/>
          <a:chOff x="0" y="0"/>
          <a:chExt cx="0" cy="0"/>
        </a:xfrm>
      </p:grpSpPr>
      <p:sp>
        <p:nvSpPr>
          <p:cNvPr id="943" name="Google Shape;943;p45"/>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开始吧</a:t>
            </a:r>
            <a:r>
              <a:rPr b="1" i="0" lang="en-US" sz="3600" u="none" cap="none" strike="noStrike">
                <a:solidFill>
                  <a:srgbClr val="000000"/>
                </a:solidFill>
                <a:latin typeface="Open Sans"/>
                <a:ea typeface="Noto Sans SC"/>
                <a:cs typeface="Open Sans"/>
                <a:sym typeface="Open Sans"/>
              </a:rPr>
              <a:t>！</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94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47" name="Shape 947"/>
        <p:cNvGrpSpPr/>
        <p:nvPr/>
      </p:nvGrpSpPr>
      <p:grpSpPr>
        <a:xfrm>
          <a:off x="0" y="0"/>
          <a:ext cx="0" cy="0"/>
          <a:chOff x="0" y="0"/>
          <a:chExt cx="0" cy="0"/>
        </a:xfrm>
      </p:grpSpPr>
      <p:sp>
        <p:nvSpPr>
          <p:cNvPr id="948" name="Google Shape;948;p46"/>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附录</a:t>
            </a:r>
            <a:r>
              <a:rPr b="1" i="0" lang="en-US" sz="3600" u="none" cap="none" strike="noStrike">
                <a:solidFill>
                  <a:srgbClr val="000000"/>
                </a:solidFill>
                <a:latin typeface="Open Sans"/>
                <a:ea typeface="Noto Sans SC"/>
                <a:cs typeface="Open Sans"/>
                <a:sym typeface="Open Sans"/>
              </a:rPr>
              <a:t>：</a:t>
            </a:r>
            <a:r>
              <a:rPr b="1" i="0" lang="en-US" sz="3600" u="none" cap="none" strike="noStrike">
                <a:solidFill>
                  <a:srgbClr val="000000"/>
                </a:solidFill>
                <a:latin typeface="Noto Sans SC"/>
                <a:ea typeface="Noto Sans SC"/>
                <a:cs typeface="Open Sans"/>
                <a:sym typeface="Open Sans"/>
              </a:rPr>
              <a:t>梯度下降</a:t>
            </a:r>
            <a:endParaRPr b="1" i="0" sz="3600" u="none" cap="none" strike="noStrike">
              <a:solidFill>
                <a:srgbClr val="000000"/>
              </a:solidFill>
              <a:latin typeface="Open Sans"/>
              <a:ea typeface="Noto Sans SC"/>
              <a:cs typeface="Open Sans"/>
              <a:sym typeface="Open Sans"/>
            </a:endParaRPr>
          </a:p>
        </p:txBody>
      </p:sp>
      <p:sp>
        <p:nvSpPr>
          <p:cNvPr id="949" name="Google Shape;949;p46"/>
          <p:cNvSpPr txBox="1"/>
          <p:nvPr/>
        </p:nvSpPr>
        <p:spPr>
          <a:xfrm>
            <a:off x="498348" y="3381566"/>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400"/>
              <a:buFont typeface="Open Sans"/>
              <a:buNone/>
            </a:pPr>
            <a:r>
              <a:rPr b="1" i="0" lang="en-US" sz="2400" u="none" cap="none" strike="noStrike">
                <a:solidFill>
                  <a:srgbClr val="000000"/>
                </a:solidFill>
                <a:latin typeface="Noto Sans SC"/>
                <a:ea typeface="Noto Sans SC"/>
                <a:cs typeface="Open Sans"/>
                <a:sym typeface="Open Sans"/>
              </a:rPr>
              <a:t>帮助计算机欺骗微积分</a:t>
            </a:r>
            <a:endParaRPr b="1" i="0" sz="24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95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53" name="Shape 953"/>
        <p:cNvGrpSpPr/>
        <p:nvPr/>
      </p:nvGrpSpPr>
      <p:grpSpPr>
        <a:xfrm>
          <a:off x="0" y="0"/>
          <a:ext cx="0" cy="0"/>
          <a:chOff x="0" y="0"/>
          <a:chExt cx="0" cy="0"/>
        </a:xfrm>
      </p:grpSpPr>
      <p:sp>
        <p:nvSpPr>
          <p:cNvPr id="954" name="Google Shape;954;p136"/>
          <p:cNvSpPr/>
          <p:nvPr/>
        </p:nvSpPr>
        <p:spPr>
          <a:xfrm>
            <a:off x="9229478" y="4341976"/>
            <a:ext cx="1407886" cy="1224706"/>
          </a:xfrm>
          <a:prstGeom prst="rect">
            <a:avLst/>
          </a:prstGeom>
          <a:solidFill>
            <a:schemeClr val="lt1"/>
          </a:solidFill>
          <a:ln cap="flat" cmpd="sng" w="25400">
            <a:solidFill>
              <a:schemeClr val="lt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955" name="Google Shape;955;p136"/>
          <p:cNvSpPr txBox="1"/>
          <p:nvPr/>
        </p:nvSpPr>
        <p:spPr>
          <a:xfrm>
            <a:off x="1039379" y="1776350"/>
            <a:ext cx="65" cy="332399"/>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956" name="Google Shape;956;p136"/>
          <p:cNvSpPr txBox="1"/>
          <p:nvPr/>
        </p:nvSpPr>
        <p:spPr>
          <a:xfrm>
            <a:off x="1004850" y="2818882"/>
            <a:ext cx="65" cy="332399"/>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957" name="Google Shape;957;p136"/>
          <p:cNvSpPr txBox="1"/>
          <p:nvPr/>
        </p:nvSpPr>
        <p:spPr>
          <a:xfrm>
            <a:off x="1039379" y="4059137"/>
            <a:ext cx="65" cy="332399"/>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958" name="Google Shape;958;p136"/>
          <p:cNvSpPr txBox="1"/>
          <p:nvPr/>
        </p:nvSpPr>
        <p:spPr>
          <a:xfrm>
            <a:off x="5100741" y="4064228"/>
            <a:ext cx="65" cy="332399"/>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959" name="Google Shape;959;p136"/>
          <p:cNvSpPr txBox="1"/>
          <p:nvPr/>
        </p:nvSpPr>
        <p:spPr>
          <a:xfrm>
            <a:off x="1004850" y="5123035"/>
            <a:ext cx="65" cy="332399"/>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960" name="Google Shape;960;p136"/>
          <p:cNvSpPr txBox="1"/>
          <p:nvPr/>
        </p:nvSpPr>
        <p:spPr>
          <a:xfrm>
            <a:off x="5100741" y="5123067"/>
            <a:ext cx="65" cy="332399"/>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961" name="Google Shape;961;p136"/>
          <p:cNvSpPr txBox="1"/>
          <p:nvPr/>
        </p:nvSpPr>
        <p:spPr>
          <a:xfrm>
            <a:off x="1039379" y="1700400"/>
            <a:ext cx="6423425" cy="4843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62" name="Google Shape;962;p136"/>
          <p:cNvSpPr txBox="1"/>
          <p:nvPr/>
        </p:nvSpPr>
        <p:spPr>
          <a:xfrm>
            <a:off x="1004850" y="2673907"/>
            <a:ext cx="7005443" cy="622350"/>
          </a:xfrm>
          <a:prstGeom prst="rect">
            <a:avLst/>
          </a:prstGeom>
          <a:blipFill rotWithShape="1">
            <a:blip r:embed="rId4">
              <a:alphaModFix/>
            </a:blip>
            <a:stretch>
              <a:fillRect b="-1961" l="0" r="0" t="-19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63" name="Google Shape;963;p136"/>
          <p:cNvSpPr txBox="1"/>
          <p:nvPr/>
        </p:nvSpPr>
        <p:spPr>
          <a:xfrm>
            <a:off x="1039379" y="3909289"/>
            <a:ext cx="3142463" cy="632096"/>
          </a:xfrm>
          <a:prstGeom prst="rect">
            <a:avLst/>
          </a:prstGeom>
          <a:blipFill rotWithShape="1">
            <a:blip r:embed="rId5">
              <a:alphaModFix/>
            </a:blip>
            <a:stretch>
              <a:fillRect b="-2885" l="0" r="0" t="-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64" name="Google Shape;964;p136"/>
          <p:cNvSpPr txBox="1"/>
          <p:nvPr/>
        </p:nvSpPr>
        <p:spPr>
          <a:xfrm>
            <a:off x="5100741" y="3914411"/>
            <a:ext cx="2972545" cy="632033"/>
          </a:xfrm>
          <a:prstGeom prst="rect">
            <a:avLst/>
          </a:prstGeom>
          <a:blipFill rotWithShape="1">
            <a:blip r:embed="rId6">
              <a:alphaModFix/>
            </a:blip>
            <a:stretch>
              <a:fillRect b="-2885" l="0" r="0" t="-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65" name="Google Shape;965;p136"/>
          <p:cNvSpPr txBox="1"/>
          <p:nvPr/>
        </p:nvSpPr>
        <p:spPr>
          <a:xfrm>
            <a:off x="9328684" y="4558346"/>
            <a:ext cx="1155637" cy="332399"/>
          </a:xfrm>
          <a:prstGeom prst="rect">
            <a:avLst/>
          </a:prstGeom>
          <a:blipFill rotWithShape="1">
            <a:blip r:embed="rId7">
              <a:alphaModFix/>
            </a:blip>
            <a:stretch>
              <a:fillRect b="-12962" l="-2105" r="-4737"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66" name="Google Shape;966;p136"/>
          <p:cNvSpPr txBox="1"/>
          <p:nvPr/>
        </p:nvSpPr>
        <p:spPr>
          <a:xfrm>
            <a:off x="9328684" y="5030060"/>
            <a:ext cx="831381" cy="332399"/>
          </a:xfrm>
          <a:prstGeom prst="rect">
            <a:avLst/>
          </a:prstGeom>
          <a:blipFill rotWithShape="1">
            <a:blip r:embed="rId8">
              <a:alphaModFix/>
            </a:blip>
            <a:stretch>
              <a:fillRect b="-12727" l="-7299" r="-7299" t="-363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67" name="Google Shape;967;p136"/>
          <p:cNvSpPr txBox="1"/>
          <p:nvPr/>
        </p:nvSpPr>
        <p:spPr>
          <a:xfrm>
            <a:off x="1004850" y="4973187"/>
            <a:ext cx="1693028" cy="632096"/>
          </a:xfrm>
          <a:prstGeom prst="rect">
            <a:avLst/>
          </a:prstGeom>
          <a:blipFill rotWithShape="1">
            <a:blip r:embed="rId9">
              <a:alphaModFix/>
            </a:blip>
            <a:stretch>
              <a:fillRect b="-1923" l="0" r="0" t="-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68" name="Google Shape;968;p136"/>
          <p:cNvSpPr txBox="1"/>
          <p:nvPr/>
        </p:nvSpPr>
        <p:spPr>
          <a:xfrm>
            <a:off x="5100741" y="4973250"/>
            <a:ext cx="1693028" cy="632033"/>
          </a:xfrm>
          <a:prstGeom prst="rect">
            <a:avLst/>
          </a:prstGeom>
          <a:blipFill rotWithShape="1">
            <a:blip r:embed="rId10">
              <a:alphaModFix/>
            </a:blip>
            <a:stretch>
              <a:fillRect b="-1923" l="0" r="0" t="-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70" name="Restored Title 1"/>
          <p:cNvSpPr txBox="1"/>
          <p:nvPr/>
        </p:nvSpPr>
        <p:spPr>
          <a:xfrm>
            <a:off x="498348" y="737428"/>
            <a:ext cx="9976104" cy="590931"/>
          </a:xfrm>
          <a:prstGeom prst="rect">
            <a:avLst/>
          </a:prstGeom>
          <a:noFill/>
        </p:spPr>
        <p:txBody>
          <a:bodyPr wrap="none" lIns="0" rIns="0" tIns="0" bIns="0" anchor="ctr">
            <a:spAutoFit/>
          </a:bodyPr>
          <a:lstStyle/>
          <a:p>
            <a:pPr algn="ctr"/>
            <a:r>
              <a:rPr sz="3600" b="1">
                <a:solidFill>
                  <a:srgbClr val="000000"/>
                </a:solidFill>
                <a:latin typeface="Noto Sans SC"/>
              </a:rPr>
              <a:t>从误差中学习</a:t>
            </a:r>
          </a:p>
        </p:txBody>
      </p:sp>
      <p:sp xmlns:p="http://schemas.openxmlformats.org/presentationml/2006/main" xmlns:a="http://schemas.openxmlformats.org/drawingml/2006/main">
        <p:nvSpPr>
          <p:cNvPr id="96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72" name="Shape 972"/>
        <p:cNvGrpSpPr/>
        <p:nvPr/>
      </p:nvGrpSpPr>
      <p:grpSpPr>
        <a:xfrm>
          <a:off x="0" y="0"/>
          <a:ext cx="0" cy="0"/>
          <a:chOff x="0" y="0"/>
          <a:chExt cx="0" cy="0"/>
        </a:xfrm>
      </p:grpSpPr>
      <p:sp>
        <p:nvSpPr>
          <p:cNvPr id="973" name="Google Shape;973;p48"/>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损失曲线</a:t>
            </a:r>
            <a:endParaRPr b="1" i="0" sz="3600" u="none" cap="none" strike="noStrike">
              <a:solidFill>
                <a:schemeClr val="dk2"/>
              </a:solidFill>
              <a:latin typeface="Open Sans"/>
              <a:ea typeface="Noto Sans SC"/>
              <a:cs typeface="Open Sans"/>
              <a:sym typeface="Open Sans"/>
            </a:endParaRPr>
          </a:p>
        </p:txBody>
      </p:sp>
      <p:pic>
        <p:nvPicPr>
          <p:cNvPr id="974" name="Google Shape;974;p48"/>
          <p:cNvPicPr preferRelativeResize="0"/>
          <p:nvPr/>
        </p:nvPicPr>
        <p:blipFill rotWithShape="1">
          <a:blip r:embed="rId3">
            <a:alphaModFix/>
          </a:blip>
          <a:srcRect b="24073" l="47658" r="28299" t="38117"/>
          <a:stretch/>
        </p:blipFill>
        <p:spPr>
          <a:xfrm>
            <a:off x="685799" y="1583150"/>
            <a:ext cx="4216596" cy="3729799"/>
          </a:xfrm>
          <a:prstGeom prst="rect">
            <a:avLst/>
          </a:prstGeom>
          <a:noFill/>
          <a:ln>
            <a:noFill/>
          </a:ln>
        </p:spPr>
      </p:pic>
      <p:pic>
        <p:nvPicPr>
          <p:cNvPr id="975" name="Google Shape;975;p48"/>
          <p:cNvPicPr preferRelativeResize="0"/>
          <p:nvPr/>
        </p:nvPicPr>
        <p:blipFill rotWithShape="1">
          <a:blip r:embed="rId4">
            <a:alphaModFix/>
          </a:blip>
          <a:srcRect b="22222" l="47830" r="22135" t="39570"/>
          <a:stretch/>
        </p:blipFill>
        <p:spPr>
          <a:xfrm>
            <a:off x="4902395" y="1583150"/>
            <a:ext cx="5212498" cy="3729799"/>
          </a:xfrm>
          <a:prstGeom prst="rect">
            <a:avLst/>
          </a:prstGeom>
          <a:noFill/>
          <a:ln>
            <a:noFill/>
          </a:ln>
        </p:spPr>
      </p:pic>
      <p:sp>
        <p:nvSpPr>
          <p:cNvPr id="976" name="Google Shape;976;p48"/>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977" name="Google Shape;977;p48"/>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978" name="Google Shape;978;p48"/>
          <p:cNvSpPr txBox="1"/>
          <p:nvPr/>
        </p:nvSpPr>
        <p:spPr>
          <a:xfrm>
            <a:off x="6147876" y="2526265"/>
            <a:ext cx="90281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当前位置</a:t>
            </a:r>
            <a:endParaRPr b="0" i="0" sz="1400" u="none" cap="none" strike="noStrike">
              <a:solidFill>
                <a:srgbClr val="FFFFFF"/>
              </a:solidFill>
              <a:latin typeface="Open Sans"/>
              <a:ea typeface="Noto Sans SC"/>
              <a:cs typeface="Open Sans"/>
              <a:sym typeface="Open Sans"/>
            </a:endParaRPr>
          </a:p>
        </p:txBody>
      </p:sp>
      <p:sp>
        <p:nvSpPr>
          <p:cNvPr id="979" name="Google Shape;979;p48"/>
          <p:cNvSpPr txBox="1"/>
          <p:nvPr/>
        </p:nvSpPr>
        <p:spPr>
          <a:xfrm>
            <a:off x="8289562" y="3702603"/>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b="0" i="0" sz="1400" u="none" cap="none" strike="noStrike">
              <a:solidFill>
                <a:srgbClr val="FFFFFF"/>
              </a:solidFill>
              <a:latin typeface="Open Sans"/>
              <a:ea typeface="Noto Sans SC"/>
              <a:cs typeface="Open Sans"/>
              <a:sym typeface="Open Sans"/>
            </a:endParaRPr>
          </a:p>
        </p:txBody>
      </p:sp>
      <p:sp>
        <p:nvSpPr>
          <p:cNvPr id="980" name="Google Shape;980;p48"/>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98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84" name="Shape 984"/>
        <p:cNvGrpSpPr/>
        <p:nvPr/>
      </p:nvGrpSpPr>
      <p:grpSpPr>
        <a:xfrm>
          <a:off x="0" y="0"/>
          <a:ext cx="0" cy="0"/>
          <a:chOff x="0" y="0"/>
          <a:chExt cx="0" cy="0"/>
        </a:xfrm>
      </p:grpSpPr>
      <p:pic>
        <p:nvPicPr>
          <p:cNvPr id="985" name="Google Shape;985;p137"/>
          <p:cNvPicPr preferRelativeResize="0"/>
          <p:nvPr/>
        </p:nvPicPr>
        <p:blipFill rotWithShape="1">
          <a:blip r:embed="rId3">
            <a:alphaModFix/>
          </a:blip>
          <a:srcRect b="22222" l="47830" r="22135" t="39571"/>
          <a:stretch/>
        </p:blipFill>
        <p:spPr>
          <a:xfrm>
            <a:off x="4902395" y="1593310"/>
            <a:ext cx="5212498" cy="3729799"/>
          </a:xfrm>
          <a:prstGeom prst="rect">
            <a:avLst/>
          </a:prstGeom>
          <a:noFill/>
          <a:ln>
            <a:noFill/>
          </a:ln>
        </p:spPr>
      </p:pic>
      <p:sp>
        <p:nvSpPr>
          <p:cNvPr id="986" name="Google Shape;986;p137"/>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987" name="Google Shape;987;p137"/>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988" name="Google Shape;988;p137"/>
          <p:cNvSpPr txBox="1"/>
          <p:nvPr/>
        </p:nvSpPr>
        <p:spPr>
          <a:xfrm>
            <a:off x="8227217" y="3702603"/>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b="0" i="0" sz="1400" u="none" cap="none" strike="noStrike">
              <a:solidFill>
                <a:srgbClr val="FFFFFF"/>
              </a:solidFill>
              <a:latin typeface="Open Sans"/>
              <a:ea typeface="Noto Sans SC"/>
              <a:cs typeface="Open Sans"/>
              <a:sym typeface="Open Sans"/>
            </a:endParaRPr>
          </a:p>
        </p:txBody>
      </p:sp>
      <p:sp>
        <p:nvSpPr>
          <p:cNvPr id="989" name="Google Shape;989;p137"/>
          <p:cNvSpPr txBox="1"/>
          <p:nvPr/>
        </p:nvSpPr>
        <p:spPr>
          <a:xfrm>
            <a:off x="857907" y="1992042"/>
            <a:ext cx="1693028" cy="632096"/>
          </a:xfrm>
          <a:prstGeom prst="rect">
            <a:avLst/>
          </a:prstGeom>
          <a:blipFill rotWithShape="1">
            <a:blip r:embed="rId4">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90" name="Google Shape;990;p137"/>
          <p:cNvSpPr txBox="1"/>
          <p:nvPr/>
        </p:nvSpPr>
        <p:spPr>
          <a:xfrm>
            <a:off x="3031931" y="1992042"/>
            <a:ext cx="1693028" cy="632033"/>
          </a:xfrm>
          <a:prstGeom prst="rect">
            <a:avLst/>
          </a:prstGeom>
          <a:blipFill rotWithShape="1">
            <a:blip r:embed="rId5">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91" name="Google Shape;991;p137"/>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cxnSp>
        <p:nvCxnSpPr>
          <p:cNvPr id="992" name="Google Shape;992;p137"/>
          <p:cNvCxnSpPr/>
          <p:nvPr/>
        </p:nvCxnSpPr>
        <p:spPr>
          <a:xfrm>
            <a:off x="6200775" y="2637390"/>
            <a:ext cx="3059231" cy="458453"/>
          </a:xfrm>
          <a:prstGeom prst="straightConnector1">
            <a:avLst/>
          </a:prstGeom>
          <a:noFill/>
          <a:ln cap="flat" cmpd="sng" w="38100">
            <a:solidFill>
              <a:schemeClr val="lt1"/>
            </a:solidFill>
            <a:prstDash val="solid"/>
            <a:round/>
            <a:headEnd len="sm" w="sm" type="none"/>
            <a:tailEnd len="med" w="med" type="triangle"/>
          </a:ln>
        </p:spPr>
      </p:cxnSp>
      <p:sp>
        <p:nvSpPr>
          <p:cNvPr id="994" name="Restored Title 1"/>
          <p:cNvSpPr txBox="1"/>
          <p:nvPr/>
        </p:nvSpPr>
        <p:spPr>
          <a:xfrm>
            <a:off x="498348" y="659473"/>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损失曲线</a:t>
            </a:r>
          </a:p>
        </p:txBody>
      </p:sp>
      <p:sp xmlns:p="http://schemas.openxmlformats.org/presentationml/2006/main" xmlns:a="http://schemas.openxmlformats.org/drawingml/2006/main">
        <p:nvSpPr>
          <p:cNvPr id="99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96" name="Shape 996"/>
        <p:cNvGrpSpPr/>
        <p:nvPr/>
      </p:nvGrpSpPr>
      <p:grpSpPr>
        <a:xfrm>
          <a:off x="0" y="0"/>
          <a:ext cx="0" cy="0"/>
          <a:chOff x="0" y="0"/>
          <a:chExt cx="0" cy="0"/>
        </a:xfrm>
      </p:grpSpPr>
      <p:sp>
        <p:nvSpPr>
          <p:cNvPr id="997" name="Google Shape;997;p50"/>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损失曲线</a:t>
            </a:r>
            <a:endParaRPr/>
          </a:p>
        </p:txBody>
      </p:sp>
      <p:sp>
        <p:nvSpPr>
          <p:cNvPr id="998" name="Google Shape;998;p50"/>
          <p:cNvSpPr txBox="1"/>
          <p:nvPr/>
        </p:nvSpPr>
        <p:spPr>
          <a:xfrm>
            <a:off x="857907" y="3181274"/>
            <a:ext cx="2604110" cy="632096"/>
          </a:xfrm>
          <a:prstGeom prst="rect">
            <a:avLst/>
          </a:prstGeom>
          <a:blipFill rotWithShape="1">
            <a:blip r:embed="rId3">
              <a:alphaModFix/>
            </a:blip>
            <a:stretch>
              <a:fillRect b="-1923" l="0" r="0" t="-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999" name="Google Shape;999;p50"/>
          <p:cNvSpPr txBox="1"/>
          <p:nvPr/>
        </p:nvSpPr>
        <p:spPr>
          <a:xfrm>
            <a:off x="857907" y="4332470"/>
            <a:ext cx="2464970" cy="632096"/>
          </a:xfrm>
          <a:prstGeom prst="rect">
            <a:avLst/>
          </a:prstGeom>
          <a:blipFill rotWithShape="1">
            <a:blip r:embed="rId4">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pic>
        <p:nvPicPr>
          <p:cNvPr id="1000" name="Google Shape;1000;p50"/>
          <p:cNvPicPr preferRelativeResize="0"/>
          <p:nvPr/>
        </p:nvPicPr>
        <p:blipFill rotWithShape="1">
          <a:blip r:embed="rId5">
            <a:alphaModFix/>
          </a:blip>
          <a:srcRect b="22222" l="47830" r="22135" t="39571"/>
          <a:stretch/>
        </p:blipFill>
        <p:spPr>
          <a:xfrm>
            <a:off x="4902395" y="1593310"/>
            <a:ext cx="5212498" cy="3729799"/>
          </a:xfrm>
          <a:prstGeom prst="rect">
            <a:avLst/>
          </a:prstGeom>
          <a:noFill/>
          <a:ln>
            <a:noFill/>
          </a:ln>
        </p:spPr>
      </p:pic>
      <p:sp>
        <p:nvSpPr>
          <p:cNvPr id="1001" name="Google Shape;1001;p50"/>
          <p:cNvSpPr/>
          <p:nvPr/>
        </p:nvSpPr>
        <p:spPr>
          <a:xfrm>
            <a:off x="8072438" y="3800476"/>
            <a:ext cx="90487" cy="90487"/>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1002" name="Google Shape;1002;p50"/>
          <p:cNvSpPr txBox="1"/>
          <p:nvPr/>
        </p:nvSpPr>
        <p:spPr>
          <a:xfrm>
            <a:off x="8175921" y="3674903"/>
            <a:ext cx="646331"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800"/>
              <a:buFont typeface="Open Sans"/>
              <a:buNone/>
            </a:pPr>
            <a:r>
              <a:rPr b="0" i="0" lang="en-US" sz="1800" u="none" cap="none" strike="noStrike">
                <a:solidFill>
                  <a:srgbClr val="FFFFFF"/>
                </a:solidFill>
                <a:latin typeface="Noto Sans SC"/>
                <a:ea typeface="Noto Sans SC"/>
                <a:cs typeface="Open Sans"/>
                <a:sym typeface="Open Sans"/>
              </a:rPr>
              <a:t>目标</a:t>
            </a:r>
            <a:endParaRPr b="0" i="0" sz="1800" u="none" cap="none" strike="noStrike">
              <a:solidFill>
                <a:srgbClr val="FFFFFF"/>
              </a:solidFill>
              <a:latin typeface="Open Sans"/>
              <a:ea typeface="Noto Sans SC"/>
              <a:cs typeface="Open Sans"/>
              <a:sym typeface="Open Sans"/>
            </a:endParaRPr>
          </a:p>
        </p:txBody>
      </p:sp>
      <p:sp>
        <p:nvSpPr>
          <p:cNvPr id="1003" name="Google Shape;1003;p50"/>
          <p:cNvSpPr txBox="1"/>
          <p:nvPr/>
        </p:nvSpPr>
        <p:spPr>
          <a:xfrm>
            <a:off x="9716386" y="1779661"/>
            <a:ext cx="797013" cy="3056221"/>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600"/>
              <a:buFont typeface="Open Sans"/>
              <a:buNone/>
            </a:pPr>
            <a:r>
              <a:rPr b="0" i="0" lang="en-US" sz="1600" u="none" cap="none" strike="noStrike">
                <a:solidFill>
                  <a:srgbClr val="000000"/>
                </a:solidFill>
                <a:latin typeface="Open Sans"/>
                <a:ea typeface="Noto Sans SC"/>
                <a:cs typeface="Open Sans"/>
                <a:sym typeface="Open Sans"/>
              </a:rPr>
              <a:t>16</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0</a:t>
            </a:r>
            <a:endParaRPr b="0" i="0" sz="1800" u="none" cap="none" strike="noStrike">
              <a:solidFill>
                <a:srgbClr val="000000"/>
              </a:solidFill>
              <a:latin typeface="Open Sans"/>
              <a:ea typeface="Noto Sans SC"/>
              <a:cs typeface="Open Sans"/>
              <a:sym typeface="Open Sans"/>
            </a:endParaRPr>
          </a:p>
        </p:txBody>
      </p:sp>
      <p:cxnSp>
        <p:nvCxnSpPr>
          <p:cNvPr id="1004" name="Google Shape;1004;p50"/>
          <p:cNvCxnSpPr/>
          <p:nvPr/>
        </p:nvCxnSpPr>
        <p:spPr>
          <a:xfrm>
            <a:off x="6200775" y="2637390"/>
            <a:ext cx="3059231" cy="458453"/>
          </a:xfrm>
          <a:prstGeom prst="straightConnector1">
            <a:avLst/>
          </a:prstGeom>
          <a:noFill/>
          <a:ln cap="flat" cmpd="sng" w="38100">
            <a:solidFill>
              <a:srgbClr val="FFFFFF"/>
            </a:solidFill>
            <a:prstDash val="solid"/>
            <a:round/>
            <a:headEnd len="sm" w="sm" type="none"/>
            <a:tailEnd len="med" w="med" type="triangle"/>
          </a:ln>
        </p:spPr>
      </p:cxnSp>
      <p:sp>
        <p:nvSpPr>
          <p:cNvPr id="1005" name="Google Shape;1005;p50"/>
          <p:cNvSpPr txBox="1"/>
          <p:nvPr/>
        </p:nvSpPr>
        <p:spPr>
          <a:xfrm>
            <a:off x="857907" y="1992042"/>
            <a:ext cx="1693028" cy="632096"/>
          </a:xfrm>
          <a:prstGeom prst="rect">
            <a:avLst/>
          </a:prstGeom>
          <a:blipFill rotWithShape="1">
            <a:blip r:embed="rId6">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06" name="Google Shape;1006;p50"/>
          <p:cNvSpPr txBox="1"/>
          <p:nvPr/>
        </p:nvSpPr>
        <p:spPr>
          <a:xfrm>
            <a:off x="3031931" y="1992042"/>
            <a:ext cx="1693028" cy="632033"/>
          </a:xfrm>
          <a:prstGeom prst="rect">
            <a:avLst/>
          </a:prstGeom>
          <a:blipFill rotWithShape="1">
            <a:blip r:embed="rId7">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xmlns:p="http://schemas.openxmlformats.org/presentationml/2006/main" xmlns:a="http://schemas.openxmlformats.org/drawingml/2006/main">
        <p:nvSpPr>
          <p:cNvPr id="100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010" name="Shape 1010"/>
        <p:cNvGrpSpPr/>
        <p:nvPr/>
      </p:nvGrpSpPr>
      <p:grpSpPr>
        <a:xfrm>
          <a:off x="0" y="0"/>
          <a:ext cx="0" cy="0"/>
          <a:chOff x="0" y="0"/>
          <a:chExt cx="0" cy="0"/>
        </a:xfrm>
      </p:grpSpPr>
      <p:sp>
        <p:nvSpPr>
          <p:cNvPr id="1011" name="Google Shape;1011;p51"/>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损失曲线</a:t>
            </a:r>
            <a:endParaRPr b="1" i="0" sz="3600" u="none" cap="none" strike="noStrike">
              <a:solidFill>
                <a:schemeClr val="dk2"/>
              </a:solidFill>
              <a:latin typeface="Open Sans"/>
              <a:ea typeface="Noto Sans SC"/>
              <a:cs typeface="Open Sans"/>
              <a:sym typeface="Open Sans"/>
            </a:endParaRPr>
          </a:p>
        </p:txBody>
      </p:sp>
      <p:sp>
        <p:nvSpPr>
          <p:cNvPr id="1012" name="Google Shape;1012;p51"/>
          <p:cNvSpPr txBox="1"/>
          <p:nvPr/>
        </p:nvSpPr>
        <p:spPr>
          <a:xfrm>
            <a:off x="3878445" y="3845719"/>
            <a:ext cx="775277" cy="332399"/>
          </a:xfrm>
          <a:prstGeom prst="rect">
            <a:avLst/>
          </a:prstGeom>
          <a:blipFill rotWithShape="1">
            <a:blip r:embed="rId3">
              <a:alphaModFix/>
            </a:blip>
            <a:stretch>
              <a:fillRect b="-57406" l="-14174" r="-23622" t="-3888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13" name="Google Shape;1013;p51"/>
          <p:cNvSpPr txBox="1"/>
          <p:nvPr/>
        </p:nvSpPr>
        <p:spPr>
          <a:xfrm>
            <a:off x="857907" y="3181274"/>
            <a:ext cx="2604110" cy="632096"/>
          </a:xfrm>
          <a:prstGeom prst="rect">
            <a:avLst/>
          </a:prstGeom>
          <a:blipFill rotWithShape="1">
            <a:blip r:embed="rId4">
              <a:alphaModFix/>
            </a:blip>
            <a:stretch>
              <a:fillRect b="-1923" l="0" r="0" t="-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14" name="Google Shape;1014;p51"/>
          <p:cNvSpPr txBox="1"/>
          <p:nvPr/>
        </p:nvSpPr>
        <p:spPr>
          <a:xfrm>
            <a:off x="857907" y="4332470"/>
            <a:ext cx="2464970" cy="632096"/>
          </a:xfrm>
          <a:prstGeom prst="rect">
            <a:avLst/>
          </a:prstGeom>
          <a:blipFill rotWithShape="1">
            <a:blip r:embed="rId5">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pic>
        <p:nvPicPr>
          <p:cNvPr id="1015" name="Google Shape;1015;p51"/>
          <p:cNvPicPr preferRelativeResize="0"/>
          <p:nvPr/>
        </p:nvPicPr>
        <p:blipFill rotWithShape="1">
          <a:blip r:embed="rId6">
            <a:alphaModFix/>
          </a:blip>
          <a:srcRect b="22222" l="47830" r="22135" t="39571"/>
          <a:stretch/>
        </p:blipFill>
        <p:spPr>
          <a:xfrm>
            <a:off x="4902395" y="1583150"/>
            <a:ext cx="5212498" cy="3729799"/>
          </a:xfrm>
          <a:prstGeom prst="rect">
            <a:avLst/>
          </a:prstGeom>
          <a:noFill/>
          <a:ln>
            <a:noFill/>
          </a:ln>
        </p:spPr>
      </p:pic>
      <p:sp>
        <p:nvSpPr>
          <p:cNvPr id="1016" name="Google Shape;1016;p51"/>
          <p:cNvSpPr/>
          <p:nvPr/>
        </p:nvSpPr>
        <p:spPr>
          <a:xfrm>
            <a:off x="6110288" y="2624138"/>
            <a:ext cx="90487" cy="90487"/>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1017" name="Google Shape;1017;p51"/>
          <p:cNvSpPr/>
          <p:nvPr/>
        </p:nvSpPr>
        <p:spPr>
          <a:xfrm>
            <a:off x="8072438" y="3800476"/>
            <a:ext cx="90487" cy="90487"/>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1018" name="Google Shape;1018;p51"/>
          <p:cNvSpPr txBox="1"/>
          <p:nvPr/>
        </p:nvSpPr>
        <p:spPr>
          <a:xfrm>
            <a:off x="8263915" y="3688753"/>
            <a:ext cx="595035" cy="3139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600"/>
              <a:buFont typeface="Open Sans"/>
              <a:buNone/>
            </a:pPr>
            <a:r>
              <a:rPr b="0" i="0" lang="en-US" sz="1600" u="none" cap="none" strike="noStrike">
                <a:solidFill>
                  <a:srgbClr val="FFFFFF"/>
                </a:solidFill>
                <a:latin typeface="Noto Sans SC"/>
                <a:ea typeface="Noto Sans SC"/>
                <a:cs typeface="Open Sans"/>
                <a:sym typeface="Open Sans"/>
              </a:rPr>
              <a:t>目标</a:t>
            </a:r>
            <a:endParaRPr b="0" i="0" sz="1600" u="none" cap="none" strike="noStrike">
              <a:solidFill>
                <a:srgbClr val="FFFFFF"/>
              </a:solidFill>
              <a:latin typeface="Open Sans"/>
              <a:ea typeface="Noto Sans SC"/>
              <a:cs typeface="Open Sans"/>
              <a:sym typeface="Open Sans"/>
            </a:endParaRPr>
          </a:p>
        </p:txBody>
      </p:sp>
      <p:sp>
        <p:nvSpPr>
          <p:cNvPr id="1019" name="Google Shape;1019;p51"/>
          <p:cNvSpPr txBox="1"/>
          <p:nvPr/>
        </p:nvSpPr>
        <p:spPr>
          <a:xfrm>
            <a:off x="9716386" y="1734639"/>
            <a:ext cx="797013" cy="3083921"/>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16</a:t>
            </a:r>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0</a:t>
            </a:r>
            <a:endParaRPr b="0" i="0" sz="1800" u="none" cap="none" strike="noStrike">
              <a:solidFill>
                <a:srgbClr val="000000"/>
              </a:solidFill>
              <a:latin typeface="Open Sans"/>
              <a:ea typeface="Noto Sans SC"/>
              <a:cs typeface="Open Sans"/>
              <a:sym typeface="Open Sans"/>
            </a:endParaRPr>
          </a:p>
        </p:txBody>
      </p:sp>
      <p:cxnSp>
        <p:nvCxnSpPr>
          <p:cNvPr id="1020" name="Google Shape;1020;p51"/>
          <p:cNvCxnSpPr/>
          <p:nvPr/>
        </p:nvCxnSpPr>
        <p:spPr>
          <a:xfrm>
            <a:off x="6200775" y="2637390"/>
            <a:ext cx="2765804" cy="414480"/>
          </a:xfrm>
          <a:prstGeom prst="straightConnector1">
            <a:avLst/>
          </a:prstGeom>
          <a:noFill/>
          <a:ln cap="flat" cmpd="sng" w="38100">
            <a:solidFill>
              <a:srgbClr val="FFFFFF"/>
            </a:solidFill>
            <a:prstDash val="solid"/>
            <a:round/>
            <a:headEnd len="sm" w="sm" type="none"/>
            <a:tailEnd len="med" w="med" type="triangle"/>
          </a:ln>
        </p:spPr>
      </p:cxnSp>
      <p:sp>
        <p:nvSpPr>
          <p:cNvPr id="1021" name="Google Shape;1021;p51"/>
          <p:cNvSpPr txBox="1"/>
          <p:nvPr/>
        </p:nvSpPr>
        <p:spPr>
          <a:xfrm>
            <a:off x="857907" y="1992042"/>
            <a:ext cx="1693028" cy="632096"/>
          </a:xfrm>
          <a:prstGeom prst="rect">
            <a:avLst/>
          </a:prstGeom>
          <a:blipFill rotWithShape="1">
            <a:blip r:embed="rId7">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22" name="Google Shape;1022;p51"/>
          <p:cNvSpPr txBox="1"/>
          <p:nvPr/>
        </p:nvSpPr>
        <p:spPr>
          <a:xfrm>
            <a:off x="3031931" y="1992042"/>
            <a:ext cx="1693028" cy="632033"/>
          </a:xfrm>
          <a:prstGeom prst="rect">
            <a:avLst/>
          </a:prstGeom>
          <a:blipFill rotWithShape="1">
            <a:blip r:embed="rId8">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xmlns:p="http://schemas.openxmlformats.org/presentationml/2006/main" xmlns:a="http://schemas.openxmlformats.org/drawingml/2006/main">
        <p:nvSpPr>
          <p:cNvPr id="102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026" name="Shape 1026"/>
        <p:cNvGrpSpPr/>
        <p:nvPr/>
      </p:nvGrpSpPr>
      <p:grpSpPr>
        <a:xfrm>
          <a:off x="0" y="0"/>
          <a:ext cx="0" cy="0"/>
          <a:chOff x="0" y="0"/>
          <a:chExt cx="0" cy="0"/>
        </a:xfrm>
      </p:grpSpPr>
      <p:sp>
        <p:nvSpPr>
          <p:cNvPr id="1027" name="Google Shape;1027;p52"/>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损失曲线</a:t>
            </a:r>
            <a:endParaRPr b="1" i="0" sz="3600" u="none" cap="none" strike="noStrike">
              <a:solidFill>
                <a:schemeClr val="dk2"/>
              </a:solidFill>
              <a:latin typeface="Open Sans"/>
              <a:ea typeface="Noto Sans SC"/>
              <a:cs typeface="Open Sans"/>
              <a:sym typeface="Open Sans"/>
            </a:endParaRPr>
          </a:p>
        </p:txBody>
      </p:sp>
      <p:pic>
        <p:nvPicPr>
          <p:cNvPr id="1028" name="Google Shape;1028;p52"/>
          <p:cNvPicPr preferRelativeResize="0"/>
          <p:nvPr/>
        </p:nvPicPr>
        <p:blipFill rotWithShape="1">
          <a:blip r:embed="rId3">
            <a:alphaModFix/>
          </a:blip>
          <a:srcRect b="22222" l="47830" r="22135" t="39570"/>
          <a:stretch/>
        </p:blipFill>
        <p:spPr>
          <a:xfrm>
            <a:off x="4902395" y="1583150"/>
            <a:ext cx="5212498" cy="3729799"/>
          </a:xfrm>
          <a:prstGeom prst="rect">
            <a:avLst/>
          </a:prstGeom>
          <a:noFill/>
          <a:ln>
            <a:noFill/>
          </a:ln>
        </p:spPr>
      </p:pic>
      <p:sp>
        <p:nvSpPr>
          <p:cNvPr id="1029" name="Google Shape;1029;p52"/>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1030" name="Google Shape;1030;p52"/>
          <p:cNvSpPr/>
          <p:nvPr/>
        </p:nvSpPr>
        <p:spPr>
          <a:xfrm>
            <a:off x="8072438" y="3800476"/>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1031" name="Google Shape;1031;p52"/>
          <p:cNvSpPr txBox="1"/>
          <p:nvPr/>
        </p:nvSpPr>
        <p:spPr>
          <a:xfrm>
            <a:off x="8196043" y="3712994"/>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b="0" i="0" sz="1400" u="none" cap="none" strike="noStrike">
              <a:solidFill>
                <a:srgbClr val="FFFFFF"/>
              </a:solidFill>
              <a:latin typeface="Open Sans"/>
              <a:ea typeface="Noto Sans SC"/>
              <a:cs typeface="Open Sans"/>
              <a:sym typeface="Open Sans"/>
            </a:endParaRPr>
          </a:p>
        </p:txBody>
      </p:sp>
      <p:sp>
        <p:nvSpPr>
          <p:cNvPr id="1032" name="Google Shape;1032;p52"/>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sp>
        <p:nvSpPr>
          <p:cNvPr id="1033" name="Google Shape;1033;p52"/>
          <p:cNvSpPr txBox="1"/>
          <p:nvPr/>
        </p:nvSpPr>
        <p:spPr>
          <a:xfrm>
            <a:off x="857907" y="3181274"/>
            <a:ext cx="2604110" cy="632096"/>
          </a:xfrm>
          <a:prstGeom prst="rect">
            <a:avLst/>
          </a:prstGeom>
          <a:blipFill rotWithShape="1">
            <a:blip r:embed="rId4">
              <a:alphaModFix/>
            </a:blip>
            <a:stretch>
              <a:fillRect b="-1923" l="0" r="0" t="-96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34" name="Google Shape;1034;p52"/>
          <p:cNvSpPr txBox="1"/>
          <p:nvPr/>
        </p:nvSpPr>
        <p:spPr>
          <a:xfrm>
            <a:off x="857907" y="4332470"/>
            <a:ext cx="2464970" cy="632096"/>
          </a:xfrm>
          <a:prstGeom prst="rect">
            <a:avLst/>
          </a:prstGeom>
          <a:blipFill rotWithShape="1">
            <a:blip r:embed="rId5">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35" name="Google Shape;1035;p52"/>
          <p:cNvSpPr txBox="1"/>
          <p:nvPr/>
        </p:nvSpPr>
        <p:spPr>
          <a:xfrm>
            <a:off x="3878445" y="3845719"/>
            <a:ext cx="1216102" cy="332399"/>
          </a:xfrm>
          <a:prstGeom prst="rect">
            <a:avLst/>
          </a:prstGeom>
          <a:blipFill rotWithShape="1">
            <a:blip r:embed="rId6">
              <a:alphaModFix/>
            </a:blip>
            <a:stretch>
              <a:fillRect b="-14815" l="-4500" r="-5500" t="-370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cxnSp>
        <p:nvCxnSpPr>
          <p:cNvPr id="1036" name="Google Shape;1036;p52"/>
          <p:cNvCxnSpPr/>
          <p:nvPr/>
        </p:nvCxnSpPr>
        <p:spPr>
          <a:xfrm>
            <a:off x="6161490" y="2637390"/>
            <a:ext cx="216721" cy="32478"/>
          </a:xfrm>
          <a:prstGeom prst="straightConnector1">
            <a:avLst/>
          </a:prstGeom>
          <a:noFill/>
          <a:ln cap="flat" cmpd="sng" w="38100">
            <a:solidFill>
              <a:srgbClr val="FFFFFF"/>
            </a:solidFill>
            <a:prstDash val="solid"/>
            <a:round/>
            <a:headEnd len="sm" w="sm" type="none"/>
            <a:tailEnd len="med" w="med" type="triangle"/>
          </a:ln>
        </p:spPr>
      </p:cxnSp>
      <p:sp>
        <p:nvSpPr>
          <p:cNvPr id="1037" name="Google Shape;1037;p52"/>
          <p:cNvSpPr txBox="1"/>
          <p:nvPr/>
        </p:nvSpPr>
        <p:spPr>
          <a:xfrm>
            <a:off x="857907" y="1992042"/>
            <a:ext cx="1693028" cy="632096"/>
          </a:xfrm>
          <a:prstGeom prst="rect">
            <a:avLst/>
          </a:prstGeom>
          <a:blipFill rotWithShape="1">
            <a:blip r:embed="rId7">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38" name="Google Shape;1038;p52"/>
          <p:cNvSpPr txBox="1"/>
          <p:nvPr/>
        </p:nvSpPr>
        <p:spPr>
          <a:xfrm>
            <a:off x="3031931" y="1992042"/>
            <a:ext cx="1693028" cy="632033"/>
          </a:xfrm>
          <a:prstGeom prst="rect">
            <a:avLst/>
          </a:prstGeom>
          <a:blipFill rotWithShape="1">
            <a:blip r:embed="rId8">
              <a:alphaModFix/>
            </a:blip>
            <a:stretch>
              <a:fillRect b="-2913" l="0" r="0" t="-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xmlns:p="http://schemas.openxmlformats.org/presentationml/2006/main" xmlns:a="http://schemas.openxmlformats.org/drawingml/2006/main">
        <p:nvSpPr>
          <p:cNvPr id="103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042" name="Shape 1042"/>
        <p:cNvGrpSpPr/>
        <p:nvPr/>
      </p:nvGrpSpPr>
      <p:grpSpPr>
        <a:xfrm>
          <a:off x="0" y="0"/>
          <a:ext cx="0" cy="0"/>
          <a:chOff x="0" y="0"/>
          <a:chExt cx="0" cy="0"/>
        </a:xfrm>
      </p:grpSpPr>
      <p:pic>
        <p:nvPicPr>
          <p:cNvPr id="1043" name="Google Shape;1043;p138"/>
          <p:cNvPicPr preferRelativeResize="0"/>
          <p:nvPr/>
        </p:nvPicPr>
        <p:blipFill rotWithShape="1">
          <a:blip r:embed="rId3">
            <a:alphaModFix/>
          </a:blip>
          <a:srcRect b="22222" l="47830" r="22135" t="39571"/>
          <a:stretch/>
        </p:blipFill>
        <p:spPr>
          <a:xfrm>
            <a:off x="4902395" y="1583150"/>
            <a:ext cx="5212498" cy="3729799"/>
          </a:xfrm>
          <a:prstGeom prst="rect">
            <a:avLst/>
          </a:prstGeom>
          <a:noFill/>
          <a:ln>
            <a:noFill/>
          </a:ln>
        </p:spPr>
      </p:pic>
      <p:sp>
        <p:nvSpPr>
          <p:cNvPr id="1044" name="Google Shape;1044;p138"/>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1045" name="Google Shape;1045;p138"/>
          <p:cNvSpPr txBox="1"/>
          <p:nvPr/>
        </p:nvSpPr>
        <p:spPr>
          <a:xfrm>
            <a:off x="8208644" y="3718787"/>
            <a:ext cx="543739"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FFFFFF"/>
              </a:buClr>
              <a:buSzPts val="1400"/>
              <a:buFont typeface="Open Sans"/>
              <a:buNone/>
            </a:pPr>
            <a:r>
              <a:rPr b="0" i="0" lang="en-US" sz="1400" u="none" cap="none" strike="noStrike">
                <a:solidFill>
                  <a:srgbClr val="FFFFFF"/>
                </a:solidFill>
                <a:latin typeface="Noto Sans SC"/>
                <a:ea typeface="Noto Sans SC"/>
                <a:cs typeface="Open Sans"/>
                <a:sym typeface="Open Sans"/>
              </a:rPr>
              <a:t>目标</a:t>
            </a:r>
            <a:endParaRPr b="0" i="0" sz="1400" u="none" cap="none" strike="noStrike">
              <a:solidFill>
                <a:srgbClr val="FFFFFF"/>
              </a:solidFill>
              <a:latin typeface="Open Sans"/>
              <a:ea typeface="Noto Sans SC"/>
              <a:cs typeface="Open Sans"/>
              <a:sym typeface="Open Sans"/>
            </a:endParaRPr>
          </a:p>
        </p:txBody>
      </p:sp>
      <p:sp>
        <p:nvSpPr>
          <p:cNvPr id="1046" name="Google Shape;1046;p138"/>
          <p:cNvSpPr txBox="1"/>
          <p:nvPr/>
        </p:nvSpPr>
        <p:spPr>
          <a:xfrm>
            <a:off x="9716386" y="1679240"/>
            <a:ext cx="797013" cy="319472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16</a:t>
            </a:r>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chemeClr val="lt1"/>
              </a:buClr>
              <a:buSzPts val="1400"/>
              <a:buFont typeface="Open Sans"/>
              <a:buNone/>
            </a:pPr>
            <a:r>
              <a:t/>
            </a:r>
            <a:endParaRPr b="0" i="0" sz="1400" u="none" cap="none" strike="noStrike">
              <a:solidFill>
                <a:srgbClr val="000000"/>
              </a:solidFill>
              <a:latin typeface="Open Sans"/>
              <a:ea typeface="Noto Sans SC"/>
              <a:cs typeface="Open Sans"/>
              <a:sym typeface="Open Sans"/>
            </a:endParaRPr>
          </a:p>
          <a:p>
            <a:pPr indent="0" lvl="0" marL="0" marR="0" rtl="0" algn="l">
              <a:lnSpc>
                <a:spcPct val="9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Noto Sans SC"/>
                <a:cs typeface="Open Sans"/>
                <a:sym typeface="Open Sans"/>
              </a:rPr>
              <a:t>0</a:t>
            </a:r>
            <a:endParaRPr b="0" i="0" sz="1400" u="none" cap="none" strike="noStrike">
              <a:solidFill>
                <a:srgbClr val="000000"/>
              </a:solidFill>
              <a:latin typeface="Open Sans"/>
              <a:ea typeface="Noto Sans SC"/>
              <a:cs typeface="Open Sans"/>
              <a:sym typeface="Open Sans"/>
            </a:endParaRPr>
          </a:p>
        </p:txBody>
      </p:sp>
      <p:sp>
        <p:nvSpPr>
          <p:cNvPr id="1047" name="Google Shape;1047;p138"/>
          <p:cNvSpPr txBox="1"/>
          <p:nvPr/>
        </p:nvSpPr>
        <p:spPr>
          <a:xfrm>
            <a:off x="961811" y="3132931"/>
            <a:ext cx="2993833" cy="332399"/>
          </a:xfrm>
          <a:prstGeom prst="rect">
            <a:avLst/>
          </a:prstGeom>
          <a:blipFill rotWithShape="1">
            <a:blip r:embed="rId4">
              <a:alphaModFix/>
            </a:blip>
            <a:stretch>
              <a:fillRect b="-12963" l="-2648" r="0" t="-185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48" name="Google Shape;1048;p138"/>
          <p:cNvSpPr txBox="1"/>
          <p:nvPr/>
        </p:nvSpPr>
        <p:spPr>
          <a:xfrm>
            <a:off x="961811" y="3790644"/>
            <a:ext cx="2514535" cy="332399"/>
          </a:xfrm>
          <a:prstGeom prst="rect">
            <a:avLst/>
          </a:prstGeom>
          <a:blipFill rotWithShape="1">
            <a:blip r:embed="rId5">
              <a:alphaModFix/>
            </a:blip>
            <a:stretch>
              <a:fillRect b="-14815" l="-2184" r="-1942" t="-370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49" name="Google Shape;1049;p138"/>
          <p:cNvSpPr txBox="1"/>
          <p:nvPr/>
        </p:nvSpPr>
        <p:spPr>
          <a:xfrm>
            <a:off x="947797" y="2471190"/>
            <a:ext cx="876266" cy="332399"/>
          </a:xfrm>
          <a:prstGeom prst="rect">
            <a:avLst/>
          </a:prstGeom>
          <a:blipFill rotWithShape="1">
            <a:blip r:embed="rId6">
              <a:alphaModFix/>
            </a:blip>
            <a:stretch>
              <a:fillRect b="-12727" l="-6944" r="-6944" t="-181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1050" name="Google Shape;1050;p138"/>
          <p:cNvSpPr/>
          <p:nvPr/>
        </p:nvSpPr>
        <p:spPr>
          <a:xfrm>
            <a:off x="6110288" y="2624138"/>
            <a:ext cx="90487" cy="904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cxnSp>
        <p:nvCxnSpPr>
          <p:cNvPr id="1051" name="Google Shape;1051;p138"/>
          <p:cNvCxnSpPr/>
          <p:nvPr/>
        </p:nvCxnSpPr>
        <p:spPr>
          <a:xfrm>
            <a:off x="6161490" y="2637390"/>
            <a:ext cx="515385" cy="77235"/>
          </a:xfrm>
          <a:prstGeom prst="straightConnector1">
            <a:avLst/>
          </a:prstGeom>
          <a:noFill/>
          <a:ln cap="flat" cmpd="sng" w="38100">
            <a:solidFill>
              <a:schemeClr val="lt1"/>
            </a:solidFill>
            <a:prstDash val="solid"/>
            <a:round/>
            <a:headEnd len="sm" w="sm" type="none"/>
            <a:tailEnd len="med" w="med" type="triangle"/>
          </a:ln>
        </p:spPr>
      </p:cxnSp>
      <p:cxnSp>
        <p:nvCxnSpPr>
          <p:cNvPr id="1052" name="Google Shape;1052;p138"/>
          <p:cNvCxnSpPr/>
          <p:nvPr/>
        </p:nvCxnSpPr>
        <p:spPr>
          <a:xfrm>
            <a:off x="6638925" y="2714625"/>
            <a:ext cx="369663" cy="261938"/>
          </a:xfrm>
          <a:prstGeom prst="straightConnector1">
            <a:avLst/>
          </a:prstGeom>
          <a:noFill/>
          <a:ln cap="flat" cmpd="sng" w="38100">
            <a:solidFill>
              <a:schemeClr val="lt1"/>
            </a:solidFill>
            <a:prstDash val="solid"/>
            <a:round/>
            <a:headEnd len="sm" w="sm" type="none"/>
            <a:tailEnd len="med" w="med" type="triangle"/>
          </a:ln>
        </p:spPr>
      </p:cxnSp>
      <p:cxnSp>
        <p:nvCxnSpPr>
          <p:cNvPr id="1053" name="Google Shape;1053;p138"/>
          <p:cNvCxnSpPr/>
          <p:nvPr/>
        </p:nvCxnSpPr>
        <p:spPr>
          <a:xfrm>
            <a:off x="6981478" y="2943225"/>
            <a:ext cx="295622" cy="222492"/>
          </a:xfrm>
          <a:prstGeom prst="straightConnector1">
            <a:avLst/>
          </a:prstGeom>
          <a:noFill/>
          <a:ln cap="flat" cmpd="sng" w="38100">
            <a:solidFill>
              <a:schemeClr val="lt1"/>
            </a:solidFill>
            <a:prstDash val="solid"/>
            <a:round/>
            <a:headEnd len="sm" w="sm" type="none"/>
            <a:tailEnd len="med" w="med" type="triangle"/>
          </a:ln>
        </p:spPr>
      </p:cxnSp>
      <p:cxnSp>
        <p:nvCxnSpPr>
          <p:cNvPr id="1054" name="Google Shape;1054;p138"/>
          <p:cNvCxnSpPr/>
          <p:nvPr/>
        </p:nvCxnSpPr>
        <p:spPr>
          <a:xfrm>
            <a:off x="7250762" y="3162300"/>
            <a:ext cx="297728" cy="228600"/>
          </a:xfrm>
          <a:prstGeom prst="straightConnector1">
            <a:avLst/>
          </a:prstGeom>
          <a:noFill/>
          <a:ln cap="flat" cmpd="sng" w="38100">
            <a:solidFill>
              <a:schemeClr val="lt1"/>
            </a:solidFill>
            <a:prstDash val="solid"/>
            <a:round/>
            <a:headEnd len="sm" w="sm" type="none"/>
            <a:tailEnd len="med" w="med" type="triangle"/>
          </a:ln>
        </p:spPr>
      </p:cxnSp>
      <p:cxnSp>
        <p:nvCxnSpPr>
          <p:cNvPr id="1055" name="Google Shape;1055;p138"/>
          <p:cNvCxnSpPr/>
          <p:nvPr/>
        </p:nvCxnSpPr>
        <p:spPr>
          <a:xfrm>
            <a:off x="7537813" y="3384790"/>
            <a:ext cx="255003" cy="200026"/>
          </a:xfrm>
          <a:prstGeom prst="straightConnector1">
            <a:avLst/>
          </a:prstGeom>
          <a:noFill/>
          <a:ln cap="flat" cmpd="sng" w="38100">
            <a:solidFill>
              <a:schemeClr val="lt1"/>
            </a:solidFill>
            <a:prstDash val="solid"/>
            <a:round/>
            <a:headEnd len="sm" w="sm" type="none"/>
            <a:tailEnd len="med" w="med" type="triangle"/>
          </a:ln>
        </p:spPr>
      </p:cxnSp>
      <p:cxnSp>
        <p:nvCxnSpPr>
          <p:cNvPr id="1056" name="Google Shape;1056;p138"/>
          <p:cNvCxnSpPr/>
          <p:nvPr/>
        </p:nvCxnSpPr>
        <p:spPr>
          <a:xfrm>
            <a:off x="7775888" y="3557433"/>
            <a:ext cx="248925" cy="204942"/>
          </a:xfrm>
          <a:prstGeom prst="straightConnector1">
            <a:avLst/>
          </a:prstGeom>
          <a:noFill/>
          <a:ln cap="flat" cmpd="sng" w="38100">
            <a:solidFill>
              <a:schemeClr val="lt1"/>
            </a:solidFill>
            <a:prstDash val="solid"/>
            <a:round/>
            <a:headEnd len="sm" w="sm" type="none"/>
            <a:tailEnd len="med" w="med" type="triangle"/>
          </a:ln>
        </p:spPr>
      </p:cxnSp>
      <p:sp>
        <p:nvSpPr>
          <p:cNvPr id="1058" name="Restored Title 1"/>
          <p:cNvSpPr txBox="1"/>
          <p:nvPr/>
        </p:nvSpPr>
        <p:spPr>
          <a:xfrm>
            <a:off x="498348" y="521208"/>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损失曲线</a:t>
            </a:r>
          </a:p>
        </p:txBody>
      </p:sp>
      <p:sp xmlns:p="http://schemas.openxmlformats.org/presentationml/2006/main" xmlns:a="http://schemas.openxmlformats.org/drawingml/2006/main">
        <p:nvSpPr>
          <p:cNvPr id="105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060" name="Shape 1060"/>
        <p:cNvGrpSpPr/>
        <p:nvPr/>
      </p:nvGrpSpPr>
      <p:grpSpPr>
        <a:xfrm>
          <a:off x="0" y="0"/>
          <a:ext cx="0" cy="0"/>
          <a:chOff x="0" y="0"/>
          <a:chExt cx="0" cy="0"/>
        </a:xfrm>
      </p:grpSpPr>
      <p:sp>
        <p:nvSpPr>
          <p:cNvPr id="1061" name="Google Shape;1061;g3f63aefb6fc_0_28"/>
          <p:cNvSpPr txBox="1"/>
          <p:nvPr/>
        </p:nvSpPr>
        <p:spPr>
          <a:xfrm>
            <a:off x="1136450" y="1317625"/>
            <a:ext cx="91437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a:t/>
            </a:r>
            <a:endParaRPr b="1">
              <a:latin typeface="Open Sans"/>
              <a:ea typeface="Noto Sans SC"/>
              <a:cs typeface="Open Sans"/>
              <a:sym typeface="Open Sans"/>
            </a:endParaRPr>
          </a:p>
          <a:p>
            <a:pPr indent="0" lvl="0" marL="0" rtl="0" algn="l">
              <a:spcBef>
                <a:spcPts val="0"/>
              </a:spcBef>
              <a:spcAft>
                <a:spcPts val="0"/>
              </a:spcAft>
              <a:buNone/>
            </a:pPr>
            <a:r>
              <a:rPr lang="en-US">
                <a:latin typeface="Noto Sans SC"/>
                <a:ea typeface="Noto Sans SC"/>
                <a:cs typeface="Open Sans"/>
                <a:sym typeface="Open Sans"/>
              </a:rPr>
              <a:t>探索全部</a:t>
            </a:r>
            <a:r>
              <a:rPr lang="en-US">
                <a:latin typeface="Open Sans"/>
                <a:ea typeface="Noto Sans SC"/>
                <a:cs typeface="Open Sans"/>
                <a:sym typeface="Open Sans"/>
              </a:rPr>
              <a:t> NVIDIA </a:t>
            </a:r>
            <a:r>
              <a:rPr lang="en-US">
                <a:latin typeface="Noto Sans SC"/>
                <a:ea typeface="Noto Sans SC"/>
                <a:cs typeface="Open Sans"/>
                <a:sym typeface="Open Sans"/>
              </a:rPr>
              <a:t>培训和认证资源</a:t>
            </a:r>
            <a:r>
              <a:rPr lang="en-US">
                <a:latin typeface="Open Sans"/>
                <a:ea typeface="Noto Sans SC"/>
                <a:cs typeface="Open Sans"/>
                <a:sym typeface="Open Sans"/>
              </a:rPr>
              <a:t>，</a:t>
            </a:r>
            <a:r>
              <a:rPr lang="en-US">
                <a:latin typeface="Noto Sans SC"/>
                <a:ea typeface="Noto Sans SC"/>
                <a:cs typeface="Open Sans"/>
                <a:sym typeface="Open Sans"/>
              </a:rPr>
              <a:t>请访问</a:t>
            </a:r>
            <a:r>
              <a:rPr lang="en-US">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Open Sans"/>
                <a:ea typeface="Noto Sans SC"/>
                <a:cs typeface="Open Sans"/>
                <a:sym typeface="Open Sans"/>
              </a:rPr>
              <a:t>NVIDIA </a:t>
            </a:r>
            <a:r>
              <a:rPr lang="en-US">
                <a:latin typeface="Noto Sans SC"/>
                <a:ea typeface="Noto Sans SC"/>
                <a:cs typeface="Open Sans"/>
                <a:sym typeface="Open Sans"/>
              </a:rPr>
              <a:t>深度学习培训中心</a:t>
            </a:r>
            <a:r>
              <a:rPr lang="en-US">
                <a:latin typeface="Open Sans"/>
                <a:ea typeface="Noto Sans SC"/>
                <a:cs typeface="Open Sans"/>
                <a:sym typeface="Open Sans"/>
              </a:rPr>
              <a:t>（DLI）</a:t>
            </a:r>
            <a:r>
              <a:rPr lang="en-US">
                <a:latin typeface="Noto Sans SC"/>
                <a:ea typeface="Noto Sans SC"/>
                <a:cs typeface="Open Sans"/>
                <a:sym typeface="Open Sans"/>
              </a:rPr>
              <a:t>中文官网</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3">
                  <a:extLst>
                    <a:ext uri="{A12FA001-AC4F-418D-AE19-62706E023703}">
                      <ahyp:hlinkClr val="tx"/>
                    </a:ext>
                  </a:extLst>
                </a:hlinkClick>
              </a:rPr>
              <a:t>nvidia.cn/training </a:t>
            </a:r>
            <a:endParaRPr>
              <a:latin typeface="Open Sans"/>
              <a:ea typeface="Noto Sans SC"/>
              <a:cs typeface="Open Sans"/>
              <a:sym typeface="Open Sans"/>
            </a:endParaRPr>
          </a:p>
          <a:p>
            <a:pPr indent="0" lvl="0" marL="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Clr>
                <a:schemeClr val="dk2"/>
              </a:buClr>
              <a:buSzPts val="1400"/>
              <a:buFont typeface="Open Sans"/>
              <a:buChar char="●"/>
            </a:pPr>
            <a:r>
              <a:rPr lang="en-US">
                <a:solidFill>
                  <a:schemeClr val="dk2"/>
                </a:solidFill>
                <a:latin typeface="Open Sans"/>
                <a:ea typeface="Noto Sans SC"/>
                <a:cs typeface="Open Sans"/>
                <a:sym typeface="Open Sans"/>
              </a:rPr>
              <a:t>NVIDIA </a:t>
            </a:r>
            <a:r>
              <a:rPr lang="en-US">
                <a:solidFill>
                  <a:schemeClr val="dk2"/>
                </a:solidFill>
                <a:latin typeface="Noto Sans SC"/>
                <a:ea typeface="Noto Sans SC"/>
                <a:cs typeface="Open Sans"/>
                <a:sym typeface="Open Sans"/>
              </a:rPr>
              <a:t>认证</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4">
                  <a:extLst>
                    <a:ext uri="{A12FA001-AC4F-418D-AE19-62706E023703}">
                      <ahyp:hlinkClr val="tx"/>
                    </a:ext>
                  </a:extLst>
                </a:hlinkClick>
              </a:rPr>
              <a:t>https://www.nvidia.cn/training/certification</a:t>
            </a:r>
            <a:r>
              <a:rPr lang="en-US">
                <a:solidFill>
                  <a:schemeClr val="dk2"/>
                </a:solidFill>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Noto Sans SC"/>
                <a:ea typeface="Noto Sans SC"/>
                <a:cs typeface="Open Sans"/>
                <a:sym typeface="Open Sans"/>
              </a:rPr>
              <a:t>按主题查找培训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5">
                  <a:extLst>
                    <a:ext uri="{A12FA001-AC4F-418D-AE19-62706E023703}">
                      <ahyp:hlinkClr val="tx"/>
                    </a:ext>
                  </a:extLst>
                </a:hlinkClick>
              </a:rPr>
              <a:t>https://www.nvidia.cn/training/find-training/</a:t>
            </a:r>
            <a:r>
              <a:rPr lang="en-US">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Noto Sans SC"/>
                <a:ea typeface="Noto Sans SC"/>
                <a:cs typeface="Open Sans"/>
                <a:sym typeface="Open Sans"/>
              </a:rPr>
              <a:t>在线自主培训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6">
                  <a:extLst>
                    <a:ext uri="{A12FA001-AC4F-418D-AE19-62706E023703}">
                      <ahyp:hlinkClr val="tx"/>
                    </a:ext>
                  </a:extLst>
                </a:hlinkClick>
              </a:rPr>
              <a:t>https://www.nvidia.cn/training/online</a:t>
            </a:r>
            <a:endParaRPr>
              <a:latin typeface="Open Sans"/>
              <a:ea typeface="Noto Sans SC"/>
              <a:cs typeface="Open Sans"/>
              <a:sym typeface="Open Sans"/>
            </a:endParaRPr>
          </a:p>
          <a:p>
            <a:pPr indent="0" lvl="0" marL="45720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solidFill>
                  <a:schemeClr val="dk2"/>
                </a:solidFill>
                <a:latin typeface="Open Sans"/>
                <a:ea typeface="Noto Sans SC"/>
                <a:cs typeface="Open Sans"/>
                <a:sym typeface="Open Sans"/>
              </a:rPr>
              <a:t>NVIDIA AI </a:t>
            </a:r>
            <a:r>
              <a:rPr lang="en-US">
                <a:solidFill>
                  <a:schemeClr val="dk2"/>
                </a:solidFill>
                <a:latin typeface="Noto Sans SC"/>
                <a:ea typeface="Noto Sans SC"/>
                <a:cs typeface="Open Sans"/>
                <a:sym typeface="Open Sans"/>
              </a:rPr>
              <a:t>培训班</a:t>
            </a:r>
            <a:r>
              <a:rPr lang="en-US">
                <a:solidFill>
                  <a:schemeClr val="dk2"/>
                </a:solidFill>
                <a:latin typeface="Open Sans"/>
                <a:ea typeface="Noto Sans SC"/>
                <a:cs typeface="Open Sans"/>
                <a:sym typeface="Open Sans"/>
              </a:rPr>
              <a:t>（</a:t>
            </a:r>
            <a:r>
              <a:rPr lang="en-US">
                <a:solidFill>
                  <a:schemeClr val="dk2"/>
                </a:solidFill>
                <a:latin typeface="Noto Sans SC"/>
                <a:ea typeface="Noto Sans SC"/>
                <a:cs typeface="Open Sans"/>
                <a:sym typeface="Open Sans"/>
              </a:rPr>
              <a:t>讲师指导的培训班</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7">
                  <a:extLst>
                    <a:ext uri="{A12FA001-AC4F-418D-AE19-62706E023703}">
                      <ahyp:hlinkClr val="tx"/>
                    </a:ext>
                  </a:extLst>
                </a:hlinkClick>
              </a:rPr>
              <a:t>www.bagevent.com/event/8359360</a:t>
            </a:r>
            <a:r>
              <a:rPr lang="en-US">
                <a:solidFill>
                  <a:schemeClr val="dk2"/>
                </a:solidFill>
                <a:latin typeface="Open Sans"/>
                <a:ea typeface="Noto Sans SC"/>
                <a:cs typeface="Open Sans"/>
                <a:sym typeface="Open Sans"/>
              </a:rPr>
              <a:t> </a:t>
            </a:r>
            <a:r>
              <a:rPr lang="en-US">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0" lvl="0" marL="0" rtl="0" algn="l">
              <a:spcBef>
                <a:spcPts val="0"/>
              </a:spcBef>
              <a:spcAft>
                <a:spcPts val="0"/>
              </a:spcAft>
              <a:buNone/>
            </a:pPr>
            <a:r>
              <a:rPr lang="en-US">
                <a:latin typeface="Noto Sans SC"/>
                <a:ea typeface="Noto Sans SC"/>
                <a:cs typeface="Open Sans"/>
                <a:sym typeface="Open Sans"/>
              </a:rPr>
              <a:t>更多咨询</a:t>
            </a:r>
            <a:r>
              <a:rPr lang="en-US">
                <a:latin typeface="Open Sans"/>
                <a:ea typeface="Noto Sans SC"/>
                <a:cs typeface="Open Sans"/>
                <a:sym typeface="Open Sans"/>
              </a:rPr>
              <a:t>，</a:t>
            </a:r>
            <a:r>
              <a:rPr lang="en-US">
                <a:latin typeface="Noto Sans SC"/>
                <a:ea typeface="Noto Sans SC"/>
                <a:cs typeface="Open Sans"/>
                <a:sym typeface="Open Sans"/>
              </a:rPr>
              <a:t>请邮件至</a:t>
            </a:r>
            <a:r>
              <a:rPr lang="en-US">
                <a:latin typeface="Open Sans"/>
                <a:ea typeface="Noto Sans SC"/>
                <a:cs typeface="Open Sans"/>
                <a:sym typeface="Open Sans"/>
              </a:rPr>
              <a:t> </a:t>
            </a:r>
            <a:r>
              <a:rPr lang="en-US" u="sng">
                <a:solidFill>
                  <a:srgbClr val="76B900"/>
                </a:solidFill>
                <a:latin typeface="Open Sans"/>
                <a:ea typeface="Noto Sans SC"/>
                <a:cs typeface="Open Sans"/>
                <a:sym typeface="Open Sans"/>
                <a:hlinkClick r:id="rId8">
                  <a:extLst>
                    <a:ext uri="{A12FA001-AC4F-418D-AE19-62706E023703}">
                      <ahyp:hlinkClr val="tx"/>
                    </a:ext>
                  </a:extLst>
                </a:hlinkClick>
              </a:rPr>
              <a:t>dlichina@nvidia.com</a:t>
            </a:r>
            <a:r>
              <a:rPr lang="en-US">
                <a:latin typeface="Open Sans"/>
                <a:ea typeface="Noto Sans SC"/>
                <a:cs typeface="Open Sans"/>
                <a:sym typeface="Open Sans"/>
              </a:rPr>
              <a:t> 。</a:t>
            </a:r>
            <a:r>
              <a:rPr lang="en-US">
                <a:latin typeface="Noto Sans SC"/>
                <a:ea typeface="Noto Sans SC"/>
                <a:cs typeface="Open Sans"/>
                <a:sym typeface="Open Sans"/>
              </a:rPr>
              <a:t>或微信添加</a:t>
            </a:r>
            <a:r>
              <a:rPr lang="en-US">
                <a:latin typeface="Open Sans"/>
                <a:ea typeface="Noto Sans SC"/>
                <a:cs typeface="Open Sans"/>
                <a:sym typeface="Open Sans"/>
              </a:rPr>
              <a:t> DLIChina, </a:t>
            </a:r>
            <a:r>
              <a:rPr lang="en-US">
                <a:latin typeface="Noto Sans SC"/>
                <a:ea typeface="Noto Sans SC"/>
                <a:cs typeface="Open Sans"/>
                <a:sym typeface="Open Sans"/>
              </a:rPr>
              <a:t>申请加入学习交流群</a:t>
            </a:r>
            <a:r>
              <a:rPr lang="en-US">
                <a:latin typeface="Open Sans"/>
                <a:ea typeface="Noto Sans SC"/>
                <a:cs typeface="Open Sans"/>
                <a:sym typeface="Open Sans"/>
              </a:rPr>
              <a:t>，</a:t>
            </a:r>
            <a:r>
              <a:rPr lang="en-US">
                <a:latin typeface="Noto Sans SC"/>
                <a:ea typeface="Noto Sans SC"/>
                <a:cs typeface="Open Sans"/>
                <a:sym typeface="Open Sans"/>
              </a:rPr>
              <a:t>备注</a:t>
            </a:r>
            <a:r>
              <a:rPr lang="en-US">
                <a:latin typeface="Open Sans"/>
                <a:ea typeface="Noto Sans SC"/>
                <a:cs typeface="Open Sans"/>
                <a:sym typeface="Open Sans"/>
              </a:rPr>
              <a:t>“</a:t>
            </a:r>
            <a:r>
              <a:rPr lang="en-US">
                <a:latin typeface="Noto Sans SC"/>
                <a:ea typeface="Noto Sans SC"/>
                <a:cs typeface="Open Sans"/>
                <a:sym typeface="Open Sans"/>
              </a:rPr>
              <a:t>咨询培训</a:t>
            </a:r>
            <a:r>
              <a:rPr lang="en-US">
                <a:latin typeface="Open Sans"/>
                <a:ea typeface="Noto Sans SC"/>
                <a:cs typeface="Open Sans"/>
                <a:sym typeface="Open Sans"/>
              </a:rPr>
              <a:t>”</a:t>
            </a:r>
            <a:endParaRPr>
              <a:latin typeface="Open Sans"/>
              <a:ea typeface="Noto Sans SC"/>
              <a:cs typeface="Open Sans"/>
              <a:sym typeface="Open Sans"/>
            </a:endParaRPr>
          </a:p>
        </p:txBody>
      </p:sp>
      <p:sp xmlns:p="http://schemas.openxmlformats.org/presentationml/2006/main" xmlns:a="http://schemas.openxmlformats.org/drawingml/2006/main">
        <p:nvSpPr>
          <p:cNvPr id="106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3_Title &amp; Bullet">
  <a:themeElements>
    <a:clrScheme name="Custom 4">
      <a:dk1>
        <a:srgbClr val="B3B3B3"/>
      </a:dk1>
      <a:lt1>
        <a:srgbClr val="FFFFFF"/>
      </a:lt1>
      <a:dk2>
        <a:srgbClr val="000000"/>
      </a:dk2>
      <a:lt2>
        <a:srgbClr val="76B900"/>
      </a:lt2>
      <a:accent1>
        <a:srgbClr val="008564"/>
      </a:accent1>
      <a:accent2>
        <a:srgbClr val="5D1682"/>
      </a:accent2>
      <a:accent3>
        <a:srgbClr val="0C34BD"/>
      </a:accent3>
      <a:accent4>
        <a:srgbClr val="4A4A4A"/>
      </a:accent4>
      <a:accent5>
        <a:srgbClr val="6E6E6E"/>
      </a:accent5>
      <a:accent6>
        <a:srgbClr val="0071C5"/>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2020-08-25T04:29:00Z</dcterms:created>
  <dc:creator>Danielle Detering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2020-08-25T06:37:08.2371770Z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y fmtid="{D5CDD505-2E9C-101B-9397-08002B2CF9AE}" pid="10" name="ContentTypeId">
    <vt:lpwstr>0x01010004CF33B71089DC448F3A861CCE49DD4C</vt:lpwstr>
  </property>
  <property fmtid="{D5CDD505-2E9C-101B-9397-08002B2CF9AE}" pid="11" name="KSOProductBuildVer">
    <vt:lpwstr>2052-11.1.0.9827</vt:lpwstr>
  </property>
</Properties>
</file>